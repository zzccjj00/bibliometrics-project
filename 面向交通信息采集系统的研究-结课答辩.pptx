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  <Override PartName="/docProps/custom.xml" ContentType="application/vnd.openxmlformats-officedocument.custom-properties+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Relationship Id="rId3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</p:sldMasterIdLst>
  <p:notesMasterIdLst>
    <p:notesMasterId r:id="rId6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</p:sldIdLst>
  <p:sldSz cx="12852400" cy="72263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 mar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 marL="457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 marL="914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 marL="1371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 marL="18288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 marL="22860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 marL="2743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 marL="3200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 marL="3657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10" Target="slides/slide2.xml" Type="http://schemas.openxmlformats.org/officeDocument/2006/relationships/slide"/><Relationship Id="rId11" Target="slides/slide3.xml" Type="http://schemas.openxmlformats.org/officeDocument/2006/relationships/slide"/><Relationship Id="rId12" Target="slides/slide4.xml" Type="http://schemas.openxmlformats.org/officeDocument/2006/relationships/slide"/><Relationship Id="rId13" Target="slides/slide5.xml" Type="http://schemas.openxmlformats.org/officeDocument/2006/relationships/slide"/><Relationship Id="rId14" Target="slides/slide6.xml" Type="http://schemas.openxmlformats.org/officeDocument/2006/relationships/slide"/><Relationship Id="rId15" Target="slides/slide7.xml" Type="http://schemas.openxmlformats.org/officeDocument/2006/relationships/slide"/><Relationship Id="rId16" Target="slides/slide8.xml" Type="http://schemas.openxmlformats.org/officeDocument/2006/relationships/slide"/><Relationship Id="rId17" Target="slides/slide9.xml" Type="http://schemas.openxmlformats.org/officeDocument/2006/relationships/slide"/><Relationship Id="rId18" Target="slides/slide10.xml" Type="http://schemas.openxmlformats.org/officeDocument/2006/relationships/slide"/><Relationship Id="rId19" Target="slides/slide11.xml" Type="http://schemas.openxmlformats.org/officeDocument/2006/relationships/slide"/><Relationship Id="rId2" Target="viewProps.xml" Type="http://schemas.openxmlformats.org/officeDocument/2006/relationships/viewProps"/><Relationship Id="rId20" Target="slides/slide12.xml" Type="http://schemas.openxmlformats.org/officeDocument/2006/relationships/slide"/><Relationship Id="rId21" Target="slides/slide13.xml" Type="http://schemas.openxmlformats.org/officeDocument/2006/relationships/slide"/><Relationship Id="rId22" Target="slides/slide14.xml" Type="http://schemas.openxmlformats.org/officeDocument/2006/relationships/slide"/><Relationship Id="rId23" Target="slides/slide15.xml" Type="http://schemas.openxmlformats.org/officeDocument/2006/relationships/slide"/><Relationship Id="rId24" Target="slides/slide16.xml" Type="http://schemas.openxmlformats.org/officeDocument/2006/relationships/slide"/><Relationship Id="rId25" Target="notesSlides/notesSlide1.xml" Type="http://schemas.openxmlformats.org/officeDocument/2006/relationships/notesSlide"/><Relationship Id="rId26" Target="notesSlides/notesSlide2.xml" Type="http://schemas.openxmlformats.org/officeDocument/2006/relationships/notesSlide"/><Relationship Id="rId27" Target="notesSlides/notesSlide3.xml" Type="http://schemas.openxmlformats.org/officeDocument/2006/relationships/notesSlide"/><Relationship Id="rId28" Target="notesSlides/notesSlide4.xml" Type="http://schemas.openxmlformats.org/officeDocument/2006/relationships/notesSlide"/><Relationship Id="rId29" Target="notesSlides/notesSlide5.xml" Type="http://schemas.openxmlformats.org/officeDocument/2006/relationships/notesSlide"/><Relationship Id="rId3" Target="presProps.xml" Type="http://schemas.openxmlformats.org/officeDocument/2006/relationships/presProps"/><Relationship Id="rId30" Target="notesSlides/notesSlide6.xml" Type="http://schemas.openxmlformats.org/officeDocument/2006/relationships/notesSlide"/><Relationship Id="rId31" Target="notesSlides/notesSlide7.xml" Type="http://schemas.openxmlformats.org/officeDocument/2006/relationships/notesSlide"/><Relationship Id="rId32" Target="notesSlides/notesSlide8.xml" Type="http://schemas.openxmlformats.org/officeDocument/2006/relationships/notesSlide"/><Relationship Id="rId33" Target="notesSlides/notesSlide9.xml" Type="http://schemas.openxmlformats.org/officeDocument/2006/relationships/notesSlide"/><Relationship Id="rId34" Target="notesSlides/notesSlide10.xml" Type="http://schemas.openxmlformats.org/officeDocument/2006/relationships/notesSlide"/><Relationship Id="rId35" Target="notesSlides/notesSlide11.xml" Type="http://schemas.openxmlformats.org/officeDocument/2006/relationships/notesSlide"/><Relationship Id="rId36" Target="notesSlides/notesSlide12.xml" Type="http://schemas.openxmlformats.org/officeDocument/2006/relationships/notesSlide"/><Relationship Id="rId37" Target="notesSlides/notesSlide13.xml" Type="http://schemas.openxmlformats.org/officeDocument/2006/relationships/notesSlide"/><Relationship Id="rId38" Target="notesSlides/notesSlide14.xml" Type="http://schemas.openxmlformats.org/officeDocument/2006/relationships/notesSlide"/><Relationship Id="rId39" Target="notesSlides/notesSlide15.xml" Type="http://schemas.openxmlformats.org/officeDocument/2006/relationships/notesSlide"/><Relationship Id="rId4" Target="slideMasters/slideMaster1.xml" Type="http://schemas.openxmlformats.org/officeDocument/2006/relationships/slideMaster"/><Relationship Id="rId40" Target="notesSlides/notesSlide16.xml" Type="http://schemas.openxmlformats.org/officeDocument/2006/relationships/notesSlide"/><Relationship Id="rId6" Target="notesMasters/notesMaster1.xml" Type="http://schemas.openxmlformats.org/officeDocument/2006/relationships/notesMaster"/><Relationship Id="rId7" Target="theme/theme2.xml" Type="http://schemas.openxmlformats.org/officeDocument/2006/relationships/theme"/><Relationship Id="rId8" Target="slideMasters/slideMaster2.xml" Type="http://schemas.openxmlformats.org/officeDocument/2006/relationships/slideMaster"/><Relationship Id="rId9" Target="slides/slide1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  <a:spcBef>
                <a:spcPct val="30000"/>
              </a:spcBef>
            </a:pPr>
            <a:r>
              <a:rPr lang="en-US" b="false" i="false" strike="noStrike" u="none" sz="13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尊敬的各位老师、同学，大家好。我们是来自XX专业的小组，今天非常荣幸能在这里向大家汇报我们的课程项目——“面向交通信息采集系统的研究”。本次项目旨在通过文献计量学的方法，深入探索交通信息采集领域的研究现状与发展趋势，并构建一个可复现的研究流程。接下来，我们将从项目概述、研究方法、成果展示和总结展望四个方面展开介绍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  <a:spcBef>
                <a:spcPct val="30000"/>
              </a:spcBef>
            </a:pPr>
            <a:r>
              <a:rPr lang="en-US" b="false" i="false" strike="noStrike" u="none" sz="13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本次汇报将分为四个部分。首先，我们将介绍项目的整体情况，包括研究背景、目标以及我们团队的分工。其次，我们会详细说明本次研究采用的方法，包括项目的实施计划和数据来源。接着，也是本次汇报的重点，我们将展示通过文献计量分析得到的主要成果。最后，我们会对整个项目进行总结，并对未来的优化方向进行展望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  <a:spcBef>
                <a:spcPct val="30000"/>
              </a:spcBef>
            </a:pPr>
            <a:r>
              <a:rPr lang="en-US" b="false" i="false" strike="noStrike" u="none" sz="13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现在，让我们进入第一部分：项目概述。在这一章，我们将详细介绍我们为什么要做这个项目，我们的研究方向是什么，以及我们团队是如何分工协作来完成这项任务的。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  <a:spcBef>
                <a:spcPct val="30000"/>
              </a:spcBef>
            </a:pPr>
            <a:r>
              <a:rPr lang="en-US" b="false" i="false" strike="noStrike" u="none" sz="13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我们项目的初衷源于一门课程的小组作业要求。我们选择了“交通信息采集系统”作为研究方向，因为它是智能交通领域的基础和关键。我们的核心目标不仅仅是完成一份报告，更重要的是通过实践，掌握从文献检索、数据分析到结果呈现的完整学术研究流程，并致力于实现研究结果的可复现性。为此，我们采用了文献计量学这一强大的研究方法，并最终将我们的工作成果整理成一个开源的项目仓库，方便后续研究和交流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  <a:spcBef>
                <a:spcPct val="30000"/>
              </a:spcBef>
            </a:pPr>
            <a:r>
              <a:rPr lang="en-US" b="false" i="false" strike="noStrike" u="none" sz="13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为了高效地完成项目，我们团队进行了明确的分工。我是组长郑城焌，主要负责项目的整体规划和协调工作。尹佳乐同学负责前期的文献检索和数据清洗，为后续分析打下坚实基础。柏航同学是我们的技术核心，负责计量分析算法的实现和可视化图表的生成。邱果林同学负责将我们的研究过程和结果撰写成规范的报告。最后，余仁杰同学负责将我们的代码和文档部署到GitHub上，实现项目的开源共享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  <a:spcBef>
                <a:spcPct val="30000"/>
              </a:spcBef>
            </a:pPr>
            <a:r>
              <a:rPr lang="en-US" b="false" i="false" strike="noStrike" u="none" sz="13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接下来，我们进入第二部分，向大家介绍我们的研究方法。这一部分将涵盖我们的项目实施计划、具体的技术流程，以及我们分析所使用的数据来源。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  <a:spcBef>
                <a:spcPct val="30000"/>
              </a:spcBef>
            </a:pPr>
            <a:r>
              <a:rPr lang="en-US" b="false" i="false" strike="noStrike" u="none" sz="13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我们的项目实施遵循了一个清晰的三阶段计划。第一阶段是需求分析与基础搭建，我们调研了文献计量学的研究需求，并搭建了项目的基础框架。第二阶段是核心功能开发，我们实现了从数据处理、分析到可视化的全流程功能。第三阶段是优化与测试，我们对系统性能和用户体验进行了优化，并准备将其开源。这个流程确保了我们项目的有序推进和高质量交付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  <a:spcBef>
                <a:spcPct val="30000"/>
              </a:spcBef>
            </a:pPr>
            <a:r>
              <a:rPr lang="en-US" b="false" i="false" strike="noStrike" u="none" sz="13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数据的质量直接决定了分析结果的可靠性。我们的数据来源主要有三个方面。首先，我们通过API接口从CNKI、Web of Science和OpenAlex等权威学术数据库获取了大量的原始文献数据。其次，为了验证我们方法的有效性，我们使用了公开的基准数据集进行测试。最后，我们的系统也设计了用户自定义数据上传功能，允许用户利用自己的数据集进行分析，增强了工具的实用性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  <a:spcBef>
                <a:spcPct val="30000"/>
              </a:spcBef>
            </a:pPr>
            <a:r>
              <a:rPr lang="en-US" b="false" i="false" strike="noStrike" u="none" sz="13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现在，我们进入最核心的第三部分——成果展示。在这里，我们将通过一系列由CiteSpace生成的可视化图谱，向大家展示我们对交通信息采集系统领域文献的计量分析结果。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  <a:spcBef>
                <a:spcPct val="30000"/>
              </a:spcBef>
            </a:pPr>
            <a:r>
              <a:rPr lang="en-US" b="false" i="false" strike="noStrike" u="none" sz="13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首先是关键词共被引网络分析。这张图通过分析文献标题和摘要中的关键词，揭示了领域内的研究热点和知识结构。我们可以看到，图的中心是“智能交通”和“信息采集”，这表明它们是该领域最核心的概念。围绕这些核心，我们可以看到“物联网”、“数据挖掘”、“交通信息”等多个研究分支，它们共同构成了这个领域的知识图谱。节点越大，代表该关键词出现的频率越高，连线越粗，代表它们之间的关联性越强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  <a:spcBef>
                <a:spcPct val="30000"/>
              </a:spcBef>
            </a:pPr>
            <a:r>
              <a:rPr lang="en-US" b="false" i="false" strike="noStrike" u="none" sz="13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接下来是作者合作网络分析。这张图展示了该领域研究者之间的合作关系。与关键词网络的密集不同，我们发现作者合作网络显得非常稀疏。图中只有少数几个节点和连线，这表明在交通信息采集系统这个研究领域，大规模的、跨团队的合作还比较少见。这可能意味着该领域的研究还比较分散，或者合作更多地发生在小团队内部。这也为未来的研究合作指明了方向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  <a:spcBef>
                <a:spcPct val="30000"/>
              </a:spcBef>
            </a:pPr>
            <a:r>
              <a:rPr lang="en-US" b="false" i="false" strike="noStrike" u="none" sz="13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最后，我们来看研究趋势的时间线分析。这张图非常直观地展示了该领域研究热点的演变过程。我们可以看到，“智能交通”和“信息采集”是长期存在的基础研究主题。而随着时间的推移，特别是近年来，我们可以看到“车联网”、“安全检测”、“实时”等新的研究方向开始涌现并迅速发展。这表明，交通信息采集系统的研究正朝着更加智能化、实时化和注重安全的方向不断深入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  <a:spcBef>
                <a:spcPct val="30000"/>
              </a:spcBef>
            </a:pPr>
            <a:r>
              <a:rPr lang="en-US" b="false" i="false" strike="noStrike" u="none" sz="13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经过前面的介绍，我们对项目有了全面的了解。现在，我们进入最后一部分：总结与展望。我们将对本次项目的成果进行总结，并对未来可以进一步优化和拓展的方向进行展望。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  <a:spcBef>
                <a:spcPct val="30000"/>
              </a:spcBef>
            </a:pPr>
            <a:r>
              <a:rPr lang="en-US" b="false" i="false" strike="noStrike" u="none" sz="13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总结一下，通过本次项目，我们成功地完成了最初设定的目标。我们不仅完整地走通了学术研究的流程，还亲手构建了一个可用的文献计量分析工具原型。更重要的是，我们通过这个工具，对交通信息采集领域的研究现状有了量化的、深入的认识。最后，我们将所有工作成果都放在了GitHub上，真正实现了研究的可复现性和知识的共享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  <a:spcBef>
                <a:spcPct val="30000"/>
              </a:spcBef>
            </a:pPr>
            <a:r>
              <a:rPr lang="en-US" b="false" i="false" strike="noStrike" u="none" sz="13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当然，我们的项目还有很多可以改进的地方。展望未来，我们计划从四个方面进行优化。首先是优化数据采集效率，支持更多数据源。其次是提升可视化体验，让分析结果更直观、更具交互性。第三是拓展分析维度，引入更复杂的算法来挖掘更深层次的信息。最后，我们希望能围绕这个开源项目，构建一个活跃的用户社区，共同推动该领域的发展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  <a:spcBef>
                <a:spcPct val="30000"/>
              </a:spcBef>
            </a:pPr>
            <a:r>
              <a:rPr lang="en-US" b="false" i="false" strike="noStrike" u="none" sz="13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我的汇报到此结束。再次感谢各位老师和同学的聆听，也特别感谢在项目过程中给予我们指导的老师们。我们的项目还存在很多不足之处，恳请各位老师批评指正。谢谢大家！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Relationship Id="rId2" Target="../slideLayouts/slideLayout12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默认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3.png" Type="http://schemas.openxmlformats.org/officeDocument/2006/relationships/image"/><Relationship Id="rId3" Target="../notesSlides/notesSlide4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3.png" Type="http://schemas.openxmlformats.org/officeDocument/2006/relationships/image"/><Relationship Id="rId3" Target="../notesSlides/notesSlide5.xml" Type="http://schemas.openxmlformats.org/officeDocument/2006/relationships/notesSlide"/></Relationships>
</file>

<file path=ppt/slides/_rels/slide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6.xml" Type="http://schemas.openxmlformats.org/officeDocument/2006/relationships/notesSlide"/></Relationships>
</file>

<file path=ppt/slides/_rels/slide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4.png" Type="http://schemas.openxmlformats.org/officeDocument/2006/relationships/image"/><Relationship Id="rId3" Target="../notesSlides/notesSlide7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4.png" Type="http://schemas.openxmlformats.org/officeDocument/2006/relationships/image"/><Relationship Id="rId3" Target="../notesSlides/notesSlide8.xml" Type="http://schemas.openxmlformats.org/officeDocument/2006/relationships/notesSlide"/></Relationships>
</file>

<file path=ppt/slides/_rels/slide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9.xml" Type="http://schemas.openxmlformats.org/officeDocument/2006/relationships/notesSlide"/></Relationships>
</file>

<file path=ppt/slides/_rels/slide1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5.png" Type="http://schemas.openxmlformats.org/officeDocument/2006/relationships/image"/><Relationship Id="rId3" Target="../media/image4.png" Type="http://schemas.openxmlformats.org/officeDocument/2006/relationships/image"/><Relationship Id="rId4" Target="../notesSlides/notesSlide10.xml" Type="http://schemas.openxmlformats.org/officeDocument/2006/relationships/notesSlide"/></Relationships>
</file>

<file path=ppt/slides/_rels/slide1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6.png" Type="http://schemas.openxmlformats.org/officeDocument/2006/relationships/image"/><Relationship Id="rId3" Target="../media/image4.png" Type="http://schemas.openxmlformats.org/officeDocument/2006/relationships/image"/><Relationship Id="rId4" Target="../notesSlides/notesSlide11.xml" Type="http://schemas.openxmlformats.org/officeDocument/2006/relationships/notesSlide"/></Relationships>
</file>

<file path=ppt/slides/_rels/slide1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7.png" Type="http://schemas.openxmlformats.org/officeDocument/2006/relationships/image"/><Relationship Id="rId3" Target="../media/image4.png" Type="http://schemas.openxmlformats.org/officeDocument/2006/relationships/image"/><Relationship Id="rId4" Target="../notesSlides/notesSlide12.xml" Type="http://schemas.openxmlformats.org/officeDocument/2006/relationships/notesSlide"/></Relationships>
</file>

<file path=ppt/slides/_rels/slide1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3.xml" Type="http://schemas.openxmlformats.org/officeDocument/2006/relationships/notesSlide"/></Relationships>
</file>

<file path=ppt/slides/_rels/slide1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4.png" Type="http://schemas.openxmlformats.org/officeDocument/2006/relationships/image"/><Relationship Id="rId3" Target="../notesSlides/notesSlide14.xml" Type="http://schemas.openxmlformats.org/officeDocument/2006/relationships/notesSlide"/></Relationships>
</file>

<file path=ppt/slides/_rels/slide1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4.png" Type="http://schemas.openxmlformats.org/officeDocument/2006/relationships/image"/><Relationship Id="rId3" Target="../notesSlides/notesSlide15.xml" Type="http://schemas.openxmlformats.org/officeDocument/2006/relationships/notesSlide"/></Relationships>
</file>

<file path=ppt/slides/_rels/slide1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jpeg" Type="http://schemas.openxmlformats.org/officeDocument/2006/relationships/image"/><Relationship Id="rId3" Target="../notesSlides/notesSlide16.xml" Type="http://schemas.openxmlformats.org/officeDocument/2006/relationships/notesSlide"/><Relationship Id="rId4" Target="../media/image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r="0" t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-25400" y="4076700"/>
            <a:ext cx="12865100" cy="3187700"/>
          </a:xfrm>
          <a:prstGeom prst="roundRect">
            <a:avLst>
              <a:gd name="adj" fmla="val 0"/>
            </a:avLst>
          </a:prstGeom>
          <a:solidFill>
            <a:srgbClr val="18B29D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346200" y="6413500"/>
            <a:ext cx="10160000" cy="381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ctr" marL="0" indent="0">
              <a:lnSpc>
                <a:spcPct val="100000"/>
              </a:lnSpc>
              <a:spcBef>
                <a:spcPct val="20000"/>
              </a:spcBef>
              <a:defRPr/>
            </a:pPr>
            <a:r>
              <a:rPr lang="en-US" b="false" i="false" strike="noStrike" u="none" sz="16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汇报人：郑城焌 尹佳乐 柏航 邱果林 余仁杰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11200" y="4889500"/>
            <a:ext cx="11430000" cy="1016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ctr" marL="0" indent="0">
              <a:lnSpc>
                <a:spcPct val="100000"/>
              </a:lnSpc>
              <a:spcBef>
                <a:spcPct val="20000"/>
              </a:spcBef>
              <a:defRPr/>
            </a:pPr>
            <a:r>
              <a:rPr lang="en-US" b="true" i="false" strike="noStrike" u="none" sz="4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面向交通信息采集系统的研究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0" y="0"/>
            <a:ext cx="12865100" cy="4076700"/>
          </a:xfrm>
          <a:prstGeom prst="roundRect">
            <a:avLst>
              <a:gd name="adj" fmla="val 0"/>
            </a:avLst>
          </a:prstGeom>
          <a:solidFill>
            <a:srgbClr val="18B29D">
              <a:alpha val="37000"/>
            </a:srgbClr>
          </a:solidFill>
          <a:ln w="12700" cmpd="sng" cap="flat">
            <a:solidFill>
              <a:srgbClr val="002F3E">
                <a:alpha val="100000"/>
              </a:srgbClr>
            </a:solidFill>
            <a:prstDash val="solid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838200" y="2286000"/>
            <a:ext cx="11176000" cy="762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127000" rIns="127000" tIns="63500" bIns="6350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—— 文献计量学项目结课答辩 ——</a:t>
            </a:r>
            <a:endParaRPr lang="en-US" sz="1100"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3"/>
          <a:srcRect l="0" r="0" t="225" b="225"/>
          <a:stretch>
            <a:fillRect/>
          </a:stretch>
        </p:blipFill>
        <p:spPr>
          <a:xfrm rot="0" flipH="false" flipV="false">
            <a:off x="2108200" y="4864100"/>
            <a:ext cx="1308100" cy="12065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6502400" y="4864100"/>
            <a:ext cx="4394200" cy="685800"/>
          </a:xfrm>
          <a:prstGeom prst="roundRect">
            <a:avLst>
              <a:gd name="adj" fmla="val 50000"/>
            </a:avLst>
          </a:prstGeom>
          <a:solidFill>
            <a:srgbClr val="004358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true" vert="horz" wrap="square" lIns="0" rIns="0" tIns="0" bIns="0"/>
          <a:lstStyle/>
          <a:p>
            <a:pPr algn="ctr" marL="0" indent="0">
              <a:lnSpc>
                <a:spcPct val="100000"/>
              </a:lnSpc>
              <a:spcBef>
                <a:spcPct val="20000"/>
              </a:spcBef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总结展望</a:t>
            </a: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marL="0" indent="0">
              <a:lnSpc>
                <a:spcPct val="100000"/>
              </a:lnSpc>
              <a:spcBef>
                <a:spcPct val="20000"/>
              </a:spcBef>
            </a:pPr>
            <a:r>
              <a:rPr lang="en-US" b="true" i="false" strike="noStrike" u="none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SUMMARY AND OUTLOOK</a:t>
            </a:r>
          </a:p>
        </p:txBody>
      </p:sp>
      <p:cxnSp>
        <p:nvCxnSpPr>
          <p:cNvPr name="Connector 3" id="3"/>
          <p:cNvCxnSpPr/>
          <p:nvPr/>
        </p:nvCxnSpPr>
        <p:spPr>
          <a:xfrm rot="-1679735" flipH="false" flipV="false">
            <a:off x="3688218" y="2787643"/>
            <a:ext cx="278359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38100" cmpd="sng" cap="rnd">
            <a:solidFill>
              <a:srgbClr val="56D7FF">
                <a:alpha val="100000"/>
              </a:srgbClr>
            </a:solidFill>
            <a:prstDash val="sysDot"/>
            <a:round/>
            <a:headEnd type="none" w="med" len="med"/>
            <a:tailEnd type="triangle" w="med" len="med"/>
          </a:ln>
        </p:spPr>
      </p:cxnSp>
      <p:cxnSp>
        <p:nvCxnSpPr>
          <p:cNvPr name="Connector 4" id="4"/>
          <p:cNvCxnSpPr/>
          <p:nvPr/>
        </p:nvCxnSpPr>
        <p:spPr>
          <a:xfrm rot="-542194" flipH="false" flipV="false">
            <a:off x="3833548" y="3333748"/>
            <a:ext cx="2505636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38100" cmpd="sng" cap="rnd">
            <a:solidFill>
              <a:srgbClr val="56D7FF">
                <a:alpha val="100000"/>
              </a:srgbClr>
            </a:solidFill>
            <a:prstDash val="sysDot"/>
            <a:round/>
            <a:headEnd type="none" w="med" len="med"/>
            <a:tailEnd type="triangle" w="med" len="med"/>
          </a:ln>
        </p:spPr>
      </p:cxnSp>
      <p:cxnSp>
        <p:nvCxnSpPr>
          <p:cNvPr name="Connector 5" id="5"/>
          <p:cNvCxnSpPr/>
          <p:nvPr/>
        </p:nvCxnSpPr>
        <p:spPr>
          <a:xfrm rot="513450" flipH="false" flipV="false">
            <a:off x="3935447" y="3848103"/>
            <a:ext cx="2390739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38100" cmpd="sng" cap="rnd">
            <a:solidFill>
              <a:srgbClr val="56D7FF">
                <a:alpha val="100000"/>
              </a:srgbClr>
            </a:solidFill>
            <a:prstDash val="sysDot"/>
            <a:round/>
            <a:headEnd type="none" w="med" len="med"/>
            <a:tailEnd type="triangle" w="med" len="med"/>
          </a:ln>
        </p:spPr>
      </p:cxnSp>
      <p:cxnSp>
        <p:nvCxnSpPr>
          <p:cNvPr name="Connector 6" id="6"/>
          <p:cNvCxnSpPr/>
          <p:nvPr/>
        </p:nvCxnSpPr>
        <p:spPr>
          <a:xfrm rot="1792803" flipH="false" flipV="false">
            <a:off x="3898791" y="4514858"/>
            <a:ext cx="2629145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38100" cmpd="sng" cap="rnd">
            <a:solidFill>
              <a:srgbClr val="56D7FF">
                <a:alpha val="100000"/>
              </a:srgbClr>
            </a:solidFill>
            <a:prstDash val="sysDot"/>
            <a:round/>
            <a:headEnd type="none" w="med" len="med"/>
            <a:tailEnd type="triangle" w="med" len="med"/>
          </a:ln>
        </p:spPr>
      </p:cxnSp>
      <p:sp>
        <p:nvSpPr>
          <p:cNvPr name="AutoShape 7" id="7"/>
          <p:cNvSpPr/>
          <p:nvPr/>
        </p:nvSpPr>
        <p:spPr>
          <a:xfrm rot="0" flipH="false" flipV="false">
            <a:off x="6502400" y="1765300"/>
            <a:ext cx="4394200" cy="685800"/>
          </a:xfrm>
          <a:prstGeom prst="roundRect">
            <a:avLst>
              <a:gd name="adj" fmla="val 50000"/>
            </a:avLst>
          </a:prstGeom>
          <a:solidFill>
            <a:srgbClr val="18B29D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true" vert="horz" wrap="square" lIns="0" rIns="0" tIns="0" bIns="0"/>
          <a:lstStyle/>
          <a:p>
            <a:pPr algn="ctr" marL="0" indent="0">
              <a:lnSpc>
                <a:spcPct val="100000"/>
              </a:lnSpc>
              <a:spcBef>
                <a:spcPct val="20000"/>
              </a:spcBef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项目概述</a:t>
            </a: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marL="0" indent="0">
              <a:lnSpc>
                <a:spcPct val="100000"/>
              </a:lnSpc>
              <a:spcBef>
                <a:spcPct val="20000"/>
              </a:spcBef>
            </a:pPr>
            <a:r>
              <a:rPr lang="en-US" b="true" i="false" strike="noStrike" u="none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OVERVIEW</a:t>
            </a:r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6502400" y="2794000"/>
            <a:ext cx="4394200" cy="685800"/>
          </a:xfrm>
          <a:prstGeom prst="roundRect">
            <a:avLst>
              <a:gd name="adj" fmla="val 50000"/>
            </a:avLst>
          </a:prstGeom>
          <a:solidFill>
            <a:srgbClr val="004358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true" vert="horz" wrap="square" lIns="0" rIns="0" tIns="0" bIns="0"/>
          <a:lstStyle/>
          <a:p>
            <a:pPr algn="ctr" marL="0" indent="0">
              <a:lnSpc>
                <a:spcPct val="100000"/>
              </a:lnSpc>
              <a:spcBef>
                <a:spcPct val="20000"/>
              </a:spcBef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研究方法</a:t>
            </a: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marL="0" indent="0">
              <a:lnSpc>
                <a:spcPct val="100000"/>
              </a:lnSpc>
              <a:spcBef>
                <a:spcPct val="20000"/>
              </a:spcBef>
            </a:pPr>
            <a:r>
              <a:rPr lang="en-US" b="true" i="false" strike="noStrike" u="none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RESEARCH METHODS</a:t>
            </a:r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6502400" y="3835400"/>
            <a:ext cx="4394200" cy="685800"/>
          </a:xfrm>
          <a:prstGeom prst="roundRect">
            <a:avLst>
              <a:gd name="adj" fmla="val 50000"/>
            </a:avLst>
          </a:prstGeom>
          <a:solidFill>
            <a:srgbClr val="18B29D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true" vert="horz" wrap="square" lIns="0" rIns="0" tIns="0" bIns="0"/>
          <a:lstStyle/>
          <a:p>
            <a:pPr algn="ctr" marL="0" indent="0">
              <a:lnSpc>
                <a:spcPct val="100000"/>
              </a:lnSpc>
              <a:spcBef>
                <a:spcPct val="20000"/>
              </a:spcBef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成果展示</a:t>
            </a: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marL="0" indent="0">
              <a:lnSpc>
                <a:spcPct val="100000"/>
              </a:lnSpc>
              <a:spcBef>
                <a:spcPct val="20000"/>
              </a:spcBef>
            </a:pPr>
            <a:r>
              <a:rPr lang="en-US" b="true" i="false" strike="noStrike" u="none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ACHIEVEMENT DISPLAY</a:t>
            </a:r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752600" y="2311400"/>
            <a:ext cx="2603500" cy="2603500"/>
          </a:xfrm>
          <a:prstGeom prst="ellipse">
            <a:avLst/>
          </a:prstGeom>
          <a:solidFill>
            <a:srgbClr val="56D7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2044700" y="2603500"/>
            <a:ext cx="2032000" cy="2032000"/>
          </a:xfrm>
          <a:prstGeom prst="ellipse">
            <a:avLst/>
          </a:prstGeom>
          <a:solidFill>
            <a:srgbClr val="004358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5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目录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4241800" y="3492500"/>
            <a:ext cx="4381500" cy="965200"/>
          </a:xfrm>
          <a:prstGeom prst="roundRect">
            <a:avLst>
              <a:gd name="adj" fmla="val 50000"/>
            </a:avLst>
          </a:prstGeom>
          <a:solidFill>
            <a:srgbClr val="18B29D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5918200" y="2209800"/>
            <a:ext cx="1016000" cy="1016000"/>
          </a:xfrm>
          <a:prstGeom prst="ellipse">
            <a:avLst/>
          </a:prstGeom>
          <a:solidFill>
            <a:srgbClr val="004358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4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lang="en-US" sz="1100"/>
          </a:p>
        </p:txBody>
      </p:sp>
      <p:sp>
        <p:nvSpPr>
          <p:cNvPr name="Freeform 4" id="4"/>
          <p:cNvSpPr/>
          <p:nvPr/>
        </p:nvSpPr>
        <p:spPr>
          <a:xfrm rot="0" flipH="false" flipV="false">
            <a:off x="5156200" y="3619500"/>
            <a:ext cx="2535812" cy="708143"/>
          </a:xfrm>
          <a:custGeom>
            <a:avLst/>
            <a:gdLst/>
            <a:ahLst/>
            <a:cxnLst/>
            <a:rect r="r" b="b" t="t" l="l"/>
            <a:pathLst>
              <a:path h="708143" w="2535812">
                <a:moveTo>
                  <a:pt x="0" y="708143"/>
                </a:moveTo>
                <a:lnTo>
                  <a:pt x="2535812" y="708143"/>
                </a:lnTo>
                <a:lnTo>
                  <a:pt x="0" y="708143"/>
                </a:lnTo>
                <a:close/>
                <a:moveTo>
                  <a:pt x="0" y="0"/>
                </a:moveTo>
                <a:lnTo>
                  <a:pt x="922" y="0"/>
                </a:lnTo>
                <a:lnTo>
                  <a:pt x="0" y="0"/>
                </a:lnTo>
                <a:close/>
              </a:path>
            </a:pathLst>
          </a:cu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32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项目概述</a:t>
            </a:r>
            <a:r>
              <a:rPr lang="en-US" b="fals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OVERVIEW</a:t>
            </a:r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6502400" y="4648200"/>
            <a:ext cx="1612900" cy="215900"/>
          </a:xfrm>
          <a:prstGeom prst="rect">
            <a:avLst/>
          </a:prstGeom>
          <a:noFill/>
          <a:ln w="13382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ctr" lvl="1" indent="-177800" marL="533400">
              <a:lnSpc>
                <a:spcPct val="100000"/>
              </a:lnSpc>
              <a:buClr>
                <a:srgbClr val="595959"/>
              </a:buClr>
              <a:buFont typeface="Arial"/>
              <a:buChar char="•"/>
              <a:defRPr/>
            </a:pPr>
            <a:r>
              <a:rPr lang="en-US" b="false" i="false" strike="noStrike" u="none" sz="1400">
                <a:solidFill>
                  <a:srgbClr val="595959"/>
                </a:solidFill>
                <a:latin typeface="微软雅黑"/>
                <a:ea typeface="微软雅黑"/>
                <a:cs typeface="微软雅黑"/>
                <a:sym typeface="微软雅黑"/>
              </a:rPr>
              <a:t>核心研究方向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4737100" y="4648200"/>
            <a:ext cx="1612900" cy="215900"/>
          </a:xfrm>
          <a:prstGeom prst="rect">
            <a:avLst/>
          </a:prstGeom>
          <a:noFill/>
          <a:ln w="13382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ctr" lvl="1" indent="-177800" marL="533400">
              <a:lnSpc>
                <a:spcPct val="100000"/>
              </a:lnSpc>
              <a:buClr>
                <a:srgbClr val="595959"/>
              </a:buClr>
              <a:buFont typeface="Arial"/>
              <a:buChar char="•"/>
              <a:defRPr/>
            </a:pPr>
            <a:r>
              <a:rPr lang="en-US" b="false" i="false" strike="noStrike" u="none" sz="1400">
                <a:solidFill>
                  <a:srgbClr val="595959"/>
                </a:solidFill>
                <a:latin typeface="微软雅黑"/>
                <a:ea typeface="微软雅黑"/>
                <a:cs typeface="微软雅黑"/>
                <a:sym typeface="微软雅黑"/>
              </a:rPr>
              <a:t>项目立项背景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6502400" y="4914900"/>
            <a:ext cx="1612900" cy="215900"/>
          </a:xfrm>
          <a:prstGeom prst="rect">
            <a:avLst/>
          </a:prstGeom>
          <a:noFill/>
          <a:ln w="13382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ctr" lvl="1" indent="-177800" marL="533400">
              <a:lnSpc>
                <a:spcPct val="100000"/>
              </a:lnSpc>
              <a:buClr>
                <a:srgbClr val="595959"/>
              </a:buClr>
              <a:buFont typeface="Arial"/>
              <a:buChar char="•"/>
              <a:defRPr/>
            </a:pPr>
            <a:r>
              <a:rPr lang="en-US" b="false" i="false" strike="noStrike" u="none" sz="1400">
                <a:solidFill>
                  <a:srgbClr val="595959"/>
                </a:solidFill>
                <a:latin typeface="微软雅黑"/>
                <a:ea typeface="微软雅黑"/>
                <a:cs typeface="微软雅黑"/>
                <a:sym typeface="微软雅黑"/>
              </a:rPr>
              <a:t>协作实施路径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4737100" y="4914900"/>
            <a:ext cx="1612900" cy="215900"/>
          </a:xfrm>
          <a:prstGeom prst="rect">
            <a:avLst/>
          </a:prstGeom>
          <a:noFill/>
          <a:ln w="13382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ctr" lvl="1" indent="-177800" marL="533400">
              <a:lnSpc>
                <a:spcPct val="100000"/>
              </a:lnSpc>
              <a:buClr>
                <a:srgbClr val="595959"/>
              </a:buClr>
              <a:buFont typeface="Arial"/>
              <a:buChar char="•"/>
              <a:defRPr/>
            </a:pPr>
            <a:r>
              <a:rPr lang="en-US" b="false" i="false" strike="noStrike" u="none" sz="1400">
                <a:solidFill>
                  <a:srgbClr val="595959"/>
                </a:solidFill>
                <a:latin typeface="微软雅黑"/>
                <a:ea typeface="微软雅黑"/>
                <a:cs typeface="微软雅黑"/>
                <a:sym typeface="微软雅黑"/>
              </a:rPr>
              <a:t>团队人员架构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6300000" flipH="false" flipV="false">
            <a:off x="5080000" y="5778500"/>
            <a:ext cx="2743200" cy="2743200"/>
          </a:xfrm>
          <a:prstGeom prst="chord">
            <a:avLst>
              <a:gd name="adj1" fmla="val 4234771"/>
              <a:gd name="adj2" fmla="val 15531980"/>
            </a:avLst>
          </a:prstGeom>
          <a:solidFill>
            <a:srgbClr val="18B29D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3" id="3"/>
          <p:cNvSpPr/>
          <p:nvPr/>
        </p:nvSpPr>
        <p:spPr>
          <a:xfrm rot="0" flipH="false" flipV="false">
            <a:off x="6070600" y="6210300"/>
            <a:ext cx="779297" cy="790072"/>
          </a:xfrm>
          <a:custGeom>
            <a:avLst/>
            <a:gdLst/>
            <a:ahLst/>
            <a:cxnLst/>
            <a:rect r="r" b="b" t="t" l="l"/>
            <a:pathLst>
              <a:path h="790072" w="779297">
                <a:moveTo>
                  <a:pt x="389649" y="0"/>
                </a:moveTo>
                <a:cubicBezTo>
                  <a:pt x="171710" y="0"/>
                  <a:pt x="0" y="179260"/>
                  <a:pt x="0" y="391716"/>
                </a:cubicBezTo>
                <a:cubicBezTo>
                  <a:pt x="0" y="610812"/>
                  <a:pt x="171710" y="790072"/>
                  <a:pt x="389649" y="790072"/>
                </a:cubicBezTo>
                <a:cubicBezTo>
                  <a:pt x="607588" y="790072"/>
                  <a:pt x="779297" y="610812"/>
                  <a:pt x="779297" y="391716"/>
                </a:cubicBezTo>
                <a:cubicBezTo>
                  <a:pt x="779297" y="179260"/>
                  <a:pt x="607588" y="0"/>
                  <a:pt x="389649" y="0"/>
                </a:cubicBezTo>
                <a:close/>
                <a:moveTo>
                  <a:pt x="733068" y="378438"/>
                </a:moveTo>
                <a:cubicBezTo>
                  <a:pt x="581171" y="378438"/>
                  <a:pt x="581171" y="378438"/>
                  <a:pt x="581171" y="378438"/>
                </a:cubicBezTo>
                <a:cubicBezTo>
                  <a:pt x="574567" y="325323"/>
                  <a:pt x="567963" y="272209"/>
                  <a:pt x="548150" y="219095"/>
                </a:cubicBezTo>
                <a:cubicBezTo>
                  <a:pt x="581171" y="205817"/>
                  <a:pt x="614192" y="185899"/>
                  <a:pt x="647214" y="165981"/>
                </a:cubicBezTo>
                <a:cubicBezTo>
                  <a:pt x="693443" y="225735"/>
                  <a:pt x="726464" y="298766"/>
                  <a:pt x="733068" y="378438"/>
                </a:cubicBezTo>
                <a:close/>
                <a:moveTo>
                  <a:pt x="376441" y="736958"/>
                </a:moveTo>
                <a:cubicBezTo>
                  <a:pt x="330211" y="703762"/>
                  <a:pt x="297190" y="657287"/>
                  <a:pt x="270773" y="604173"/>
                </a:cubicBezTo>
                <a:cubicBezTo>
                  <a:pt x="303794" y="590894"/>
                  <a:pt x="343419" y="584255"/>
                  <a:pt x="376441" y="584255"/>
                </a:cubicBezTo>
                <a:cubicBezTo>
                  <a:pt x="376441" y="736958"/>
                  <a:pt x="376441" y="736958"/>
                  <a:pt x="376441" y="736958"/>
                </a:cubicBezTo>
                <a:cubicBezTo>
                  <a:pt x="376441" y="736958"/>
                  <a:pt x="376441" y="736958"/>
                  <a:pt x="376441" y="736958"/>
                </a:cubicBezTo>
                <a:close/>
                <a:moveTo>
                  <a:pt x="402858" y="53114"/>
                </a:moveTo>
                <a:cubicBezTo>
                  <a:pt x="449087" y="92950"/>
                  <a:pt x="488713" y="146064"/>
                  <a:pt x="515130" y="205817"/>
                </a:cubicBezTo>
                <a:cubicBezTo>
                  <a:pt x="482109" y="219095"/>
                  <a:pt x="442483" y="225735"/>
                  <a:pt x="402858" y="225735"/>
                </a:cubicBezTo>
                <a:cubicBezTo>
                  <a:pt x="402858" y="53114"/>
                  <a:pt x="402858" y="53114"/>
                  <a:pt x="402858" y="53114"/>
                </a:cubicBezTo>
                <a:cubicBezTo>
                  <a:pt x="402858" y="53114"/>
                  <a:pt x="402858" y="53114"/>
                  <a:pt x="402858" y="53114"/>
                </a:cubicBezTo>
                <a:close/>
                <a:moveTo>
                  <a:pt x="442483" y="53114"/>
                </a:moveTo>
                <a:cubicBezTo>
                  <a:pt x="515130" y="66393"/>
                  <a:pt x="581171" y="99588"/>
                  <a:pt x="627400" y="146064"/>
                </a:cubicBezTo>
                <a:cubicBezTo>
                  <a:pt x="600984" y="165981"/>
                  <a:pt x="574567" y="185899"/>
                  <a:pt x="541546" y="199178"/>
                </a:cubicBezTo>
                <a:cubicBezTo>
                  <a:pt x="515130" y="146064"/>
                  <a:pt x="482109" y="92950"/>
                  <a:pt x="442483" y="53114"/>
                </a:cubicBezTo>
                <a:close/>
                <a:moveTo>
                  <a:pt x="376441" y="53114"/>
                </a:moveTo>
                <a:cubicBezTo>
                  <a:pt x="376441" y="225735"/>
                  <a:pt x="376441" y="225735"/>
                  <a:pt x="376441" y="225735"/>
                </a:cubicBezTo>
                <a:cubicBezTo>
                  <a:pt x="336815" y="225735"/>
                  <a:pt x="297190" y="219095"/>
                  <a:pt x="264169" y="205817"/>
                </a:cubicBezTo>
                <a:cubicBezTo>
                  <a:pt x="290586" y="146064"/>
                  <a:pt x="330211" y="92950"/>
                  <a:pt x="376441" y="53114"/>
                </a:cubicBezTo>
                <a:cubicBezTo>
                  <a:pt x="376441" y="53114"/>
                  <a:pt x="376441" y="53114"/>
                  <a:pt x="376441" y="53114"/>
                </a:cubicBezTo>
                <a:close/>
                <a:moveTo>
                  <a:pt x="237752" y="199178"/>
                </a:moveTo>
                <a:cubicBezTo>
                  <a:pt x="204730" y="185899"/>
                  <a:pt x="178314" y="165981"/>
                  <a:pt x="151897" y="146064"/>
                </a:cubicBezTo>
                <a:cubicBezTo>
                  <a:pt x="198126" y="99588"/>
                  <a:pt x="264169" y="66393"/>
                  <a:pt x="330211" y="53114"/>
                </a:cubicBezTo>
                <a:cubicBezTo>
                  <a:pt x="297190" y="92950"/>
                  <a:pt x="264169" y="146064"/>
                  <a:pt x="237752" y="199178"/>
                </a:cubicBezTo>
                <a:close/>
                <a:moveTo>
                  <a:pt x="250961" y="232374"/>
                </a:moveTo>
                <a:cubicBezTo>
                  <a:pt x="290586" y="245652"/>
                  <a:pt x="330211" y="252292"/>
                  <a:pt x="376441" y="252292"/>
                </a:cubicBezTo>
                <a:cubicBezTo>
                  <a:pt x="376441" y="378438"/>
                  <a:pt x="376441" y="378438"/>
                  <a:pt x="376441" y="378438"/>
                </a:cubicBezTo>
                <a:cubicBezTo>
                  <a:pt x="224544" y="378438"/>
                  <a:pt x="224544" y="378438"/>
                  <a:pt x="224544" y="378438"/>
                </a:cubicBezTo>
                <a:cubicBezTo>
                  <a:pt x="224544" y="325323"/>
                  <a:pt x="237752" y="278849"/>
                  <a:pt x="250961" y="232374"/>
                </a:cubicBezTo>
                <a:close/>
                <a:moveTo>
                  <a:pt x="376441" y="404995"/>
                </a:moveTo>
                <a:cubicBezTo>
                  <a:pt x="376441" y="557698"/>
                  <a:pt x="376441" y="557698"/>
                  <a:pt x="376441" y="557698"/>
                </a:cubicBezTo>
                <a:cubicBezTo>
                  <a:pt x="336815" y="564337"/>
                  <a:pt x="297190" y="570977"/>
                  <a:pt x="264169" y="577615"/>
                </a:cubicBezTo>
                <a:cubicBezTo>
                  <a:pt x="237752" y="524501"/>
                  <a:pt x="224544" y="471387"/>
                  <a:pt x="224544" y="404995"/>
                </a:cubicBezTo>
                <a:lnTo>
                  <a:pt x="376441" y="404995"/>
                </a:lnTo>
                <a:close/>
                <a:moveTo>
                  <a:pt x="330211" y="730319"/>
                </a:moveTo>
                <a:cubicBezTo>
                  <a:pt x="270773" y="723679"/>
                  <a:pt x="211336" y="697122"/>
                  <a:pt x="165105" y="657287"/>
                </a:cubicBezTo>
                <a:cubicBezTo>
                  <a:pt x="191522" y="637369"/>
                  <a:pt x="217940" y="624091"/>
                  <a:pt x="250961" y="610812"/>
                </a:cubicBezTo>
                <a:cubicBezTo>
                  <a:pt x="270773" y="657287"/>
                  <a:pt x="297190" y="697122"/>
                  <a:pt x="330211" y="730319"/>
                </a:cubicBezTo>
                <a:close/>
                <a:moveTo>
                  <a:pt x="402858" y="736958"/>
                </a:moveTo>
                <a:cubicBezTo>
                  <a:pt x="402858" y="584255"/>
                  <a:pt x="402858" y="584255"/>
                  <a:pt x="402858" y="584255"/>
                </a:cubicBezTo>
                <a:cubicBezTo>
                  <a:pt x="435878" y="584255"/>
                  <a:pt x="475503" y="590894"/>
                  <a:pt x="508525" y="604173"/>
                </a:cubicBezTo>
                <a:cubicBezTo>
                  <a:pt x="482109" y="657287"/>
                  <a:pt x="442483" y="703762"/>
                  <a:pt x="402858" y="736958"/>
                </a:cubicBezTo>
                <a:cubicBezTo>
                  <a:pt x="402858" y="736958"/>
                  <a:pt x="402858" y="736958"/>
                  <a:pt x="402858" y="736958"/>
                </a:cubicBezTo>
                <a:close/>
                <a:moveTo>
                  <a:pt x="528338" y="610812"/>
                </a:moveTo>
                <a:cubicBezTo>
                  <a:pt x="561359" y="624091"/>
                  <a:pt x="587775" y="637369"/>
                  <a:pt x="614192" y="657287"/>
                </a:cubicBezTo>
                <a:cubicBezTo>
                  <a:pt x="567963" y="697122"/>
                  <a:pt x="508525" y="723679"/>
                  <a:pt x="442483" y="730319"/>
                </a:cubicBezTo>
                <a:cubicBezTo>
                  <a:pt x="482109" y="697122"/>
                  <a:pt x="508525" y="657287"/>
                  <a:pt x="528338" y="610812"/>
                </a:cubicBezTo>
                <a:close/>
                <a:moveTo>
                  <a:pt x="515130" y="577615"/>
                </a:moveTo>
                <a:cubicBezTo>
                  <a:pt x="482109" y="570977"/>
                  <a:pt x="442483" y="564337"/>
                  <a:pt x="402858" y="557698"/>
                </a:cubicBezTo>
                <a:cubicBezTo>
                  <a:pt x="402858" y="404995"/>
                  <a:pt x="402858" y="404995"/>
                  <a:pt x="402858" y="404995"/>
                </a:cubicBezTo>
                <a:cubicBezTo>
                  <a:pt x="554755" y="404995"/>
                  <a:pt x="554755" y="404995"/>
                  <a:pt x="554755" y="404995"/>
                </a:cubicBezTo>
                <a:cubicBezTo>
                  <a:pt x="554755" y="471387"/>
                  <a:pt x="541546" y="524501"/>
                  <a:pt x="515130" y="577615"/>
                </a:cubicBezTo>
                <a:close/>
                <a:moveTo>
                  <a:pt x="402858" y="378438"/>
                </a:moveTo>
                <a:cubicBezTo>
                  <a:pt x="402858" y="252292"/>
                  <a:pt x="402858" y="252292"/>
                  <a:pt x="402858" y="252292"/>
                </a:cubicBezTo>
                <a:cubicBezTo>
                  <a:pt x="442483" y="252292"/>
                  <a:pt x="488713" y="245652"/>
                  <a:pt x="528338" y="232374"/>
                </a:cubicBezTo>
                <a:cubicBezTo>
                  <a:pt x="541546" y="278849"/>
                  <a:pt x="554755" y="325323"/>
                  <a:pt x="554755" y="378438"/>
                </a:cubicBezTo>
                <a:lnTo>
                  <a:pt x="402858" y="378438"/>
                </a:lnTo>
                <a:close/>
                <a:moveTo>
                  <a:pt x="132084" y="165981"/>
                </a:moveTo>
                <a:cubicBezTo>
                  <a:pt x="165105" y="185899"/>
                  <a:pt x="198126" y="205817"/>
                  <a:pt x="231148" y="219095"/>
                </a:cubicBezTo>
                <a:cubicBezTo>
                  <a:pt x="211336" y="272209"/>
                  <a:pt x="198126" y="325323"/>
                  <a:pt x="198126" y="378438"/>
                </a:cubicBezTo>
                <a:cubicBezTo>
                  <a:pt x="46229" y="378438"/>
                  <a:pt x="46229" y="378438"/>
                  <a:pt x="46229" y="378438"/>
                </a:cubicBezTo>
                <a:cubicBezTo>
                  <a:pt x="52833" y="298766"/>
                  <a:pt x="85855" y="225735"/>
                  <a:pt x="132084" y="165981"/>
                </a:cubicBezTo>
                <a:close/>
                <a:moveTo>
                  <a:pt x="46229" y="404995"/>
                </a:moveTo>
                <a:cubicBezTo>
                  <a:pt x="198126" y="404995"/>
                  <a:pt x="198126" y="404995"/>
                  <a:pt x="198126" y="404995"/>
                </a:cubicBezTo>
                <a:cubicBezTo>
                  <a:pt x="204730" y="471387"/>
                  <a:pt x="217940" y="531141"/>
                  <a:pt x="237752" y="590894"/>
                </a:cubicBezTo>
                <a:cubicBezTo>
                  <a:pt x="204730" y="604173"/>
                  <a:pt x="178314" y="617451"/>
                  <a:pt x="145293" y="637369"/>
                </a:cubicBezTo>
                <a:cubicBezTo>
                  <a:pt x="85855" y="577615"/>
                  <a:pt x="52833" y="497944"/>
                  <a:pt x="46229" y="404995"/>
                </a:cubicBezTo>
                <a:close/>
                <a:moveTo>
                  <a:pt x="627400" y="637369"/>
                </a:moveTo>
                <a:cubicBezTo>
                  <a:pt x="600984" y="617451"/>
                  <a:pt x="574567" y="604173"/>
                  <a:pt x="541546" y="590894"/>
                </a:cubicBezTo>
                <a:cubicBezTo>
                  <a:pt x="561359" y="531141"/>
                  <a:pt x="574567" y="471387"/>
                  <a:pt x="581171" y="404995"/>
                </a:cubicBezTo>
                <a:cubicBezTo>
                  <a:pt x="733068" y="404995"/>
                  <a:pt x="733068" y="404995"/>
                  <a:pt x="733068" y="404995"/>
                </a:cubicBezTo>
                <a:cubicBezTo>
                  <a:pt x="726464" y="497944"/>
                  <a:pt x="686839" y="577615"/>
                  <a:pt x="627400" y="637369"/>
                </a:cubicBezTo>
                <a:close/>
                <a:moveTo>
                  <a:pt x="627400" y="637369"/>
                </a:moveTo>
                <a:cubicBezTo>
                  <a:pt x="627400" y="637369"/>
                  <a:pt x="627400" y="637369"/>
                  <a:pt x="627400" y="637369"/>
                </a:cubicBezTo>
              </a:path>
            </a:pathLst>
          </a:cu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3975100" y="4724400"/>
            <a:ext cx="4914900" cy="4914900"/>
          </a:xfrm>
          <a:prstGeom prst="arc">
            <a:avLst>
              <a:gd name="adj1" fmla="val 10769273"/>
              <a:gd name="adj2" fmla="val 0"/>
            </a:avLst>
          </a:prstGeom>
          <a:noFill/>
          <a:ln w="50800" cmpd="sng" cap="rnd">
            <a:solidFill>
              <a:srgbClr val="BFBFBF">
                <a:alpha val="100000"/>
              </a:srgbClr>
            </a:solidFill>
            <a:prstDash val="solid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3810000" y="6997700"/>
            <a:ext cx="317500" cy="317500"/>
          </a:xfrm>
          <a:prstGeom prst="ellipse">
            <a:avLst/>
          </a:prstGeom>
          <a:solidFill>
            <a:srgbClr val="004358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8724900" y="6997700"/>
            <a:ext cx="317500" cy="317500"/>
          </a:xfrm>
          <a:prstGeom prst="ellipse">
            <a:avLst/>
          </a:prstGeom>
          <a:solidFill>
            <a:srgbClr val="004358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6273800" y="4572000"/>
            <a:ext cx="317500" cy="317500"/>
          </a:xfrm>
          <a:prstGeom prst="ellipse">
            <a:avLst/>
          </a:prstGeom>
          <a:solidFill>
            <a:srgbClr val="004358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8026400" y="5308600"/>
            <a:ext cx="317500" cy="317500"/>
          </a:xfrm>
          <a:prstGeom prst="ellipse">
            <a:avLst/>
          </a:prstGeom>
          <a:solidFill>
            <a:srgbClr val="18B29D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4521200" y="5308600"/>
            <a:ext cx="317500" cy="317500"/>
          </a:xfrm>
          <a:prstGeom prst="ellipse">
            <a:avLst/>
          </a:prstGeom>
          <a:solidFill>
            <a:srgbClr val="18B29D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5400000" flipH="false" flipV="false">
            <a:off x="2667000" y="5854700"/>
            <a:ext cx="1143000" cy="1143000"/>
          </a:xfrm>
          <a:prstGeom prst="teardrop">
            <a:avLst>
              <a:gd name="adj" fmla="val 100000"/>
            </a:avLst>
          </a:prstGeom>
          <a:solidFill>
            <a:srgbClr val="004358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5400000" flipH="false" flipV="false">
            <a:off x="3352800" y="4165600"/>
            <a:ext cx="1143000" cy="1143000"/>
          </a:xfrm>
          <a:prstGeom prst="teardrop">
            <a:avLst>
              <a:gd name="adj" fmla="val 100000"/>
            </a:avLst>
          </a:prstGeom>
          <a:solidFill>
            <a:srgbClr val="18B29D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5400000" flipH="false" flipV="true">
            <a:off x="8382000" y="4165600"/>
            <a:ext cx="1143000" cy="1143000"/>
          </a:xfrm>
          <a:prstGeom prst="teardrop">
            <a:avLst>
              <a:gd name="adj" fmla="val 100000"/>
            </a:avLst>
          </a:prstGeom>
          <a:solidFill>
            <a:srgbClr val="18B29D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5400000" flipH="false" flipV="true">
            <a:off x="9144000" y="5854700"/>
            <a:ext cx="1143000" cy="1143000"/>
          </a:xfrm>
          <a:prstGeom prst="teardrop">
            <a:avLst>
              <a:gd name="adj" fmla="val 100000"/>
            </a:avLst>
          </a:prstGeom>
          <a:solidFill>
            <a:srgbClr val="004358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2700000" flipH="false" flipV="true">
            <a:off x="5854700" y="3124200"/>
            <a:ext cx="1143000" cy="1143000"/>
          </a:xfrm>
          <a:prstGeom prst="teardrop">
            <a:avLst>
              <a:gd name="adj" fmla="val 100000"/>
            </a:avLst>
          </a:prstGeom>
          <a:solidFill>
            <a:srgbClr val="004358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15" id="15"/>
          <p:cNvSpPr/>
          <p:nvPr/>
        </p:nvSpPr>
        <p:spPr>
          <a:xfrm rot="0" flipH="false" flipV="false">
            <a:off x="6197600" y="3479800"/>
            <a:ext cx="473879" cy="522147"/>
          </a:xfrm>
          <a:custGeom>
            <a:avLst/>
            <a:gdLst/>
            <a:ahLst/>
            <a:cxnLst/>
            <a:rect r="r" b="b" t="t" l="l"/>
            <a:pathLst>
              <a:path h="522147" w="473879">
                <a:moveTo>
                  <a:pt x="379103" y="522147"/>
                </a:moveTo>
                <a:cubicBezTo>
                  <a:pt x="350670" y="522147"/>
                  <a:pt x="322237" y="512653"/>
                  <a:pt x="303282" y="484172"/>
                </a:cubicBezTo>
                <a:cubicBezTo>
                  <a:pt x="37911" y="227846"/>
                  <a:pt x="37911" y="227846"/>
                  <a:pt x="37911" y="227846"/>
                </a:cubicBezTo>
                <a:cubicBezTo>
                  <a:pt x="9478" y="199365"/>
                  <a:pt x="0" y="170885"/>
                  <a:pt x="0" y="132911"/>
                </a:cubicBezTo>
                <a:cubicBezTo>
                  <a:pt x="0" y="66455"/>
                  <a:pt x="56866" y="0"/>
                  <a:pt x="123209" y="0"/>
                </a:cubicBezTo>
                <a:cubicBezTo>
                  <a:pt x="161119" y="0"/>
                  <a:pt x="199029" y="18988"/>
                  <a:pt x="217984" y="47468"/>
                </a:cubicBezTo>
                <a:cubicBezTo>
                  <a:pt x="426491" y="246833"/>
                  <a:pt x="426491" y="246833"/>
                  <a:pt x="426491" y="246833"/>
                </a:cubicBezTo>
                <a:cubicBezTo>
                  <a:pt x="426491" y="246833"/>
                  <a:pt x="426491" y="256327"/>
                  <a:pt x="426491" y="256327"/>
                </a:cubicBezTo>
                <a:cubicBezTo>
                  <a:pt x="426491" y="265820"/>
                  <a:pt x="407535" y="284808"/>
                  <a:pt x="398059" y="284808"/>
                </a:cubicBezTo>
                <a:cubicBezTo>
                  <a:pt x="398059" y="284808"/>
                  <a:pt x="398059" y="284808"/>
                  <a:pt x="398059" y="275314"/>
                </a:cubicBezTo>
                <a:cubicBezTo>
                  <a:pt x="189551" y="75949"/>
                  <a:pt x="189551" y="75949"/>
                  <a:pt x="189551" y="75949"/>
                </a:cubicBezTo>
                <a:cubicBezTo>
                  <a:pt x="170597" y="56962"/>
                  <a:pt x="151642" y="47468"/>
                  <a:pt x="123209" y="47468"/>
                </a:cubicBezTo>
                <a:cubicBezTo>
                  <a:pt x="75820" y="47468"/>
                  <a:pt x="37911" y="85442"/>
                  <a:pt x="37911" y="132911"/>
                </a:cubicBezTo>
                <a:cubicBezTo>
                  <a:pt x="37911" y="151897"/>
                  <a:pt x="47388" y="180378"/>
                  <a:pt x="66344" y="199365"/>
                </a:cubicBezTo>
                <a:cubicBezTo>
                  <a:pt x="331715" y="455693"/>
                  <a:pt x="331715" y="455693"/>
                  <a:pt x="331715" y="455693"/>
                </a:cubicBezTo>
                <a:cubicBezTo>
                  <a:pt x="341193" y="474679"/>
                  <a:pt x="360148" y="474679"/>
                  <a:pt x="379103" y="474679"/>
                </a:cubicBezTo>
                <a:cubicBezTo>
                  <a:pt x="407535" y="474679"/>
                  <a:pt x="426491" y="455693"/>
                  <a:pt x="426491" y="427211"/>
                </a:cubicBezTo>
                <a:cubicBezTo>
                  <a:pt x="426491" y="408224"/>
                  <a:pt x="417013" y="389237"/>
                  <a:pt x="407535" y="379743"/>
                </a:cubicBezTo>
                <a:cubicBezTo>
                  <a:pt x="208507" y="180378"/>
                  <a:pt x="208507" y="180378"/>
                  <a:pt x="208507" y="180378"/>
                </a:cubicBezTo>
                <a:cubicBezTo>
                  <a:pt x="208507" y="180378"/>
                  <a:pt x="199029" y="170885"/>
                  <a:pt x="189551" y="170885"/>
                </a:cubicBezTo>
                <a:cubicBezTo>
                  <a:pt x="180075" y="170885"/>
                  <a:pt x="170597" y="180378"/>
                  <a:pt x="170597" y="199365"/>
                </a:cubicBezTo>
                <a:cubicBezTo>
                  <a:pt x="170597" y="208859"/>
                  <a:pt x="170597" y="208859"/>
                  <a:pt x="180075" y="218352"/>
                </a:cubicBezTo>
                <a:cubicBezTo>
                  <a:pt x="312760" y="360756"/>
                  <a:pt x="312760" y="360756"/>
                  <a:pt x="312760" y="360756"/>
                </a:cubicBezTo>
                <a:cubicBezTo>
                  <a:pt x="322237" y="360756"/>
                  <a:pt x="322237" y="360756"/>
                  <a:pt x="322237" y="360756"/>
                </a:cubicBezTo>
                <a:cubicBezTo>
                  <a:pt x="322237" y="370249"/>
                  <a:pt x="303282" y="389237"/>
                  <a:pt x="293806" y="389237"/>
                </a:cubicBezTo>
                <a:cubicBezTo>
                  <a:pt x="293806" y="389237"/>
                  <a:pt x="284328" y="389237"/>
                  <a:pt x="284328" y="389237"/>
                </a:cubicBezTo>
                <a:cubicBezTo>
                  <a:pt x="151642" y="246833"/>
                  <a:pt x="151642" y="246833"/>
                  <a:pt x="151642" y="246833"/>
                </a:cubicBezTo>
                <a:cubicBezTo>
                  <a:pt x="132686" y="237340"/>
                  <a:pt x="123209" y="218352"/>
                  <a:pt x="123209" y="199365"/>
                </a:cubicBezTo>
                <a:cubicBezTo>
                  <a:pt x="123209" y="161390"/>
                  <a:pt x="151642" y="132911"/>
                  <a:pt x="189551" y="132911"/>
                </a:cubicBezTo>
                <a:cubicBezTo>
                  <a:pt x="208507" y="132911"/>
                  <a:pt x="227462" y="142404"/>
                  <a:pt x="246417" y="151897"/>
                </a:cubicBezTo>
                <a:cubicBezTo>
                  <a:pt x="435968" y="351263"/>
                  <a:pt x="435968" y="351263"/>
                  <a:pt x="435968" y="351263"/>
                </a:cubicBezTo>
                <a:cubicBezTo>
                  <a:pt x="464401" y="370249"/>
                  <a:pt x="473879" y="398730"/>
                  <a:pt x="473879" y="427211"/>
                </a:cubicBezTo>
                <a:cubicBezTo>
                  <a:pt x="473879" y="484172"/>
                  <a:pt x="435968" y="522147"/>
                  <a:pt x="379103" y="522147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16" id="16"/>
          <p:cNvSpPr/>
          <p:nvPr/>
        </p:nvSpPr>
        <p:spPr>
          <a:xfrm rot="0" flipH="false" flipV="false">
            <a:off x="9486900" y="6311900"/>
            <a:ext cx="417633" cy="427655"/>
          </a:xfrm>
          <a:custGeom>
            <a:avLst/>
            <a:gdLst/>
            <a:ahLst/>
            <a:cxnLst/>
            <a:rect r="r" b="b" t="t" l="l"/>
            <a:pathLst>
              <a:path h="427655" w="417633">
                <a:moveTo>
                  <a:pt x="331226" y="217452"/>
                </a:moveTo>
                <a:cubicBezTo>
                  <a:pt x="316826" y="231949"/>
                  <a:pt x="302424" y="246445"/>
                  <a:pt x="280822" y="260942"/>
                </a:cubicBezTo>
                <a:cubicBezTo>
                  <a:pt x="280822" y="362420"/>
                  <a:pt x="280822" y="362420"/>
                  <a:pt x="280822" y="362420"/>
                </a:cubicBezTo>
                <a:cubicBezTo>
                  <a:pt x="280822" y="362420"/>
                  <a:pt x="280822" y="362420"/>
                  <a:pt x="273622" y="362420"/>
                </a:cubicBezTo>
                <a:cubicBezTo>
                  <a:pt x="172814" y="420407"/>
                  <a:pt x="172814" y="420407"/>
                  <a:pt x="172814" y="420407"/>
                </a:cubicBezTo>
                <a:cubicBezTo>
                  <a:pt x="172814" y="427655"/>
                  <a:pt x="172814" y="427655"/>
                  <a:pt x="172814" y="427655"/>
                </a:cubicBezTo>
                <a:cubicBezTo>
                  <a:pt x="172814" y="427655"/>
                  <a:pt x="165613" y="420407"/>
                  <a:pt x="165613" y="420407"/>
                </a:cubicBezTo>
                <a:cubicBezTo>
                  <a:pt x="151213" y="405910"/>
                  <a:pt x="151213" y="405910"/>
                  <a:pt x="151213" y="405910"/>
                </a:cubicBezTo>
                <a:cubicBezTo>
                  <a:pt x="151213" y="405910"/>
                  <a:pt x="144012" y="398662"/>
                  <a:pt x="151213" y="398662"/>
                </a:cubicBezTo>
                <a:cubicBezTo>
                  <a:pt x="172814" y="326178"/>
                  <a:pt x="172814" y="326178"/>
                  <a:pt x="172814" y="326178"/>
                </a:cubicBezTo>
                <a:cubicBezTo>
                  <a:pt x="100808" y="253694"/>
                  <a:pt x="100808" y="253694"/>
                  <a:pt x="100808" y="253694"/>
                </a:cubicBezTo>
                <a:cubicBezTo>
                  <a:pt x="28802" y="275439"/>
                  <a:pt x="28802" y="275439"/>
                  <a:pt x="28802" y="275439"/>
                </a:cubicBezTo>
                <a:cubicBezTo>
                  <a:pt x="28802" y="275439"/>
                  <a:pt x="21601" y="275439"/>
                  <a:pt x="21601" y="275439"/>
                </a:cubicBezTo>
                <a:cubicBezTo>
                  <a:pt x="21601" y="275439"/>
                  <a:pt x="21601" y="275439"/>
                  <a:pt x="21601" y="275439"/>
                </a:cubicBezTo>
                <a:cubicBezTo>
                  <a:pt x="0" y="253694"/>
                  <a:pt x="0" y="253694"/>
                  <a:pt x="0" y="253694"/>
                </a:cubicBezTo>
                <a:cubicBezTo>
                  <a:pt x="0" y="253694"/>
                  <a:pt x="0" y="246445"/>
                  <a:pt x="0" y="246445"/>
                </a:cubicBezTo>
                <a:cubicBezTo>
                  <a:pt x="57605" y="144968"/>
                  <a:pt x="57605" y="144968"/>
                  <a:pt x="57605" y="144968"/>
                </a:cubicBezTo>
                <a:cubicBezTo>
                  <a:pt x="57605" y="144968"/>
                  <a:pt x="64806" y="144968"/>
                  <a:pt x="64806" y="144968"/>
                </a:cubicBezTo>
                <a:cubicBezTo>
                  <a:pt x="165613" y="137719"/>
                  <a:pt x="165613" y="137719"/>
                  <a:pt x="165613" y="137719"/>
                </a:cubicBezTo>
                <a:cubicBezTo>
                  <a:pt x="180014" y="123223"/>
                  <a:pt x="194415" y="101478"/>
                  <a:pt x="208816" y="86981"/>
                </a:cubicBezTo>
                <a:cubicBezTo>
                  <a:pt x="273622" y="21745"/>
                  <a:pt x="324025" y="0"/>
                  <a:pt x="410432" y="0"/>
                </a:cubicBezTo>
                <a:cubicBezTo>
                  <a:pt x="417633" y="0"/>
                  <a:pt x="417633" y="7248"/>
                  <a:pt x="417633" y="7248"/>
                </a:cubicBezTo>
                <a:cubicBezTo>
                  <a:pt x="417633" y="94229"/>
                  <a:pt x="396032" y="152216"/>
                  <a:pt x="331226" y="217452"/>
                </a:cubicBezTo>
                <a:close/>
                <a:moveTo>
                  <a:pt x="338427" y="57987"/>
                </a:moveTo>
                <a:cubicBezTo>
                  <a:pt x="324025" y="57987"/>
                  <a:pt x="309625" y="72484"/>
                  <a:pt x="309625" y="86981"/>
                </a:cubicBezTo>
                <a:cubicBezTo>
                  <a:pt x="309625" y="101478"/>
                  <a:pt x="324025" y="108726"/>
                  <a:pt x="338427" y="108726"/>
                </a:cubicBezTo>
                <a:cubicBezTo>
                  <a:pt x="352828" y="108726"/>
                  <a:pt x="360028" y="101478"/>
                  <a:pt x="360028" y="86981"/>
                </a:cubicBezTo>
                <a:cubicBezTo>
                  <a:pt x="360028" y="72484"/>
                  <a:pt x="352828" y="57987"/>
                  <a:pt x="338427" y="57987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17" id="17"/>
          <p:cNvSpPr/>
          <p:nvPr/>
        </p:nvSpPr>
        <p:spPr>
          <a:xfrm rot="0" flipH="false" flipV="false">
            <a:off x="3695700" y="4533900"/>
            <a:ext cx="461065" cy="397586"/>
          </a:xfrm>
          <a:custGeom>
            <a:avLst/>
            <a:gdLst/>
            <a:ahLst/>
            <a:cxnLst/>
            <a:rect r="r" b="b" t="t" l="l"/>
            <a:pathLst>
              <a:path h="397586" w="461065">
                <a:moveTo>
                  <a:pt x="461065" y="368671"/>
                </a:moveTo>
                <a:cubicBezTo>
                  <a:pt x="461065" y="383129"/>
                  <a:pt x="446655" y="397586"/>
                  <a:pt x="432247" y="397586"/>
                </a:cubicBezTo>
                <a:cubicBezTo>
                  <a:pt x="353002" y="397586"/>
                  <a:pt x="353002" y="397586"/>
                  <a:pt x="353002" y="397586"/>
                </a:cubicBezTo>
                <a:cubicBezTo>
                  <a:pt x="338593" y="397586"/>
                  <a:pt x="324185" y="383129"/>
                  <a:pt x="324185" y="368671"/>
                </a:cubicBezTo>
                <a:cubicBezTo>
                  <a:pt x="324185" y="289154"/>
                  <a:pt x="324185" y="289154"/>
                  <a:pt x="324185" y="289154"/>
                </a:cubicBezTo>
                <a:cubicBezTo>
                  <a:pt x="324185" y="274696"/>
                  <a:pt x="338593" y="260238"/>
                  <a:pt x="353002" y="260238"/>
                </a:cubicBezTo>
                <a:cubicBezTo>
                  <a:pt x="374614" y="260238"/>
                  <a:pt x="374614" y="260238"/>
                  <a:pt x="374614" y="260238"/>
                </a:cubicBezTo>
                <a:cubicBezTo>
                  <a:pt x="374614" y="216865"/>
                  <a:pt x="374614" y="216865"/>
                  <a:pt x="374614" y="216865"/>
                </a:cubicBezTo>
                <a:cubicBezTo>
                  <a:pt x="244940" y="216865"/>
                  <a:pt x="244940" y="216865"/>
                  <a:pt x="244940" y="216865"/>
                </a:cubicBezTo>
                <a:cubicBezTo>
                  <a:pt x="244940" y="260238"/>
                  <a:pt x="244940" y="260238"/>
                  <a:pt x="244940" y="260238"/>
                </a:cubicBezTo>
                <a:cubicBezTo>
                  <a:pt x="266553" y="260238"/>
                  <a:pt x="266553" y="260238"/>
                  <a:pt x="266553" y="260238"/>
                </a:cubicBezTo>
                <a:cubicBezTo>
                  <a:pt x="280961" y="260238"/>
                  <a:pt x="295369" y="274696"/>
                  <a:pt x="295369" y="289154"/>
                </a:cubicBezTo>
                <a:cubicBezTo>
                  <a:pt x="295369" y="368671"/>
                  <a:pt x="295369" y="368671"/>
                  <a:pt x="295369" y="368671"/>
                </a:cubicBezTo>
                <a:cubicBezTo>
                  <a:pt x="295369" y="383129"/>
                  <a:pt x="280961" y="397586"/>
                  <a:pt x="266553" y="397586"/>
                </a:cubicBezTo>
                <a:cubicBezTo>
                  <a:pt x="187307" y="397586"/>
                  <a:pt x="187307" y="397586"/>
                  <a:pt x="187307" y="397586"/>
                </a:cubicBezTo>
                <a:cubicBezTo>
                  <a:pt x="172899" y="397586"/>
                  <a:pt x="165694" y="383129"/>
                  <a:pt x="165694" y="368671"/>
                </a:cubicBezTo>
                <a:cubicBezTo>
                  <a:pt x="165694" y="289154"/>
                  <a:pt x="165694" y="289154"/>
                  <a:pt x="165694" y="289154"/>
                </a:cubicBezTo>
                <a:cubicBezTo>
                  <a:pt x="165694" y="274696"/>
                  <a:pt x="172899" y="260238"/>
                  <a:pt x="187307" y="260238"/>
                </a:cubicBezTo>
                <a:cubicBezTo>
                  <a:pt x="208920" y="260238"/>
                  <a:pt x="208920" y="260238"/>
                  <a:pt x="208920" y="260238"/>
                </a:cubicBezTo>
                <a:cubicBezTo>
                  <a:pt x="208920" y="216865"/>
                  <a:pt x="208920" y="216865"/>
                  <a:pt x="208920" y="216865"/>
                </a:cubicBezTo>
                <a:cubicBezTo>
                  <a:pt x="79245" y="216865"/>
                  <a:pt x="79245" y="216865"/>
                  <a:pt x="79245" y="216865"/>
                </a:cubicBezTo>
                <a:cubicBezTo>
                  <a:pt x="79245" y="260238"/>
                  <a:pt x="79245" y="260238"/>
                  <a:pt x="79245" y="260238"/>
                </a:cubicBezTo>
                <a:cubicBezTo>
                  <a:pt x="108062" y="260238"/>
                  <a:pt x="108062" y="260238"/>
                  <a:pt x="108062" y="260238"/>
                </a:cubicBezTo>
                <a:cubicBezTo>
                  <a:pt x="122470" y="260238"/>
                  <a:pt x="129675" y="274696"/>
                  <a:pt x="129675" y="289154"/>
                </a:cubicBezTo>
                <a:cubicBezTo>
                  <a:pt x="129675" y="368671"/>
                  <a:pt x="129675" y="368671"/>
                  <a:pt x="129675" y="368671"/>
                </a:cubicBezTo>
                <a:cubicBezTo>
                  <a:pt x="129675" y="383129"/>
                  <a:pt x="122470" y="397586"/>
                  <a:pt x="108062" y="397586"/>
                </a:cubicBezTo>
                <a:cubicBezTo>
                  <a:pt x="21613" y="397586"/>
                  <a:pt x="21613" y="397586"/>
                  <a:pt x="21613" y="397586"/>
                </a:cubicBezTo>
                <a:cubicBezTo>
                  <a:pt x="7205" y="397586"/>
                  <a:pt x="0" y="383129"/>
                  <a:pt x="0" y="368671"/>
                </a:cubicBezTo>
                <a:cubicBezTo>
                  <a:pt x="0" y="289154"/>
                  <a:pt x="0" y="289154"/>
                  <a:pt x="0" y="289154"/>
                </a:cubicBezTo>
                <a:cubicBezTo>
                  <a:pt x="0" y="274696"/>
                  <a:pt x="7205" y="260238"/>
                  <a:pt x="21613" y="260238"/>
                </a:cubicBezTo>
                <a:cubicBezTo>
                  <a:pt x="50429" y="260238"/>
                  <a:pt x="50429" y="260238"/>
                  <a:pt x="50429" y="260238"/>
                </a:cubicBezTo>
                <a:cubicBezTo>
                  <a:pt x="50429" y="216865"/>
                  <a:pt x="50429" y="216865"/>
                  <a:pt x="50429" y="216865"/>
                </a:cubicBezTo>
                <a:cubicBezTo>
                  <a:pt x="50429" y="195179"/>
                  <a:pt x="64837" y="180721"/>
                  <a:pt x="79245" y="180721"/>
                </a:cubicBezTo>
                <a:cubicBezTo>
                  <a:pt x="208920" y="180721"/>
                  <a:pt x="208920" y="180721"/>
                  <a:pt x="208920" y="180721"/>
                </a:cubicBezTo>
                <a:cubicBezTo>
                  <a:pt x="208920" y="130119"/>
                  <a:pt x="208920" y="130119"/>
                  <a:pt x="208920" y="130119"/>
                </a:cubicBezTo>
                <a:cubicBezTo>
                  <a:pt x="187307" y="130119"/>
                  <a:pt x="187307" y="130119"/>
                  <a:pt x="187307" y="130119"/>
                </a:cubicBezTo>
                <a:cubicBezTo>
                  <a:pt x="172899" y="130119"/>
                  <a:pt x="165694" y="122890"/>
                  <a:pt x="165694" y="108433"/>
                </a:cubicBezTo>
                <a:cubicBezTo>
                  <a:pt x="165694" y="21687"/>
                  <a:pt x="165694" y="21687"/>
                  <a:pt x="165694" y="21687"/>
                </a:cubicBezTo>
                <a:cubicBezTo>
                  <a:pt x="165694" y="7229"/>
                  <a:pt x="172899" y="0"/>
                  <a:pt x="187307" y="0"/>
                </a:cubicBezTo>
                <a:cubicBezTo>
                  <a:pt x="266553" y="0"/>
                  <a:pt x="266553" y="0"/>
                  <a:pt x="266553" y="0"/>
                </a:cubicBezTo>
                <a:cubicBezTo>
                  <a:pt x="280961" y="0"/>
                  <a:pt x="295369" y="7229"/>
                  <a:pt x="295369" y="21687"/>
                </a:cubicBezTo>
                <a:cubicBezTo>
                  <a:pt x="295369" y="108433"/>
                  <a:pt x="295369" y="108433"/>
                  <a:pt x="295369" y="108433"/>
                </a:cubicBezTo>
                <a:cubicBezTo>
                  <a:pt x="295369" y="122890"/>
                  <a:pt x="280961" y="130119"/>
                  <a:pt x="266553" y="130119"/>
                </a:cubicBezTo>
                <a:cubicBezTo>
                  <a:pt x="244940" y="130119"/>
                  <a:pt x="244940" y="130119"/>
                  <a:pt x="244940" y="130119"/>
                </a:cubicBezTo>
                <a:cubicBezTo>
                  <a:pt x="244940" y="180721"/>
                  <a:pt x="244940" y="180721"/>
                  <a:pt x="244940" y="180721"/>
                </a:cubicBezTo>
                <a:cubicBezTo>
                  <a:pt x="374614" y="180721"/>
                  <a:pt x="374614" y="180721"/>
                  <a:pt x="374614" y="180721"/>
                </a:cubicBezTo>
                <a:cubicBezTo>
                  <a:pt x="396227" y="180721"/>
                  <a:pt x="410635" y="195179"/>
                  <a:pt x="410635" y="216865"/>
                </a:cubicBezTo>
                <a:cubicBezTo>
                  <a:pt x="410635" y="260238"/>
                  <a:pt x="410635" y="260238"/>
                  <a:pt x="410635" y="260238"/>
                </a:cubicBezTo>
                <a:cubicBezTo>
                  <a:pt x="432247" y="260238"/>
                  <a:pt x="432247" y="260238"/>
                  <a:pt x="432247" y="260238"/>
                </a:cubicBezTo>
                <a:cubicBezTo>
                  <a:pt x="446655" y="260238"/>
                  <a:pt x="461065" y="274696"/>
                  <a:pt x="461065" y="289154"/>
                </a:cubicBezTo>
                <a:lnTo>
                  <a:pt x="461065" y="368671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18" id="18"/>
          <p:cNvSpPr/>
          <p:nvPr/>
        </p:nvSpPr>
        <p:spPr>
          <a:xfrm rot="0" flipH="false" flipV="false">
            <a:off x="3022600" y="6273800"/>
            <a:ext cx="461065" cy="504500"/>
          </a:xfrm>
          <a:custGeom>
            <a:avLst/>
            <a:gdLst/>
            <a:ahLst/>
            <a:cxnLst/>
            <a:rect r="r" b="b" t="t" l="l"/>
            <a:pathLst>
              <a:path h="504500" w="461065">
                <a:moveTo>
                  <a:pt x="353002" y="302699"/>
                </a:moveTo>
                <a:cubicBezTo>
                  <a:pt x="403431" y="475671"/>
                  <a:pt x="230532" y="504500"/>
                  <a:pt x="237736" y="418014"/>
                </a:cubicBezTo>
                <a:cubicBezTo>
                  <a:pt x="237736" y="418014"/>
                  <a:pt x="237736" y="367565"/>
                  <a:pt x="237736" y="331528"/>
                </a:cubicBezTo>
                <a:cubicBezTo>
                  <a:pt x="230532" y="331528"/>
                  <a:pt x="230532" y="331528"/>
                  <a:pt x="223328" y="324321"/>
                </a:cubicBezTo>
                <a:cubicBezTo>
                  <a:pt x="223328" y="367565"/>
                  <a:pt x="223328" y="418014"/>
                  <a:pt x="223328" y="418014"/>
                </a:cubicBezTo>
                <a:cubicBezTo>
                  <a:pt x="223328" y="504500"/>
                  <a:pt x="50429" y="475671"/>
                  <a:pt x="100858" y="302699"/>
                </a:cubicBezTo>
                <a:cubicBezTo>
                  <a:pt x="50429" y="281079"/>
                  <a:pt x="21613" y="259457"/>
                  <a:pt x="7205" y="237835"/>
                </a:cubicBezTo>
                <a:cubicBezTo>
                  <a:pt x="0" y="223421"/>
                  <a:pt x="7205" y="209008"/>
                  <a:pt x="21613" y="223421"/>
                </a:cubicBezTo>
                <a:cubicBezTo>
                  <a:pt x="21613" y="223421"/>
                  <a:pt x="21613" y="223421"/>
                  <a:pt x="28816" y="223421"/>
                </a:cubicBezTo>
                <a:cubicBezTo>
                  <a:pt x="28816" y="50449"/>
                  <a:pt x="28816" y="50449"/>
                  <a:pt x="28816" y="50449"/>
                </a:cubicBezTo>
                <a:cubicBezTo>
                  <a:pt x="28816" y="21622"/>
                  <a:pt x="43224" y="0"/>
                  <a:pt x="64837" y="0"/>
                </a:cubicBezTo>
                <a:cubicBezTo>
                  <a:pt x="389023" y="0"/>
                  <a:pt x="389023" y="0"/>
                  <a:pt x="389023" y="0"/>
                </a:cubicBezTo>
                <a:cubicBezTo>
                  <a:pt x="410635" y="0"/>
                  <a:pt x="432247" y="21622"/>
                  <a:pt x="432247" y="50449"/>
                </a:cubicBezTo>
                <a:cubicBezTo>
                  <a:pt x="432247" y="223421"/>
                  <a:pt x="432247" y="223421"/>
                  <a:pt x="432247" y="223421"/>
                </a:cubicBezTo>
                <a:cubicBezTo>
                  <a:pt x="432247" y="223421"/>
                  <a:pt x="432247" y="223421"/>
                  <a:pt x="439452" y="223421"/>
                </a:cubicBezTo>
                <a:cubicBezTo>
                  <a:pt x="453860" y="209008"/>
                  <a:pt x="461065" y="223421"/>
                  <a:pt x="453860" y="237835"/>
                </a:cubicBezTo>
                <a:cubicBezTo>
                  <a:pt x="432247" y="259457"/>
                  <a:pt x="403431" y="281079"/>
                  <a:pt x="353002" y="302699"/>
                </a:cubicBezTo>
                <a:close/>
                <a:moveTo>
                  <a:pt x="410635" y="64864"/>
                </a:moveTo>
                <a:cubicBezTo>
                  <a:pt x="410635" y="36036"/>
                  <a:pt x="403431" y="28829"/>
                  <a:pt x="374614" y="28829"/>
                </a:cubicBezTo>
                <a:cubicBezTo>
                  <a:pt x="86449" y="28829"/>
                  <a:pt x="86449" y="28829"/>
                  <a:pt x="86449" y="28829"/>
                </a:cubicBezTo>
                <a:cubicBezTo>
                  <a:pt x="57633" y="28829"/>
                  <a:pt x="50429" y="36036"/>
                  <a:pt x="50429" y="64864"/>
                </a:cubicBezTo>
                <a:cubicBezTo>
                  <a:pt x="50429" y="237835"/>
                  <a:pt x="50429" y="237835"/>
                  <a:pt x="50429" y="237835"/>
                </a:cubicBezTo>
                <a:cubicBezTo>
                  <a:pt x="108062" y="273872"/>
                  <a:pt x="165694" y="266664"/>
                  <a:pt x="194512" y="266664"/>
                </a:cubicBezTo>
                <a:cubicBezTo>
                  <a:pt x="201715" y="266664"/>
                  <a:pt x="208920" y="266664"/>
                  <a:pt x="216124" y="273872"/>
                </a:cubicBezTo>
                <a:cubicBezTo>
                  <a:pt x="216124" y="273872"/>
                  <a:pt x="216124" y="273872"/>
                  <a:pt x="216124" y="273872"/>
                </a:cubicBezTo>
                <a:cubicBezTo>
                  <a:pt x="223328" y="281079"/>
                  <a:pt x="230532" y="281079"/>
                  <a:pt x="237736" y="288286"/>
                </a:cubicBezTo>
                <a:cubicBezTo>
                  <a:pt x="237736" y="273872"/>
                  <a:pt x="244940" y="266664"/>
                  <a:pt x="266553" y="266664"/>
                </a:cubicBezTo>
                <a:cubicBezTo>
                  <a:pt x="295369" y="266664"/>
                  <a:pt x="345798" y="273872"/>
                  <a:pt x="410635" y="237835"/>
                </a:cubicBezTo>
                <a:lnTo>
                  <a:pt x="410635" y="64864"/>
                </a:lnTo>
                <a:close/>
                <a:moveTo>
                  <a:pt x="165694" y="245043"/>
                </a:moveTo>
                <a:cubicBezTo>
                  <a:pt x="136878" y="245043"/>
                  <a:pt x="115266" y="223421"/>
                  <a:pt x="115266" y="194593"/>
                </a:cubicBezTo>
                <a:cubicBezTo>
                  <a:pt x="115266" y="165764"/>
                  <a:pt x="136878" y="144142"/>
                  <a:pt x="165694" y="144142"/>
                </a:cubicBezTo>
                <a:cubicBezTo>
                  <a:pt x="194512" y="144142"/>
                  <a:pt x="223328" y="165764"/>
                  <a:pt x="223328" y="194593"/>
                </a:cubicBezTo>
                <a:cubicBezTo>
                  <a:pt x="223328" y="223421"/>
                  <a:pt x="194512" y="245043"/>
                  <a:pt x="165694" y="245043"/>
                </a:cubicBezTo>
                <a:close/>
                <a:moveTo>
                  <a:pt x="295369" y="245043"/>
                </a:moveTo>
                <a:cubicBezTo>
                  <a:pt x="266553" y="245043"/>
                  <a:pt x="237736" y="223421"/>
                  <a:pt x="237736" y="194593"/>
                </a:cubicBezTo>
                <a:cubicBezTo>
                  <a:pt x="237736" y="165764"/>
                  <a:pt x="266553" y="144142"/>
                  <a:pt x="295369" y="144142"/>
                </a:cubicBezTo>
                <a:cubicBezTo>
                  <a:pt x="324185" y="144142"/>
                  <a:pt x="353002" y="165764"/>
                  <a:pt x="353002" y="194593"/>
                </a:cubicBezTo>
                <a:cubicBezTo>
                  <a:pt x="353002" y="223421"/>
                  <a:pt x="324185" y="245043"/>
                  <a:pt x="295369" y="245043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19" id="19"/>
          <p:cNvSpPr/>
          <p:nvPr/>
        </p:nvSpPr>
        <p:spPr>
          <a:xfrm rot="0" flipH="false" flipV="false">
            <a:off x="8750300" y="4533900"/>
            <a:ext cx="417633" cy="420973"/>
          </a:xfrm>
          <a:custGeom>
            <a:avLst/>
            <a:gdLst/>
            <a:ahLst/>
            <a:cxnLst/>
            <a:rect r="r" b="b" t="t" l="l"/>
            <a:pathLst>
              <a:path h="420973" w="417633">
                <a:moveTo>
                  <a:pt x="79206" y="413715"/>
                </a:moveTo>
                <a:cubicBezTo>
                  <a:pt x="72005" y="420973"/>
                  <a:pt x="64806" y="420973"/>
                  <a:pt x="57605" y="420973"/>
                </a:cubicBezTo>
                <a:cubicBezTo>
                  <a:pt x="50404" y="420973"/>
                  <a:pt x="43203" y="420973"/>
                  <a:pt x="36003" y="413715"/>
                </a:cubicBezTo>
                <a:cubicBezTo>
                  <a:pt x="7201" y="384682"/>
                  <a:pt x="7201" y="384682"/>
                  <a:pt x="7201" y="384682"/>
                </a:cubicBezTo>
                <a:cubicBezTo>
                  <a:pt x="0" y="377424"/>
                  <a:pt x="0" y="370166"/>
                  <a:pt x="0" y="362908"/>
                </a:cubicBezTo>
                <a:cubicBezTo>
                  <a:pt x="0" y="355650"/>
                  <a:pt x="0" y="341133"/>
                  <a:pt x="7201" y="341133"/>
                </a:cubicBezTo>
                <a:cubicBezTo>
                  <a:pt x="180014" y="159680"/>
                  <a:pt x="180014" y="159680"/>
                  <a:pt x="180014" y="159680"/>
                </a:cubicBezTo>
                <a:cubicBezTo>
                  <a:pt x="194415" y="195970"/>
                  <a:pt x="223218" y="225003"/>
                  <a:pt x="252020" y="239519"/>
                </a:cubicBezTo>
                <a:lnTo>
                  <a:pt x="79206" y="413715"/>
                </a:lnTo>
                <a:close/>
                <a:moveTo>
                  <a:pt x="72005" y="326617"/>
                </a:moveTo>
                <a:cubicBezTo>
                  <a:pt x="64806" y="326617"/>
                  <a:pt x="57605" y="333875"/>
                  <a:pt x="57605" y="348391"/>
                </a:cubicBezTo>
                <a:cubicBezTo>
                  <a:pt x="57605" y="355650"/>
                  <a:pt x="64806" y="362908"/>
                  <a:pt x="72005" y="362908"/>
                </a:cubicBezTo>
                <a:cubicBezTo>
                  <a:pt x="79206" y="362908"/>
                  <a:pt x="86407" y="355650"/>
                  <a:pt x="86407" y="348391"/>
                </a:cubicBezTo>
                <a:cubicBezTo>
                  <a:pt x="86407" y="333875"/>
                  <a:pt x="79206" y="326617"/>
                  <a:pt x="72005" y="326617"/>
                </a:cubicBezTo>
                <a:close/>
                <a:moveTo>
                  <a:pt x="410432" y="152422"/>
                </a:moveTo>
                <a:cubicBezTo>
                  <a:pt x="396032" y="195970"/>
                  <a:pt x="352828" y="232261"/>
                  <a:pt x="302424" y="232261"/>
                </a:cubicBezTo>
                <a:cubicBezTo>
                  <a:pt x="237618" y="232261"/>
                  <a:pt x="187215" y="174196"/>
                  <a:pt x="187215" y="116130"/>
                </a:cubicBezTo>
                <a:cubicBezTo>
                  <a:pt x="187215" y="50808"/>
                  <a:pt x="237618" y="0"/>
                  <a:pt x="302424" y="0"/>
                </a:cubicBezTo>
                <a:cubicBezTo>
                  <a:pt x="324025" y="0"/>
                  <a:pt x="345627" y="0"/>
                  <a:pt x="360028" y="14516"/>
                </a:cubicBezTo>
                <a:cubicBezTo>
                  <a:pt x="367229" y="14516"/>
                  <a:pt x="367229" y="14516"/>
                  <a:pt x="367229" y="21774"/>
                </a:cubicBezTo>
                <a:cubicBezTo>
                  <a:pt x="367229" y="21774"/>
                  <a:pt x="367229" y="29032"/>
                  <a:pt x="360028" y="29032"/>
                </a:cubicBezTo>
                <a:cubicBezTo>
                  <a:pt x="288023" y="72582"/>
                  <a:pt x="288023" y="72582"/>
                  <a:pt x="288023" y="72582"/>
                </a:cubicBezTo>
                <a:cubicBezTo>
                  <a:pt x="288023" y="130646"/>
                  <a:pt x="288023" y="130646"/>
                  <a:pt x="288023" y="130646"/>
                </a:cubicBezTo>
                <a:cubicBezTo>
                  <a:pt x="338427" y="159680"/>
                  <a:pt x="338427" y="159680"/>
                  <a:pt x="338427" y="159680"/>
                </a:cubicBezTo>
                <a:cubicBezTo>
                  <a:pt x="345627" y="152422"/>
                  <a:pt x="403231" y="116130"/>
                  <a:pt x="410432" y="116130"/>
                </a:cubicBezTo>
                <a:cubicBezTo>
                  <a:pt x="417633" y="116130"/>
                  <a:pt x="417633" y="116130"/>
                  <a:pt x="417633" y="123388"/>
                </a:cubicBezTo>
                <a:cubicBezTo>
                  <a:pt x="417633" y="130646"/>
                  <a:pt x="417633" y="145164"/>
                  <a:pt x="410432" y="152422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1244600" y="5181600"/>
            <a:ext cx="1765300" cy="762000"/>
          </a:xfrm>
          <a:prstGeom prst="rect">
            <a:avLst/>
          </a:prstGeom>
          <a:noFill/>
          <a:ln w="13382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r" marL="0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聚焦智能交通领域基础环节，选定“交通信息采集系统”作为核心研究方向，挖掘其技术演进与应用价值。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977900" y="4902200"/>
            <a:ext cx="2032000" cy="279400"/>
          </a:xfrm>
          <a:prstGeom prst="rect">
            <a:avLst/>
          </a:prstGeom>
          <a:noFill/>
          <a:ln w="13382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r" marL="0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004358"/>
                </a:solidFill>
                <a:latin typeface="Noto Sans SC"/>
                <a:ea typeface="Noto Sans SC"/>
                <a:cs typeface="Noto Sans SC"/>
                <a:sym typeface="Noto Sans SC"/>
              </a:rPr>
              <a:t>02 / 研究方向定位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1752600" y="3632200"/>
            <a:ext cx="1790700" cy="762000"/>
          </a:xfrm>
          <a:prstGeom prst="rect">
            <a:avLst/>
          </a:prstGeom>
          <a:noFill/>
          <a:ln w="13382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r" marL="0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本项目源自课程小组作业要求，以学术研究实践为出发点，通过团队协作完成完整的科研探索流程。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1511300" y="3352800"/>
            <a:ext cx="2032000" cy="279400"/>
          </a:xfrm>
          <a:prstGeom prst="rect">
            <a:avLst/>
          </a:prstGeom>
          <a:noFill/>
          <a:ln w="13382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r" marL="0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004358"/>
                </a:solidFill>
                <a:latin typeface="Noto Sans SC"/>
                <a:ea typeface="Noto Sans SC"/>
                <a:cs typeface="Noto Sans SC"/>
                <a:sym typeface="Noto Sans SC"/>
              </a:rPr>
              <a:t>01 / 课程作业缘起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5499100" y="2209800"/>
            <a:ext cx="3302000" cy="889000"/>
          </a:xfrm>
          <a:prstGeom prst="rect">
            <a:avLst/>
          </a:prstGeom>
          <a:noFill/>
          <a:ln w="13382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just" marL="0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不仅完成研究报告，更掌握从文献检索、数据分析到结果呈现的全流程，核心致力于实现研究方法与结果的可复现性，夯实学术研究基础。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5499100" y="1930400"/>
            <a:ext cx="2540000" cy="279400"/>
          </a:xfrm>
          <a:prstGeom prst="rect">
            <a:avLst/>
          </a:prstGeom>
          <a:noFill/>
          <a:ln w="13382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004358"/>
                </a:solidFill>
                <a:latin typeface="Noto Sans SC"/>
                <a:ea typeface="Noto Sans SC"/>
                <a:cs typeface="Noto Sans SC"/>
                <a:sym typeface="Noto Sans SC"/>
              </a:rPr>
              <a:t>03 / 核心研究目标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8890000" y="3327400"/>
            <a:ext cx="2413000" cy="762000"/>
          </a:xfrm>
          <a:prstGeom prst="rect">
            <a:avLst/>
          </a:prstGeom>
          <a:noFill/>
          <a:ln w="13382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采用文献计量学方法，对该领域海量学术文献进行量化分析，挖掘研究热点、演进脉络及核心作者与机构的合作关系。</a:t>
            </a:r>
            <a:endParaRPr lang="en-US" sz="1100"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8890000" y="3048000"/>
            <a:ext cx="2286000" cy="279400"/>
          </a:xfrm>
          <a:prstGeom prst="rect">
            <a:avLst/>
          </a:prstGeom>
          <a:noFill/>
          <a:ln w="13382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004358"/>
                </a:solidFill>
                <a:latin typeface="Noto Sans SC"/>
                <a:ea typeface="Noto Sans SC"/>
                <a:cs typeface="Noto Sans SC"/>
                <a:sym typeface="Noto Sans SC"/>
              </a:rPr>
              <a:t>04 / 文献计量学方法</a:t>
            </a:r>
            <a:endParaRPr lang="en-US" sz="1100"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9880600" y="5257800"/>
            <a:ext cx="2159000" cy="762000"/>
          </a:xfrm>
          <a:prstGeom prst="rect">
            <a:avLst/>
          </a:prstGeom>
          <a:noFill/>
          <a:ln w="13382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将研究过程、代码与分析成果整理归档，构建开源的文献计量学项目仓库，为后续研究者提供可复用的资源与参考。</a:t>
            </a:r>
            <a:endParaRPr lang="en-US" sz="1100"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9880600" y="4991100"/>
            <a:ext cx="2286000" cy="279400"/>
          </a:xfrm>
          <a:prstGeom prst="rect">
            <a:avLst/>
          </a:prstGeom>
          <a:noFill/>
          <a:ln w="13382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004358"/>
                </a:solidFill>
                <a:latin typeface="Noto Sans SC"/>
                <a:ea typeface="Noto Sans SC"/>
                <a:cs typeface="Noto Sans SC"/>
                <a:sym typeface="Noto Sans SC"/>
              </a:rPr>
              <a:t>05 / 开源项目产出</a:t>
            </a:r>
            <a:endParaRPr lang="en-US" sz="1100"/>
          </a:p>
        </p:txBody>
      </p:sp>
      <p:sp>
        <p:nvSpPr>
          <p:cNvPr name="AutoShape 30" id="30"/>
          <p:cNvSpPr/>
          <p:nvPr/>
        </p:nvSpPr>
        <p:spPr>
          <a:xfrm rot="0" flipH="false" flipV="false">
            <a:off x="863600" y="228600"/>
            <a:ext cx="6350000" cy="571500"/>
          </a:xfrm>
          <a:prstGeom prst="rect">
            <a:avLst/>
          </a:prstGeom>
          <a:noFill/>
          <a:ln w="13382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3200">
                <a:solidFill>
                  <a:srgbClr val="004358"/>
                </a:solidFill>
                <a:latin typeface="微软雅黑"/>
                <a:ea typeface="微软雅黑"/>
                <a:cs typeface="微软雅黑"/>
                <a:sym typeface="微软雅黑"/>
              </a:rPr>
              <a:t>项目背景与研究目标</a:t>
            </a:r>
            <a:endParaRPr lang="en-US" sz="1100"/>
          </a:p>
        </p:txBody>
      </p:sp>
      <p:sp>
        <p:nvSpPr>
          <p:cNvPr name="AutoShape 31" id="31"/>
          <p:cNvSpPr/>
          <p:nvPr/>
        </p:nvSpPr>
        <p:spPr>
          <a:xfrm rot="0" flipH="false" flipV="false">
            <a:off x="863600" y="825500"/>
            <a:ext cx="5715000" cy="317500"/>
          </a:xfrm>
          <a:prstGeom prst="rect">
            <a:avLst/>
          </a:prstGeom>
          <a:noFill/>
          <a:ln w="13382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646464"/>
                </a:solidFill>
                <a:latin typeface="Arial"/>
                <a:ea typeface="Arial"/>
                <a:cs typeface="Arial"/>
                <a:sym typeface="Arial"/>
              </a:rPr>
              <a:t>TRAFFIC INFORMATION COLLECTION SYSTEM BIBLIOMETRICS RESEARCH</a:t>
            </a:r>
            <a:endParaRPr lang="en-US" sz="1100"/>
          </a:p>
        </p:txBody>
      </p:sp>
      <p:pic>
        <p:nvPicPr>
          <p:cNvPr name="Picture 32" id="3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11772900" y="6197600"/>
            <a:ext cx="1104900" cy="1016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5308600" y="1943100"/>
            <a:ext cx="1981200" cy="1981200"/>
          </a:xfrm>
          <a:prstGeom prst="ellipse">
            <a:avLst/>
          </a:prstGeom>
          <a:solidFill>
            <a:srgbClr val="004358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5575300" y="2730500"/>
            <a:ext cx="1447800" cy="736600"/>
          </a:xfrm>
          <a:prstGeom prst="rect">
            <a:avLst/>
          </a:prstGeom>
          <a:noFill/>
          <a:ln w="13382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just" marL="0" indent="0">
              <a:lnSpc>
                <a:spcPct val="125000"/>
              </a:lnSpc>
              <a:spcBef>
                <a:spcPts val="750"/>
              </a:spcBef>
              <a:defRPr/>
            </a:pPr>
            <a:r>
              <a:rPr lang="en-US" b="false" i="false" strike="noStrike" u="none" sz="11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负责核心的计量分析算法实现，通过数据建模挖掘关键规律，并完成研究成果的可视化图表呈现，直观展示数据价值。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5575300" y="2514600"/>
            <a:ext cx="1447800" cy="241300"/>
          </a:xfrm>
          <a:prstGeom prst="rect">
            <a:avLst/>
          </a:prstGeom>
          <a:noFill/>
          <a:ln w="13382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ctr" marL="0" indent="0">
              <a:lnSpc>
                <a:spcPct val="100000"/>
              </a:lnSpc>
              <a:spcBef>
                <a:spcPts val="750"/>
              </a:spcBef>
              <a:defRPr/>
            </a:pPr>
            <a:r>
              <a:rPr lang="en-US" b="true" i="false" strike="noStrike" u="none" sz="13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柏航 · 技术核心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10800000" flipH="false" flipV="true">
            <a:off x="5410200" y="4051300"/>
            <a:ext cx="571500" cy="571500"/>
          </a:xfrm>
          <a:prstGeom prst="ellipse">
            <a:avLst/>
          </a:prstGeom>
          <a:solidFill>
            <a:srgbClr val="004358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50800" bIns="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2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4826000" y="2044700"/>
            <a:ext cx="723900" cy="723900"/>
          </a:xfrm>
          <a:prstGeom prst="ellipse">
            <a:avLst/>
          </a:prstGeom>
          <a:solidFill>
            <a:srgbClr val="18B29D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2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988300" y="1612900"/>
            <a:ext cx="596900" cy="596900"/>
          </a:xfrm>
          <a:prstGeom prst="ellipse">
            <a:avLst/>
          </a:prstGeom>
          <a:solidFill>
            <a:srgbClr val="004358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1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7327900" y="2794000"/>
            <a:ext cx="1397000" cy="1397000"/>
          </a:xfrm>
          <a:prstGeom prst="ellipse">
            <a:avLst/>
          </a:prstGeom>
          <a:solidFill>
            <a:srgbClr val="18B29D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101600" rIns="101600" tIns="50800" bIns="5080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2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2026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5918200" y="4254500"/>
            <a:ext cx="1524000" cy="1524000"/>
          </a:xfrm>
          <a:prstGeom prst="ellipse">
            <a:avLst/>
          </a:prstGeom>
          <a:solidFill>
            <a:srgbClr val="004358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10800000" flipH="false" flipV="true">
            <a:off x="6985000" y="5321300"/>
            <a:ext cx="685800" cy="685800"/>
          </a:xfrm>
          <a:prstGeom prst="ellipse">
            <a:avLst/>
          </a:prstGeom>
          <a:solidFill>
            <a:srgbClr val="004358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8648700" y="1790700"/>
            <a:ext cx="1663700" cy="1663700"/>
          </a:xfrm>
          <a:prstGeom prst="ellipse">
            <a:avLst/>
          </a:prstGeom>
          <a:solidFill>
            <a:srgbClr val="FFFFFF">
              <a:alpha val="100000"/>
            </a:srgbClr>
          </a:solidFill>
          <a:ln w="25400" cmpd="sng" cap="flat">
            <a:solidFill>
              <a:srgbClr val="18B29D">
                <a:alpha val="100000"/>
              </a:srgbClr>
            </a:solidFill>
            <a:prstDash val="solid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7950200" y="4140200"/>
            <a:ext cx="1981200" cy="1981200"/>
          </a:xfrm>
          <a:prstGeom prst="ellipse">
            <a:avLst/>
          </a:prstGeom>
          <a:solidFill>
            <a:srgbClr val="18B29D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8204200" y="4902200"/>
            <a:ext cx="1460500" cy="736600"/>
          </a:xfrm>
          <a:prstGeom prst="rect">
            <a:avLst/>
          </a:prstGeom>
          <a:noFill/>
          <a:ln w="13382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just" marL="0" indent="0">
              <a:lnSpc>
                <a:spcPct val="125000"/>
              </a:lnSpc>
              <a:spcBef>
                <a:spcPts val="750"/>
              </a:spcBef>
              <a:defRPr/>
            </a:pPr>
            <a:r>
              <a:rPr lang="en-US" b="false" i="false" strike="noStrike" u="none" sz="11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负责将研究过程、分析结果及核心结论整理撰写为规范报告，确保内容逻辑清晰、数据详实，完成成果的最终沉淀。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8204200" y="4686300"/>
            <a:ext cx="1447800" cy="190500"/>
          </a:xfrm>
          <a:prstGeom prst="rect">
            <a:avLst/>
          </a:prstGeom>
          <a:noFill/>
          <a:ln w="13382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ctr" marL="0" indent="0">
              <a:lnSpc>
                <a:spcPct val="100000"/>
              </a:lnSpc>
              <a:spcBef>
                <a:spcPts val="750"/>
              </a:spcBef>
              <a:defRPr/>
            </a:pPr>
            <a:r>
              <a:rPr lang="en-US" b="false" i="false" strike="noStrike" u="none" sz="13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邱果林 · 报告撰写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6083300" y="4711700"/>
            <a:ext cx="1193800" cy="558800"/>
          </a:xfrm>
          <a:prstGeom prst="rect">
            <a:avLst/>
          </a:prstGeom>
          <a:noFill/>
          <a:ln w="13382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just" marL="0" indent="0">
              <a:lnSpc>
                <a:spcPct val="125000"/>
              </a:lnSpc>
              <a:spcBef>
                <a:spcPts val="750"/>
              </a:spcBef>
              <a:defRPr/>
            </a:pPr>
            <a:r>
              <a:rPr lang="en-US" b="false" i="false" strike="noStrike" u="none" sz="11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专注开源项目二次开发，优化功能模块，完成代码部署与文档整理，实现项目成果的开源共享与技术落地。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8890000" y="2197100"/>
            <a:ext cx="1257300" cy="927100"/>
          </a:xfrm>
          <a:prstGeom prst="rect">
            <a:avLst/>
          </a:prstGeom>
          <a:noFill/>
          <a:ln w="13382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just" marL="0" indent="0">
              <a:lnSpc>
                <a:spcPct val="125000"/>
              </a:lnSpc>
              <a:spcBef>
                <a:spcPts val="750"/>
              </a:spcBef>
              <a:defRPr/>
            </a:pPr>
            <a:r>
              <a:rPr lang="en-US" b="false" i="false" strike="noStrike" u="none" sz="1100">
                <a:solidFill>
                  <a:srgbClr val="18B29D"/>
                </a:solidFill>
                <a:latin typeface="微软雅黑"/>
                <a:ea typeface="微软雅黑"/>
                <a:cs typeface="微软雅黑"/>
                <a:sym typeface="微软雅黑"/>
              </a:rPr>
              <a:t>统筹项目全流程规划，协调各成员分工与进度，把控项目核心方向，解决协作中的关键问题，保障项目高效推进。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9359900" y="3911600"/>
            <a:ext cx="558800" cy="558800"/>
          </a:xfrm>
          <a:prstGeom prst="ellipse">
            <a:avLst/>
          </a:prstGeom>
          <a:solidFill>
            <a:srgbClr val="18B29D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3771900" y="3683000"/>
            <a:ext cx="1536700" cy="1536700"/>
          </a:xfrm>
          <a:prstGeom prst="ellipse">
            <a:avLst/>
          </a:prstGeom>
          <a:solidFill>
            <a:srgbClr val="18B29D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分工协作 · 高效执行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3670300" y="3467100"/>
            <a:ext cx="596900" cy="596900"/>
          </a:xfrm>
          <a:prstGeom prst="ellipse">
            <a:avLst/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18B29D">
                <a:alpha val="100000"/>
              </a:srgbClr>
            </a:solidFill>
            <a:prstDash val="solid"/>
            <a:miter lim="10000000"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210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10388600" y="3073400"/>
            <a:ext cx="1397000" cy="1397000"/>
          </a:xfrm>
          <a:prstGeom prst="ellipse">
            <a:avLst/>
          </a:prstGeom>
          <a:solidFill>
            <a:srgbClr val="18B29D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专业互补 · 成果共创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10800000" flipH="false" flipV="true">
            <a:off x="11569700" y="4025900"/>
            <a:ext cx="482600" cy="482600"/>
          </a:xfrm>
          <a:prstGeom prst="ellipse">
            <a:avLst/>
          </a:prstGeom>
          <a:solidFill>
            <a:srgbClr val="004358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17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10185400" y="4686300"/>
            <a:ext cx="889000" cy="889000"/>
          </a:xfrm>
          <a:prstGeom prst="ellipse">
            <a:avLst/>
          </a:prstGeom>
          <a:solidFill>
            <a:srgbClr val="FFFFFF">
              <a:alpha val="100000"/>
            </a:srgbClr>
          </a:solidFill>
          <a:ln w="25400" cmpd="sng" cap="flat">
            <a:solidFill>
              <a:srgbClr val="004358">
                <a:alpha val="100000"/>
              </a:srgbClr>
            </a:solidFill>
            <a:prstDash val="solid"/>
            <a:miter lim="10000000"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3000">
                <a:solidFill>
                  <a:srgbClr val="004358"/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850900" y="1879600"/>
            <a:ext cx="2413000" cy="927100"/>
          </a:xfrm>
          <a:prstGeom prst="rect">
            <a:avLst/>
          </a:prstGeom>
          <a:noFill/>
          <a:ln w="13382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just" marL="0" indent="0">
              <a:lnSpc>
                <a:spcPct val="125000"/>
              </a:lnSpc>
              <a:spcBef>
                <a:spcPts val="750"/>
              </a:spcBef>
              <a:defRPr/>
            </a:pPr>
            <a:r>
              <a:rPr lang="en-US" b="false" i="false" strike="noStrike" u="none" sz="1100">
                <a:solidFill>
                  <a:srgbClr val="505050"/>
                </a:solidFill>
                <a:latin typeface="微软雅黑"/>
                <a:ea typeface="微软雅黑"/>
                <a:cs typeface="微软雅黑"/>
                <a:sym typeface="微软雅黑"/>
              </a:rPr>
              <a:t>作为项目组长，统筹整体规划与资源协调，制定项目阶段目标与执行计划，把控项目进度与质量，推动团队高效协作完成研究任务。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838200" y="1574800"/>
            <a:ext cx="1701800" cy="215900"/>
          </a:xfrm>
          <a:prstGeom prst="rect">
            <a:avLst/>
          </a:prstGeom>
          <a:noFill/>
          <a:ln w="13382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just" marL="0" indent="0">
              <a:lnSpc>
                <a:spcPct val="100000"/>
              </a:lnSpc>
              <a:spcBef>
                <a:spcPts val="750"/>
              </a:spcBef>
              <a:defRPr/>
            </a:pPr>
            <a:r>
              <a:rPr lang="en-US" b="true" i="false" strike="noStrike" u="none" sz="1400">
                <a:solidFill>
                  <a:srgbClr val="004358"/>
                </a:solidFill>
                <a:latin typeface="微软雅黑"/>
                <a:ea typeface="微软雅黑"/>
                <a:cs typeface="微软雅黑"/>
                <a:sym typeface="微软雅黑"/>
              </a:rPr>
              <a:t>郑城焌 | 项目统筹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850900" y="3771900"/>
            <a:ext cx="2413000" cy="927100"/>
          </a:xfrm>
          <a:prstGeom prst="rect">
            <a:avLst/>
          </a:prstGeom>
          <a:noFill/>
          <a:ln w="13382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just" marL="0" indent="0">
              <a:lnSpc>
                <a:spcPct val="125000"/>
              </a:lnSpc>
              <a:spcBef>
                <a:spcPts val="750"/>
              </a:spcBef>
              <a:defRPr/>
            </a:pPr>
            <a:r>
              <a:rPr lang="en-US" b="false" i="false" strike="noStrike" u="none" sz="1100">
                <a:solidFill>
                  <a:srgbClr val="505050"/>
                </a:solidFill>
                <a:latin typeface="微软雅黑"/>
                <a:ea typeface="微软雅黑"/>
                <a:cs typeface="微软雅黑"/>
                <a:sym typeface="微软雅黑"/>
              </a:rPr>
              <a:t>负责项目前期文献检索与资料收集，筛选高质量研究文献，完成原始数据的清洗、整理与预处理，为后续分析奠定坚实基础。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838200" y="3467100"/>
            <a:ext cx="1701800" cy="215900"/>
          </a:xfrm>
          <a:prstGeom prst="rect">
            <a:avLst/>
          </a:prstGeom>
          <a:noFill/>
          <a:ln w="13382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just" marL="0" indent="0">
              <a:lnSpc>
                <a:spcPct val="100000"/>
              </a:lnSpc>
              <a:spcBef>
                <a:spcPts val="750"/>
              </a:spcBef>
              <a:defRPr/>
            </a:pPr>
            <a:r>
              <a:rPr lang="en-US" b="true" i="false" strike="noStrike" u="none" sz="1400">
                <a:solidFill>
                  <a:srgbClr val="004358"/>
                </a:solidFill>
                <a:latin typeface="微软雅黑"/>
                <a:ea typeface="微软雅黑"/>
                <a:cs typeface="微软雅黑"/>
                <a:sym typeface="微软雅黑"/>
              </a:rPr>
              <a:t>尹佳乐 | 文献与数据</a:t>
            </a:r>
            <a:endParaRPr lang="en-US" sz="1100"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850900" y="5422900"/>
            <a:ext cx="2413000" cy="927100"/>
          </a:xfrm>
          <a:prstGeom prst="rect">
            <a:avLst/>
          </a:prstGeom>
          <a:noFill/>
          <a:ln w="13382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just" marL="0" indent="0">
              <a:lnSpc>
                <a:spcPct val="125000"/>
              </a:lnSpc>
              <a:spcBef>
                <a:spcPts val="750"/>
              </a:spcBef>
              <a:defRPr/>
            </a:pPr>
            <a:r>
              <a:rPr lang="en-US" b="false" i="false" strike="noStrike" u="none" sz="1100">
                <a:solidFill>
                  <a:srgbClr val="505050"/>
                </a:solidFill>
                <a:latin typeface="微软雅黑"/>
                <a:ea typeface="微软雅黑"/>
                <a:cs typeface="微软雅黑"/>
                <a:sym typeface="微软雅黑"/>
              </a:rPr>
              <a:t>聚焦开源技术栈，完成项目代码的二次开发与功能迭代，将成果部署至GitHub开源平台，撰写技术文档，实现项目的开源共享与推广。</a:t>
            </a:r>
            <a:endParaRPr lang="en-US" sz="1100"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838200" y="5118100"/>
            <a:ext cx="1701800" cy="215900"/>
          </a:xfrm>
          <a:prstGeom prst="rect">
            <a:avLst/>
          </a:prstGeom>
          <a:noFill/>
          <a:ln w="13382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just" marL="0" indent="0">
              <a:lnSpc>
                <a:spcPct val="100000"/>
              </a:lnSpc>
              <a:spcBef>
                <a:spcPts val="750"/>
              </a:spcBef>
              <a:defRPr/>
            </a:pPr>
            <a:r>
              <a:rPr lang="en-US" b="true" i="false" strike="noStrike" u="none" sz="1400">
                <a:solidFill>
                  <a:srgbClr val="004358"/>
                </a:solidFill>
                <a:latin typeface="微软雅黑"/>
                <a:ea typeface="微软雅黑"/>
                <a:cs typeface="微软雅黑"/>
                <a:sym typeface="微软雅黑"/>
              </a:rPr>
              <a:t>余仁杰 | 开发与部署</a:t>
            </a:r>
            <a:endParaRPr lang="en-US" sz="1100"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863600" y="228600"/>
            <a:ext cx="3949700" cy="495300"/>
          </a:xfrm>
          <a:prstGeom prst="rect">
            <a:avLst/>
          </a:prstGeom>
          <a:noFill/>
          <a:ln w="13382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3200">
                <a:solidFill>
                  <a:srgbClr val="004358"/>
                </a:solidFill>
                <a:latin typeface="Arial"/>
                <a:ea typeface="Arial"/>
                <a:cs typeface="Arial"/>
                <a:sym typeface="Arial"/>
              </a:rPr>
              <a:t>团队成员与分工</a:t>
            </a:r>
            <a:endParaRPr lang="en-US" sz="1100"/>
          </a:p>
        </p:txBody>
      </p:sp>
      <p:sp>
        <p:nvSpPr>
          <p:cNvPr name="AutoShape 30" id="30"/>
          <p:cNvSpPr/>
          <p:nvPr/>
        </p:nvSpPr>
        <p:spPr>
          <a:xfrm rot="0" flipH="false" flipV="false">
            <a:off x="863600" y="749300"/>
            <a:ext cx="4445000" cy="215900"/>
          </a:xfrm>
          <a:prstGeom prst="rect">
            <a:avLst/>
          </a:prstGeom>
          <a:noFill/>
          <a:ln w="13382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787878"/>
                </a:solidFill>
                <a:latin typeface="Arial"/>
                <a:ea typeface="Arial"/>
                <a:cs typeface="Arial"/>
                <a:sym typeface="Arial"/>
              </a:rPr>
              <a:t>TEAM MEMBER DIVISION OF LABOR &amp; COOPERATION</a:t>
            </a:r>
            <a:endParaRPr lang="en-US" sz="1100"/>
          </a:p>
        </p:txBody>
      </p:sp>
      <p:pic>
        <p:nvPicPr>
          <p:cNvPr name="Picture 31" id="31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11772900" y="6197600"/>
            <a:ext cx="1104900" cy="1016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4241800" y="3492500"/>
            <a:ext cx="4381500" cy="965200"/>
          </a:xfrm>
          <a:prstGeom prst="roundRect">
            <a:avLst>
              <a:gd name="adj" fmla="val 50000"/>
            </a:avLst>
          </a:prstGeom>
          <a:solidFill>
            <a:srgbClr val="18B29D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5918200" y="2209800"/>
            <a:ext cx="1016000" cy="1016000"/>
          </a:xfrm>
          <a:prstGeom prst="ellipse">
            <a:avLst/>
          </a:prstGeom>
          <a:solidFill>
            <a:srgbClr val="004358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4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lang="en-US" sz="1100"/>
          </a:p>
        </p:txBody>
      </p:sp>
      <p:sp>
        <p:nvSpPr>
          <p:cNvPr name="Freeform 4" id="4"/>
          <p:cNvSpPr/>
          <p:nvPr/>
        </p:nvSpPr>
        <p:spPr>
          <a:xfrm rot="0" flipH="false" flipV="false">
            <a:off x="4368800" y="3619500"/>
            <a:ext cx="2535812" cy="708143"/>
          </a:xfrm>
          <a:custGeom>
            <a:avLst/>
            <a:gdLst/>
            <a:ahLst/>
            <a:cxnLst/>
            <a:rect r="r" b="b" t="t" l="l"/>
            <a:pathLst>
              <a:path h="708143" w="2535812">
                <a:moveTo>
                  <a:pt x="0" y="708143"/>
                </a:moveTo>
                <a:lnTo>
                  <a:pt x="2535812" y="708143"/>
                </a:lnTo>
                <a:lnTo>
                  <a:pt x="0" y="708143"/>
                </a:lnTo>
                <a:close/>
                <a:moveTo>
                  <a:pt x="0" y="0"/>
                </a:moveTo>
                <a:lnTo>
                  <a:pt x="922" y="0"/>
                </a:lnTo>
                <a:lnTo>
                  <a:pt x="0" y="0"/>
                </a:lnTo>
                <a:close/>
              </a:path>
            </a:pathLst>
          </a:cu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32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研究方法</a:t>
            </a:r>
            <a:r>
              <a:rPr lang="en-US" b="false" i="false" strike="noStrike" u="none" sz="1400">
                <a:solidFill>
                  <a:srgbClr val="FFFFFF">
                    <a:alpha val="8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RESEARCH METHODOLOGY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4508500" y="4648200"/>
            <a:ext cx="1905000" cy="508000"/>
          </a:xfrm>
          <a:prstGeom prst="rect">
            <a:avLst/>
          </a:prstGeom>
          <a:noFill/>
          <a:ln w="13382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lvl="1" indent="-177800" marL="533400">
              <a:lnSpc>
                <a:spcPct val="100000"/>
              </a:lnSpc>
              <a:buClr>
                <a:srgbClr val="505050"/>
              </a:buClr>
              <a:buFont typeface="Arial"/>
              <a:buChar char="•"/>
              <a:defRPr/>
            </a:pPr>
            <a:r>
              <a:rPr lang="en-US" b="true" i="false" strike="noStrike" u="none" sz="1400">
                <a:solidFill>
                  <a:srgbClr val="505050"/>
                </a:solidFill>
                <a:latin typeface="微软雅黑"/>
                <a:ea typeface="微软雅黑"/>
                <a:cs typeface="微软雅黑"/>
                <a:sym typeface="微软雅黑"/>
              </a:rPr>
              <a:t>项目规划：</a:t>
            </a:r>
            <a:r>
              <a:rPr lang="en-US" b="false" i="false" strike="noStrike" u="none" sz="1400">
                <a:solidFill>
                  <a:srgbClr val="646464"/>
                </a:solidFill>
                <a:latin typeface="微软雅黑"/>
                <a:ea typeface="微软雅黑"/>
                <a:cs typeface="微软雅黑"/>
                <a:sym typeface="微软雅黑"/>
              </a:rPr>
              <a:t>制定分阶段实施路线与关键节点，确保研究有序推进。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6794500" y="4648200"/>
            <a:ext cx="1905000" cy="508000"/>
          </a:xfrm>
          <a:prstGeom prst="rect">
            <a:avLst/>
          </a:prstGeom>
          <a:noFill/>
          <a:ln w="13382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lvl="1" indent="-177800" marL="533400">
              <a:lnSpc>
                <a:spcPct val="100000"/>
              </a:lnSpc>
              <a:buClr>
                <a:srgbClr val="505050"/>
              </a:buClr>
              <a:buFont typeface="Arial"/>
              <a:buChar char="•"/>
              <a:defRPr/>
            </a:pPr>
            <a:r>
              <a:rPr lang="en-US" b="true" i="false" strike="noStrike" u="none" sz="1400">
                <a:solidFill>
                  <a:srgbClr val="505050"/>
                </a:solidFill>
                <a:latin typeface="微软雅黑"/>
                <a:ea typeface="微软雅黑"/>
                <a:cs typeface="微软雅黑"/>
                <a:sym typeface="微软雅黑"/>
              </a:rPr>
              <a:t>实施流程：</a:t>
            </a:r>
            <a:r>
              <a:rPr lang="en-US" b="false" i="false" strike="noStrike" u="none" sz="1400">
                <a:solidFill>
                  <a:srgbClr val="646464"/>
                </a:solidFill>
                <a:latin typeface="微软雅黑"/>
                <a:ea typeface="微软雅黑"/>
                <a:cs typeface="微软雅黑"/>
                <a:sym typeface="微软雅黑"/>
              </a:rPr>
              <a:t>采用标准化技术流程，结合定性与定量分析同步开展。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4508500" y="5461000"/>
            <a:ext cx="1905000" cy="508000"/>
          </a:xfrm>
          <a:prstGeom prst="rect">
            <a:avLst/>
          </a:prstGeom>
          <a:noFill/>
          <a:ln w="13382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lvl="1" indent="-177800" marL="533400">
              <a:lnSpc>
                <a:spcPct val="100000"/>
              </a:lnSpc>
              <a:buClr>
                <a:srgbClr val="505050"/>
              </a:buClr>
              <a:buFont typeface="Arial"/>
              <a:buChar char="•"/>
              <a:defRPr/>
            </a:pPr>
            <a:r>
              <a:rPr lang="en-US" b="true" i="false" strike="noStrike" u="none" sz="1400">
                <a:solidFill>
                  <a:srgbClr val="505050"/>
                </a:solidFill>
                <a:latin typeface="微软雅黑"/>
                <a:ea typeface="微软雅黑"/>
                <a:cs typeface="微软雅黑"/>
                <a:sym typeface="微软雅黑"/>
              </a:rPr>
              <a:t>数据采集：</a:t>
            </a:r>
            <a:r>
              <a:rPr lang="en-US" b="false" i="false" strike="noStrike" u="none" sz="1400">
                <a:solidFill>
                  <a:srgbClr val="646464"/>
                </a:solidFill>
                <a:latin typeface="微软雅黑"/>
                <a:ea typeface="微软雅黑"/>
                <a:cs typeface="微软雅黑"/>
                <a:sym typeface="微软雅黑"/>
              </a:rPr>
              <a:t>整合多源公开数据与实地调研数据，构建完整数据集。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6794500" y="5461000"/>
            <a:ext cx="1905000" cy="508000"/>
          </a:xfrm>
          <a:prstGeom prst="rect">
            <a:avLst/>
          </a:prstGeom>
          <a:noFill/>
          <a:ln w="13382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lvl="1" indent="-177800" marL="533400">
              <a:lnSpc>
                <a:spcPct val="100000"/>
              </a:lnSpc>
              <a:buClr>
                <a:srgbClr val="505050"/>
              </a:buClr>
              <a:buFont typeface="Arial"/>
              <a:buChar char="•"/>
              <a:defRPr/>
            </a:pPr>
            <a:r>
              <a:rPr lang="en-US" b="true" i="false" strike="noStrike" u="none" sz="1400">
                <a:solidFill>
                  <a:srgbClr val="505050"/>
                </a:solidFill>
                <a:latin typeface="微软雅黑"/>
                <a:ea typeface="微软雅黑"/>
                <a:cs typeface="微软雅黑"/>
                <a:sym typeface="微软雅黑"/>
              </a:rPr>
              <a:t>质量控制：</a:t>
            </a:r>
            <a:r>
              <a:rPr lang="en-US" b="false" i="false" strike="noStrike" u="none" sz="1400">
                <a:solidFill>
                  <a:srgbClr val="646464"/>
                </a:solidFill>
                <a:latin typeface="微软雅黑"/>
                <a:ea typeface="微软雅黑"/>
                <a:cs typeface="微软雅黑"/>
                <a:sym typeface="微软雅黑"/>
              </a:rPr>
              <a:t>建立数据清洗与交叉验证机制，保障分析结果的准确性。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name="Connector 2" id="2"/>
          <p:cNvCxnSpPr/>
          <p:nvPr/>
        </p:nvCxnSpPr>
        <p:spPr>
          <a:xfrm rot="-4579042" flipH="false" flipV="false">
            <a:off x="1595614" y="3682975"/>
            <a:ext cx="1558585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004358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cxnSp>
        <p:nvCxnSpPr>
          <p:cNvPr name="Connector 3" id="3"/>
          <p:cNvCxnSpPr/>
          <p:nvPr/>
        </p:nvCxnSpPr>
        <p:spPr>
          <a:xfrm rot="-3859243" flipH="false" flipV="false">
            <a:off x="1749184" y="3740127"/>
            <a:ext cx="1556255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004358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name="AutoShape 4" id="4"/>
          <p:cNvSpPr/>
          <p:nvPr/>
        </p:nvSpPr>
        <p:spPr>
          <a:xfrm rot="0" flipH="false" flipV="false">
            <a:off x="2565400" y="2044700"/>
            <a:ext cx="1181100" cy="1181100"/>
          </a:xfrm>
          <a:prstGeom prst="roundRect">
            <a:avLst>
              <a:gd name="adj" fmla="val 0"/>
            </a:avLst>
          </a:prstGeom>
          <a:solidFill>
            <a:srgbClr val="004358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5" id="5"/>
          <p:cNvSpPr/>
          <p:nvPr/>
        </p:nvSpPr>
        <p:spPr>
          <a:xfrm rot="0" flipH="false" flipV="false">
            <a:off x="2882900" y="2349500"/>
            <a:ext cx="523337" cy="563035"/>
          </a:xfrm>
          <a:custGeom>
            <a:avLst/>
            <a:gdLst/>
            <a:ahLst/>
            <a:cxnLst/>
            <a:rect r="r" b="b" t="t" l="l"/>
            <a:pathLst>
              <a:path h="563035" w="523337">
                <a:moveTo>
                  <a:pt x="523337" y="523936"/>
                </a:moveTo>
                <a:cubicBezTo>
                  <a:pt x="523337" y="547397"/>
                  <a:pt x="499904" y="563035"/>
                  <a:pt x="476471" y="563035"/>
                </a:cubicBezTo>
                <a:cubicBezTo>
                  <a:pt x="39055" y="563035"/>
                  <a:pt x="39055" y="563035"/>
                  <a:pt x="39055" y="563035"/>
                </a:cubicBezTo>
                <a:cubicBezTo>
                  <a:pt x="15622" y="563035"/>
                  <a:pt x="0" y="547397"/>
                  <a:pt x="0" y="523936"/>
                </a:cubicBezTo>
                <a:cubicBezTo>
                  <a:pt x="0" y="125119"/>
                  <a:pt x="0" y="125119"/>
                  <a:pt x="0" y="125119"/>
                </a:cubicBezTo>
                <a:cubicBezTo>
                  <a:pt x="0" y="101660"/>
                  <a:pt x="15622" y="86020"/>
                  <a:pt x="39055" y="86020"/>
                </a:cubicBezTo>
                <a:cubicBezTo>
                  <a:pt x="78110" y="86020"/>
                  <a:pt x="78110" y="86020"/>
                  <a:pt x="78110" y="86020"/>
                </a:cubicBezTo>
                <a:cubicBezTo>
                  <a:pt x="78110" y="54740"/>
                  <a:pt x="78110" y="54740"/>
                  <a:pt x="78110" y="54740"/>
                </a:cubicBezTo>
                <a:cubicBezTo>
                  <a:pt x="78110" y="23459"/>
                  <a:pt x="101543" y="0"/>
                  <a:pt x="124976" y="0"/>
                </a:cubicBezTo>
                <a:cubicBezTo>
                  <a:pt x="148408" y="0"/>
                  <a:pt x="148408" y="0"/>
                  <a:pt x="148408" y="0"/>
                </a:cubicBezTo>
                <a:cubicBezTo>
                  <a:pt x="179653" y="0"/>
                  <a:pt x="195275" y="23459"/>
                  <a:pt x="195275" y="54740"/>
                </a:cubicBezTo>
                <a:cubicBezTo>
                  <a:pt x="195275" y="86020"/>
                  <a:pt x="195275" y="86020"/>
                  <a:pt x="195275" y="86020"/>
                </a:cubicBezTo>
                <a:cubicBezTo>
                  <a:pt x="320251" y="86020"/>
                  <a:pt x="320251" y="86020"/>
                  <a:pt x="320251" y="86020"/>
                </a:cubicBezTo>
                <a:cubicBezTo>
                  <a:pt x="320251" y="54740"/>
                  <a:pt x="320251" y="54740"/>
                  <a:pt x="320251" y="54740"/>
                </a:cubicBezTo>
                <a:cubicBezTo>
                  <a:pt x="320251" y="23459"/>
                  <a:pt x="343684" y="0"/>
                  <a:pt x="367118" y="0"/>
                </a:cubicBezTo>
                <a:cubicBezTo>
                  <a:pt x="390550" y="0"/>
                  <a:pt x="390550" y="0"/>
                  <a:pt x="390550" y="0"/>
                </a:cubicBezTo>
                <a:cubicBezTo>
                  <a:pt x="413983" y="0"/>
                  <a:pt x="437416" y="23459"/>
                  <a:pt x="437416" y="54740"/>
                </a:cubicBezTo>
                <a:cubicBezTo>
                  <a:pt x="437416" y="86020"/>
                  <a:pt x="437416" y="86020"/>
                  <a:pt x="437416" y="86020"/>
                </a:cubicBezTo>
                <a:cubicBezTo>
                  <a:pt x="476471" y="86020"/>
                  <a:pt x="476471" y="86020"/>
                  <a:pt x="476471" y="86020"/>
                </a:cubicBezTo>
                <a:cubicBezTo>
                  <a:pt x="499904" y="86020"/>
                  <a:pt x="523337" y="101660"/>
                  <a:pt x="523337" y="125119"/>
                </a:cubicBezTo>
                <a:lnTo>
                  <a:pt x="523337" y="523936"/>
                </a:lnTo>
                <a:close/>
                <a:moveTo>
                  <a:pt x="476471" y="523936"/>
                </a:moveTo>
                <a:cubicBezTo>
                  <a:pt x="476471" y="203318"/>
                  <a:pt x="476471" y="203318"/>
                  <a:pt x="476471" y="203318"/>
                </a:cubicBezTo>
                <a:cubicBezTo>
                  <a:pt x="39055" y="203318"/>
                  <a:pt x="39055" y="203318"/>
                  <a:pt x="39055" y="203318"/>
                </a:cubicBezTo>
                <a:cubicBezTo>
                  <a:pt x="39055" y="523936"/>
                  <a:pt x="39055" y="523936"/>
                  <a:pt x="39055" y="523936"/>
                </a:cubicBezTo>
                <a:lnTo>
                  <a:pt x="476471" y="523936"/>
                </a:lnTo>
                <a:close/>
                <a:moveTo>
                  <a:pt x="156220" y="54740"/>
                </a:moveTo>
                <a:cubicBezTo>
                  <a:pt x="156220" y="46920"/>
                  <a:pt x="156220" y="39099"/>
                  <a:pt x="148408" y="39099"/>
                </a:cubicBezTo>
                <a:cubicBezTo>
                  <a:pt x="124976" y="39099"/>
                  <a:pt x="124976" y="39099"/>
                  <a:pt x="124976" y="39099"/>
                </a:cubicBezTo>
                <a:cubicBezTo>
                  <a:pt x="124976" y="39099"/>
                  <a:pt x="117165" y="46920"/>
                  <a:pt x="117165" y="54740"/>
                </a:cubicBezTo>
                <a:cubicBezTo>
                  <a:pt x="117165" y="140759"/>
                  <a:pt x="117165" y="140759"/>
                  <a:pt x="117165" y="140759"/>
                </a:cubicBezTo>
                <a:cubicBezTo>
                  <a:pt x="117165" y="148579"/>
                  <a:pt x="124976" y="156399"/>
                  <a:pt x="124976" y="156399"/>
                </a:cubicBezTo>
                <a:cubicBezTo>
                  <a:pt x="148408" y="156399"/>
                  <a:pt x="148408" y="156399"/>
                  <a:pt x="148408" y="156399"/>
                </a:cubicBezTo>
                <a:cubicBezTo>
                  <a:pt x="156220" y="156399"/>
                  <a:pt x="156220" y="148579"/>
                  <a:pt x="156220" y="140759"/>
                </a:cubicBezTo>
                <a:lnTo>
                  <a:pt x="156220" y="54740"/>
                </a:lnTo>
                <a:close/>
                <a:moveTo>
                  <a:pt x="398361" y="54740"/>
                </a:moveTo>
                <a:cubicBezTo>
                  <a:pt x="398361" y="46920"/>
                  <a:pt x="398361" y="39099"/>
                  <a:pt x="390550" y="39099"/>
                </a:cubicBezTo>
                <a:cubicBezTo>
                  <a:pt x="367118" y="39099"/>
                  <a:pt x="367118" y="39099"/>
                  <a:pt x="367118" y="39099"/>
                </a:cubicBezTo>
                <a:cubicBezTo>
                  <a:pt x="367118" y="39099"/>
                  <a:pt x="359306" y="46920"/>
                  <a:pt x="359306" y="54740"/>
                </a:cubicBezTo>
                <a:cubicBezTo>
                  <a:pt x="359306" y="140759"/>
                  <a:pt x="359306" y="140759"/>
                  <a:pt x="359306" y="140759"/>
                </a:cubicBezTo>
                <a:cubicBezTo>
                  <a:pt x="359306" y="148579"/>
                  <a:pt x="367118" y="156399"/>
                  <a:pt x="367118" y="156399"/>
                </a:cubicBezTo>
                <a:cubicBezTo>
                  <a:pt x="390550" y="156399"/>
                  <a:pt x="390550" y="156399"/>
                  <a:pt x="390550" y="156399"/>
                </a:cubicBezTo>
                <a:cubicBezTo>
                  <a:pt x="398361" y="156399"/>
                  <a:pt x="398361" y="148579"/>
                  <a:pt x="398361" y="140759"/>
                </a:cubicBezTo>
                <a:lnTo>
                  <a:pt x="398361" y="5474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cxnSp>
        <p:nvCxnSpPr>
          <p:cNvPr name="Connector 6" id="6"/>
          <p:cNvCxnSpPr/>
          <p:nvPr/>
        </p:nvCxnSpPr>
        <p:spPr>
          <a:xfrm rot="-5792959" flipH="false" flipV="false">
            <a:off x="4167562" y="3994124"/>
            <a:ext cx="1558171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18B29D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cxnSp>
        <p:nvCxnSpPr>
          <p:cNvPr name="Connector 7" id="7"/>
          <p:cNvCxnSpPr/>
          <p:nvPr/>
        </p:nvCxnSpPr>
        <p:spPr>
          <a:xfrm rot="-5090987" flipH="false" flipV="false">
            <a:off x="4326964" y="3994124"/>
            <a:ext cx="1556877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18B29D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name="AutoShape 8" id="8"/>
          <p:cNvSpPr/>
          <p:nvPr/>
        </p:nvSpPr>
        <p:spPr>
          <a:xfrm rot="0" flipH="false" flipV="false">
            <a:off x="4432300" y="2044700"/>
            <a:ext cx="1181100" cy="1181100"/>
          </a:xfrm>
          <a:prstGeom prst="roundRect">
            <a:avLst>
              <a:gd name="adj" fmla="val 0"/>
            </a:avLst>
          </a:prstGeom>
          <a:solidFill>
            <a:srgbClr val="18B29D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9" id="9"/>
          <p:cNvSpPr/>
          <p:nvPr/>
        </p:nvSpPr>
        <p:spPr>
          <a:xfrm rot="0" flipH="false" flipV="false">
            <a:off x="4876800" y="2374900"/>
            <a:ext cx="288737" cy="523337"/>
          </a:xfrm>
          <a:custGeom>
            <a:avLst/>
            <a:gdLst/>
            <a:ahLst/>
            <a:cxnLst/>
            <a:rect r="r" b="b" t="t" l="l"/>
            <a:pathLst>
              <a:path h="523337" w="288737">
                <a:moveTo>
                  <a:pt x="280933" y="156220"/>
                </a:moveTo>
                <a:cubicBezTo>
                  <a:pt x="117056" y="515526"/>
                  <a:pt x="117056" y="515526"/>
                  <a:pt x="117056" y="515526"/>
                </a:cubicBezTo>
                <a:cubicBezTo>
                  <a:pt x="109252" y="523337"/>
                  <a:pt x="109252" y="523337"/>
                  <a:pt x="101448" y="523337"/>
                </a:cubicBezTo>
                <a:cubicBezTo>
                  <a:pt x="101448" y="523337"/>
                  <a:pt x="101448" y="523337"/>
                  <a:pt x="93645" y="523337"/>
                </a:cubicBezTo>
                <a:cubicBezTo>
                  <a:pt x="85841" y="523337"/>
                  <a:pt x="85841" y="515526"/>
                  <a:pt x="85841" y="507716"/>
                </a:cubicBezTo>
                <a:cubicBezTo>
                  <a:pt x="148270" y="257763"/>
                  <a:pt x="148270" y="257763"/>
                  <a:pt x="148270" y="257763"/>
                </a:cubicBezTo>
                <a:cubicBezTo>
                  <a:pt x="23411" y="289008"/>
                  <a:pt x="23411" y="289008"/>
                  <a:pt x="23411" y="289008"/>
                </a:cubicBezTo>
                <a:cubicBezTo>
                  <a:pt x="23411" y="289008"/>
                  <a:pt x="15607" y="289008"/>
                  <a:pt x="15607" y="289008"/>
                </a:cubicBezTo>
                <a:cubicBezTo>
                  <a:pt x="15607" y="289008"/>
                  <a:pt x="7804" y="289008"/>
                  <a:pt x="7804" y="281196"/>
                </a:cubicBezTo>
                <a:cubicBezTo>
                  <a:pt x="7804" y="281196"/>
                  <a:pt x="0" y="273385"/>
                  <a:pt x="7804" y="273385"/>
                </a:cubicBezTo>
                <a:cubicBezTo>
                  <a:pt x="70234" y="15622"/>
                  <a:pt x="70234" y="15622"/>
                  <a:pt x="70234" y="15622"/>
                </a:cubicBezTo>
                <a:cubicBezTo>
                  <a:pt x="70234" y="7810"/>
                  <a:pt x="78036" y="0"/>
                  <a:pt x="78036" y="0"/>
                </a:cubicBezTo>
                <a:cubicBezTo>
                  <a:pt x="187289" y="0"/>
                  <a:pt x="187289" y="0"/>
                  <a:pt x="187289" y="0"/>
                </a:cubicBezTo>
                <a:cubicBezTo>
                  <a:pt x="195092" y="0"/>
                  <a:pt x="195092" y="7810"/>
                  <a:pt x="195092" y="15622"/>
                </a:cubicBezTo>
                <a:cubicBezTo>
                  <a:pt x="195092" y="15622"/>
                  <a:pt x="195092" y="23433"/>
                  <a:pt x="195092" y="23433"/>
                </a:cubicBezTo>
                <a:cubicBezTo>
                  <a:pt x="140467" y="164031"/>
                  <a:pt x="140467" y="164031"/>
                  <a:pt x="140467" y="164031"/>
                </a:cubicBezTo>
                <a:cubicBezTo>
                  <a:pt x="265326" y="140598"/>
                  <a:pt x="265326" y="140598"/>
                  <a:pt x="265326" y="140598"/>
                </a:cubicBezTo>
                <a:cubicBezTo>
                  <a:pt x="265326" y="132787"/>
                  <a:pt x="265326" y="132787"/>
                  <a:pt x="273130" y="132787"/>
                </a:cubicBezTo>
                <a:cubicBezTo>
                  <a:pt x="273130" y="132787"/>
                  <a:pt x="280933" y="140598"/>
                  <a:pt x="280933" y="140598"/>
                </a:cubicBezTo>
                <a:cubicBezTo>
                  <a:pt x="280933" y="148408"/>
                  <a:pt x="288737" y="148408"/>
                  <a:pt x="280933" y="15622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cxnSp>
        <p:nvCxnSpPr>
          <p:cNvPr name="Connector 10" id="10"/>
          <p:cNvCxnSpPr/>
          <p:nvPr/>
        </p:nvCxnSpPr>
        <p:spPr>
          <a:xfrm rot="-5792959" flipH="false" flipV="false">
            <a:off x="5958262" y="3994124"/>
            <a:ext cx="1558171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004358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cxnSp>
        <p:nvCxnSpPr>
          <p:cNvPr name="Connector 11" id="11"/>
          <p:cNvCxnSpPr/>
          <p:nvPr/>
        </p:nvCxnSpPr>
        <p:spPr>
          <a:xfrm rot="-5090987" flipH="false" flipV="false">
            <a:off x="6117664" y="3994124"/>
            <a:ext cx="1556877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004358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name="AutoShape 12" id="12"/>
          <p:cNvSpPr/>
          <p:nvPr/>
        </p:nvSpPr>
        <p:spPr>
          <a:xfrm rot="0" flipH="false" flipV="false">
            <a:off x="6223000" y="2044700"/>
            <a:ext cx="1181100" cy="1181100"/>
          </a:xfrm>
          <a:prstGeom prst="roundRect">
            <a:avLst>
              <a:gd name="adj" fmla="val 0"/>
            </a:avLst>
          </a:prstGeom>
          <a:solidFill>
            <a:srgbClr val="004358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13" id="13"/>
          <p:cNvSpPr/>
          <p:nvPr/>
        </p:nvSpPr>
        <p:spPr>
          <a:xfrm rot="0" flipH="false" flipV="false">
            <a:off x="6565900" y="2374900"/>
            <a:ext cx="508900" cy="516118"/>
          </a:xfrm>
          <a:custGeom>
            <a:avLst/>
            <a:gdLst/>
            <a:ahLst/>
            <a:cxnLst/>
            <a:rect r="r" b="b" t="t" l="l"/>
            <a:pathLst>
              <a:path h="516118" w="508900">
                <a:moveTo>
                  <a:pt x="501071" y="109479"/>
                </a:moveTo>
                <a:cubicBezTo>
                  <a:pt x="93951" y="508298"/>
                  <a:pt x="93951" y="508298"/>
                  <a:pt x="93951" y="508298"/>
                </a:cubicBezTo>
                <a:cubicBezTo>
                  <a:pt x="86121" y="516118"/>
                  <a:pt x="86121" y="516118"/>
                  <a:pt x="78292" y="516118"/>
                </a:cubicBezTo>
                <a:cubicBezTo>
                  <a:pt x="70463" y="516118"/>
                  <a:pt x="70463" y="516118"/>
                  <a:pt x="62634" y="508298"/>
                </a:cubicBezTo>
                <a:cubicBezTo>
                  <a:pt x="0" y="445738"/>
                  <a:pt x="0" y="445738"/>
                  <a:pt x="0" y="445738"/>
                </a:cubicBezTo>
                <a:cubicBezTo>
                  <a:pt x="0" y="445738"/>
                  <a:pt x="0" y="437919"/>
                  <a:pt x="0" y="437919"/>
                </a:cubicBezTo>
                <a:cubicBezTo>
                  <a:pt x="0" y="430098"/>
                  <a:pt x="0" y="422279"/>
                  <a:pt x="0" y="422279"/>
                </a:cubicBezTo>
                <a:cubicBezTo>
                  <a:pt x="407120" y="15640"/>
                  <a:pt x="407120" y="15640"/>
                  <a:pt x="407120" y="15640"/>
                </a:cubicBezTo>
                <a:cubicBezTo>
                  <a:pt x="407120" y="15640"/>
                  <a:pt x="414950" y="7819"/>
                  <a:pt x="422778" y="7819"/>
                </a:cubicBezTo>
                <a:cubicBezTo>
                  <a:pt x="422778" y="7819"/>
                  <a:pt x="430607" y="15640"/>
                  <a:pt x="438437" y="15640"/>
                </a:cubicBezTo>
                <a:cubicBezTo>
                  <a:pt x="501071" y="78200"/>
                  <a:pt x="501071" y="78200"/>
                  <a:pt x="501071" y="78200"/>
                </a:cubicBezTo>
                <a:cubicBezTo>
                  <a:pt x="501071" y="86020"/>
                  <a:pt x="501071" y="86020"/>
                  <a:pt x="501071" y="93839"/>
                </a:cubicBezTo>
                <a:cubicBezTo>
                  <a:pt x="501071" y="101660"/>
                  <a:pt x="501071" y="101660"/>
                  <a:pt x="501071" y="109479"/>
                </a:cubicBezTo>
                <a:close/>
                <a:moveTo>
                  <a:pt x="109609" y="39099"/>
                </a:moveTo>
                <a:cubicBezTo>
                  <a:pt x="78292" y="54740"/>
                  <a:pt x="78292" y="54740"/>
                  <a:pt x="78292" y="54740"/>
                </a:cubicBezTo>
                <a:cubicBezTo>
                  <a:pt x="70463" y="86020"/>
                  <a:pt x="70463" y="86020"/>
                  <a:pt x="70463" y="86020"/>
                </a:cubicBezTo>
                <a:cubicBezTo>
                  <a:pt x="62634" y="54740"/>
                  <a:pt x="62634" y="54740"/>
                  <a:pt x="62634" y="54740"/>
                </a:cubicBezTo>
                <a:cubicBezTo>
                  <a:pt x="31317" y="39099"/>
                  <a:pt x="31317" y="39099"/>
                  <a:pt x="31317" y="39099"/>
                </a:cubicBezTo>
                <a:cubicBezTo>
                  <a:pt x="62634" y="31280"/>
                  <a:pt x="62634" y="31280"/>
                  <a:pt x="62634" y="31280"/>
                </a:cubicBezTo>
                <a:cubicBezTo>
                  <a:pt x="70463" y="0"/>
                  <a:pt x="70463" y="0"/>
                  <a:pt x="70463" y="0"/>
                </a:cubicBezTo>
                <a:cubicBezTo>
                  <a:pt x="78292" y="31280"/>
                  <a:pt x="78292" y="31280"/>
                  <a:pt x="78292" y="31280"/>
                </a:cubicBezTo>
                <a:lnTo>
                  <a:pt x="109609" y="39099"/>
                </a:lnTo>
                <a:close/>
                <a:moveTo>
                  <a:pt x="250535" y="101660"/>
                </a:moveTo>
                <a:cubicBezTo>
                  <a:pt x="187902" y="125119"/>
                  <a:pt x="187902" y="125119"/>
                  <a:pt x="187902" y="125119"/>
                </a:cubicBezTo>
                <a:cubicBezTo>
                  <a:pt x="172242" y="179859"/>
                  <a:pt x="172242" y="179859"/>
                  <a:pt x="172242" y="179859"/>
                </a:cubicBezTo>
                <a:cubicBezTo>
                  <a:pt x="148755" y="125119"/>
                  <a:pt x="148755" y="125119"/>
                  <a:pt x="148755" y="125119"/>
                </a:cubicBezTo>
                <a:cubicBezTo>
                  <a:pt x="86121" y="101660"/>
                  <a:pt x="86121" y="101660"/>
                  <a:pt x="86121" y="101660"/>
                </a:cubicBezTo>
                <a:cubicBezTo>
                  <a:pt x="148755" y="86020"/>
                  <a:pt x="148755" y="86020"/>
                  <a:pt x="148755" y="86020"/>
                </a:cubicBezTo>
                <a:cubicBezTo>
                  <a:pt x="172242" y="23459"/>
                  <a:pt x="172242" y="23459"/>
                  <a:pt x="172242" y="23459"/>
                </a:cubicBezTo>
                <a:cubicBezTo>
                  <a:pt x="187902" y="86020"/>
                  <a:pt x="187902" y="86020"/>
                  <a:pt x="187902" y="86020"/>
                </a:cubicBezTo>
                <a:lnTo>
                  <a:pt x="250535" y="101660"/>
                </a:lnTo>
                <a:close/>
                <a:moveTo>
                  <a:pt x="313169" y="39099"/>
                </a:moveTo>
                <a:cubicBezTo>
                  <a:pt x="281852" y="54740"/>
                  <a:pt x="281852" y="54740"/>
                  <a:pt x="281852" y="54740"/>
                </a:cubicBezTo>
                <a:cubicBezTo>
                  <a:pt x="266193" y="86020"/>
                  <a:pt x="266193" y="86020"/>
                  <a:pt x="266193" y="86020"/>
                </a:cubicBezTo>
                <a:cubicBezTo>
                  <a:pt x="258365" y="54740"/>
                  <a:pt x="258365" y="54740"/>
                  <a:pt x="258365" y="54740"/>
                </a:cubicBezTo>
                <a:cubicBezTo>
                  <a:pt x="227048" y="39099"/>
                  <a:pt x="227048" y="39099"/>
                  <a:pt x="227048" y="39099"/>
                </a:cubicBezTo>
                <a:cubicBezTo>
                  <a:pt x="258365" y="31280"/>
                  <a:pt x="258365" y="31280"/>
                  <a:pt x="258365" y="31280"/>
                </a:cubicBezTo>
                <a:cubicBezTo>
                  <a:pt x="266193" y="0"/>
                  <a:pt x="266193" y="0"/>
                  <a:pt x="266193" y="0"/>
                </a:cubicBezTo>
                <a:cubicBezTo>
                  <a:pt x="281852" y="31280"/>
                  <a:pt x="281852" y="31280"/>
                  <a:pt x="281852" y="31280"/>
                </a:cubicBezTo>
                <a:lnTo>
                  <a:pt x="313169" y="39099"/>
                </a:lnTo>
                <a:close/>
                <a:moveTo>
                  <a:pt x="454095" y="93839"/>
                </a:moveTo>
                <a:cubicBezTo>
                  <a:pt x="422778" y="62560"/>
                  <a:pt x="422778" y="62560"/>
                  <a:pt x="422778" y="62560"/>
                </a:cubicBezTo>
                <a:cubicBezTo>
                  <a:pt x="328827" y="148580"/>
                  <a:pt x="328827" y="148580"/>
                  <a:pt x="328827" y="148580"/>
                </a:cubicBezTo>
                <a:cubicBezTo>
                  <a:pt x="360144" y="187679"/>
                  <a:pt x="360144" y="187679"/>
                  <a:pt x="360144" y="187679"/>
                </a:cubicBezTo>
                <a:lnTo>
                  <a:pt x="454095" y="93839"/>
                </a:lnTo>
                <a:close/>
                <a:moveTo>
                  <a:pt x="508900" y="242419"/>
                </a:moveTo>
                <a:cubicBezTo>
                  <a:pt x="477584" y="250240"/>
                  <a:pt x="477584" y="250240"/>
                  <a:pt x="477584" y="250240"/>
                </a:cubicBezTo>
                <a:cubicBezTo>
                  <a:pt x="469754" y="281518"/>
                  <a:pt x="469754" y="281518"/>
                  <a:pt x="469754" y="281518"/>
                </a:cubicBezTo>
                <a:cubicBezTo>
                  <a:pt x="461924" y="250240"/>
                  <a:pt x="461924" y="250240"/>
                  <a:pt x="461924" y="250240"/>
                </a:cubicBezTo>
                <a:cubicBezTo>
                  <a:pt x="430607" y="242419"/>
                  <a:pt x="430607" y="242419"/>
                  <a:pt x="430607" y="242419"/>
                </a:cubicBezTo>
                <a:cubicBezTo>
                  <a:pt x="461924" y="234599"/>
                  <a:pt x="461924" y="234599"/>
                  <a:pt x="461924" y="234599"/>
                </a:cubicBezTo>
                <a:cubicBezTo>
                  <a:pt x="469754" y="203319"/>
                  <a:pt x="469754" y="203319"/>
                  <a:pt x="469754" y="203319"/>
                </a:cubicBezTo>
                <a:cubicBezTo>
                  <a:pt x="477584" y="234599"/>
                  <a:pt x="477584" y="234599"/>
                  <a:pt x="477584" y="234599"/>
                </a:cubicBezTo>
                <a:lnTo>
                  <a:pt x="508900" y="242419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cxnSp>
        <p:nvCxnSpPr>
          <p:cNvPr name="Connector 14" id="14"/>
          <p:cNvCxnSpPr/>
          <p:nvPr/>
        </p:nvCxnSpPr>
        <p:spPr>
          <a:xfrm rot="-5765097" flipH="false" flipV="false">
            <a:off x="7781359" y="3994124"/>
            <a:ext cx="1556877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18B29D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cxnSp>
        <p:nvCxnSpPr>
          <p:cNvPr name="Connector 15" id="15"/>
          <p:cNvCxnSpPr/>
          <p:nvPr/>
        </p:nvCxnSpPr>
        <p:spPr>
          <a:xfrm rot="-5063078" flipH="false" flipV="false">
            <a:off x="7939467" y="3994124"/>
            <a:ext cx="1558171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18B29D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name="AutoShape 16" id="16"/>
          <p:cNvSpPr/>
          <p:nvPr/>
        </p:nvSpPr>
        <p:spPr>
          <a:xfrm rot="0" flipH="false" flipV="false">
            <a:off x="8051800" y="2044700"/>
            <a:ext cx="1181100" cy="1181100"/>
          </a:xfrm>
          <a:prstGeom prst="roundRect">
            <a:avLst>
              <a:gd name="adj" fmla="val 0"/>
            </a:avLst>
          </a:prstGeom>
          <a:solidFill>
            <a:srgbClr val="18B29D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17" id="17"/>
          <p:cNvSpPr/>
          <p:nvPr/>
        </p:nvSpPr>
        <p:spPr>
          <a:xfrm rot="0" flipH="false" flipV="false">
            <a:off x="8382000" y="2374900"/>
            <a:ext cx="523337" cy="523337"/>
          </a:xfrm>
          <a:custGeom>
            <a:avLst/>
            <a:gdLst/>
            <a:ahLst/>
            <a:cxnLst/>
            <a:rect r="r" b="b" t="t" l="l"/>
            <a:pathLst>
              <a:path h="523337" w="523337">
                <a:moveTo>
                  <a:pt x="484281" y="523337"/>
                </a:moveTo>
                <a:cubicBezTo>
                  <a:pt x="476471" y="523337"/>
                  <a:pt x="460849" y="523337"/>
                  <a:pt x="460849" y="515526"/>
                </a:cubicBezTo>
                <a:cubicBezTo>
                  <a:pt x="351495" y="406171"/>
                  <a:pt x="351495" y="406171"/>
                  <a:pt x="351495" y="406171"/>
                </a:cubicBezTo>
                <a:cubicBezTo>
                  <a:pt x="312440" y="429605"/>
                  <a:pt x="265574" y="445226"/>
                  <a:pt x="226518" y="445226"/>
                </a:cubicBezTo>
                <a:cubicBezTo>
                  <a:pt x="101543" y="445226"/>
                  <a:pt x="0" y="343684"/>
                  <a:pt x="0" y="226518"/>
                </a:cubicBezTo>
                <a:cubicBezTo>
                  <a:pt x="0" y="101543"/>
                  <a:pt x="101543" y="0"/>
                  <a:pt x="226518" y="0"/>
                </a:cubicBezTo>
                <a:cubicBezTo>
                  <a:pt x="343684" y="0"/>
                  <a:pt x="445226" y="101543"/>
                  <a:pt x="445226" y="226518"/>
                </a:cubicBezTo>
                <a:cubicBezTo>
                  <a:pt x="445226" y="265574"/>
                  <a:pt x="429605" y="312440"/>
                  <a:pt x="406171" y="351495"/>
                </a:cubicBezTo>
                <a:cubicBezTo>
                  <a:pt x="515526" y="460849"/>
                  <a:pt x="515526" y="460849"/>
                  <a:pt x="515526" y="460849"/>
                </a:cubicBezTo>
                <a:cubicBezTo>
                  <a:pt x="523337" y="460849"/>
                  <a:pt x="523337" y="476471"/>
                  <a:pt x="523337" y="484281"/>
                </a:cubicBezTo>
                <a:cubicBezTo>
                  <a:pt x="523337" y="507716"/>
                  <a:pt x="507716" y="523337"/>
                  <a:pt x="484281" y="523337"/>
                </a:cubicBezTo>
                <a:close/>
                <a:moveTo>
                  <a:pt x="226518" y="85921"/>
                </a:moveTo>
                <a:cubicBezTo>
                  <a:pt x="148408" y="85921"/>
                  <a:pt x="85921" y="148408"/>
                  <a:pt x="85921" y="226518"/>
                </a:cubicBezTo>
                <a:cubicBezTo>
                  <a:pt x="85921" y="304629"/>
                  <a:pt x="148408" y="367118"/>
                  <a:pt x="226518" y="367118"/>
                </a:cubicBezTo>
                <a:cubicBezTo>
                  <a:pt x="304629" y="367118"/>
                  <a:pt x="367118" y="304629"/>
                  <a:pt x="367118" y="226518"/>
                </a:cubicBezTo>
                <a:cubicBezTo>
                  <a:pt x="367118" y="148408"/>
                  <a:pt x="304629" y="85921"/>
                  <a:pt x="226518" y="85921"/>
                </a:cubicBezTo>
                <a:close/>
                <a:moveTo>
                  <a:pt x="328063" y="234330"/>
                </a:moveTo>
                <a:cubicBezTo>
                  <a:pt x="328063" y="242141"/>
                  <a:pt x="320251" y="242141"/>
                  <a:pt x="312440" y="242141"/>
                </a:cubicBezTo>
                <a:cubicBezTo>
                  <a:pt x="242141" y="242141"/>
                  <a:pt x="242141" y="242141"/>
                  <a:pt x="242141" y="242141"/>
                </a:cubicBezTo>
                <a:cubicBezTo>
                  <a:pt x="242141" y="312440"/>
                  <a:pt x="242141" y="312440"/>
                  <a:pt x="242141" y="312440"/>
                </a:cubicBezTo>
                <a:cubicBezTo>
                  <a:pt x="242141" y="320251"/>
                  <a:pt x="242141" y="328063"/>
                  <a:pt x="234330" y="328063"/>
                </a:cubicBezTo>
                <a:cubicBezTo>
                  <a:pt x="210897" y="328063"/>
                  <a:pt x="210897" y="328063"/>
                  <a:pt x="210897" y="328063"/>
                </a:cubicBezTo>
                <a:cubicBezTo>
                  <a:pt x="210897" y="328063"/>
                  <a:pt x="203086" y="320251"/>
                  <a:pt x="203086" y="312440"/>
                </a:cubicBezTo>
                <a:cubicBezTo>
                  <a:pt x="203086" y="242141"/>
                  <a:pt x="203086" y="242141"/>
                  <a:pt x="203086" y="242141"/>
                </a:cubicBezTo>
                <a:cubicBezTo>
                  <a:pt x="132787" y="242141"/>
                  <a:pt x="132787" y="242141"/>
                  <a:pt x="132787" y="242141"/>
                </a:cubicBezTo>
                <a:cubicBezTo>
                  <a:pt x="132787" y="242141"/>
                  <a:pt x="124976" y="242141"/>
                  <a:pt x="124976" y="234330"/>
                </a:cubicBezTo>
                <a:cubicBezTo>
                  <a:pt x="124976" y="210897"/>
                  <a:pt x="124976" y="210897"/>
                  <a:pt x="124976" y="210897"/>
                </a:cubicBezTo>
                <a:cubicBezTo>
                  <a:pt x="124976" y="210897"/>
                  <a:pt x="132787" y="203086"/>
                  <a:pt x="132787" y="203086"/>
                </a:cubicBezTo>
                <a:cubicBezTo>
                  <a:pt x="203086" y="203086"/>
                  <a:pt x="203086" y="203086"/>
                  <a:pt x="203086" y="203086"/>
                </a:cubicBezTo>
                <a:cubicBezTo>
                  <a:pt x="203086" y="132787"/>
                  <a:pt x="203086" y="132787"/>
                  <a:pt x="203086" y="132787"/>
                </a:cubicBezTo>
                <a:cubicBezTo>
                  <a:pt x="203086" y="124976"/>
                  <a:pt x="210897" y="124976"/>
                  <a:pt x="210897" y="124976"/>
                </a:cubicBezTo>
                <a:cubicBezTo>
                  <a:pt x="234330" y="124976"/>
                  <a:pt x="234330" y="124976"/>
                  <a:pt x="234330" y="124976"/>
                </a:cubicBezTo>
                <a:cubicBezTo>
                  <a:pt x="242141" y="124976"/>
                  <a:pt x="242141" y="124976"/>
                  <a:pt x="242141" y="132787"/>
                </a:cubicBezTo>
                <a:cubicBezTo>
                  <a:pt x="242141" y="203086"/>
                  <a:pt x="242141" y="203086"/>
                  <a:pt x="242141" y="203086"/>
                </a:cubicBezTo>
                <a:cubicBezTo>
                  <a:pt x="312440" y="203086"/>
                  <a:pt x="312440" y="203086"/>
                  <a:pt x="312440" y="203086"/>
                </a:cubicBezTo>
                <a:cubicBezTo>
                  <a:pt x="320251" y="203086"/>
                  <a:pt x="328063" y="210897"/>
                  <a:pt x="328063" y="210897"/>
                </a:cubicBezTo>
                <a:lnTo>
                  <a:pt x="328063" y="23433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cxnSp>
        <p:nvCxnSpPr>
          <p:cNvPr name="Connector 18" id="18"/>
          <p:cNvCxnSpPr/>
          <p:nvPr/>
        </p:nvCxnSpPr>
        <p:spPr>
          <a:xfrm rot="-5765097" flipH="false" flipV="false">
            <a:off x="9559359" y="3994124"/>
            <a:ext cx="1556877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004358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cxnSp>
        <p:nvCxnSpPr>
          <p:cNvPr name="Connector 19" id="19"/>
          <p:cNvCxnSpPr/>
          <p:nvPr/>
        </p:nvCxnSpPr>
        <p:spPr>
          <a:xfrm rot="-5063078" flipH="false" flipV="false">
            <a:off x="9717467" y="3994124"/>
            <a:ext cx="1558171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004358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name="AutoShape 20" id="20"/>
          <p:cNvSpPr/>
          <p:nvPr/>
        </p:nvSpPr>
        <p:spPr>
          <a:xfrm rot="0" flipH="false" flipV="false">
            <a:off x="9829800" y="2044700"/>
            <a:ext cx="1181100" cy="1181100"/>
          </a:xfrm>
          <a:prstGeom prst="roundRect">
            <a:avLst>
              <a:gd name="adj" fmla="val 0"/>
            </a:avLst>
          </a:prstGeom>
          <a:solidFill>
            <a:srgbClr val="004358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21" id="21"/>
          <p:cNvSpPr/>
          <p:nvPr/>
        </p:nvSpPr>
        <p:spPr>
          <a:xfrm rot="0" flipH="false" flipV="false">
            <a:off x="10160000" y="2374900"/>
            <a:ext cx="530555" cy="530555"/>
          </a:xfrm>
          <a:custGeom>
            <a:avLst/>
            <a:gdLst/>
            <a:ahLst/>
            <a:cxnLst/>
            <a:rect r="r" b="b" t="t" l="l"/>
            <a:pathLst>
              <a:path h="530555" w="530555">
                <a:moveTo>
                  <a:pt x="530555" y="23407"/>
                </a:moveTo>
                <a:cubicBezTo>
                  <a:pt x="452533" y="475939"/>
                  <a:pt x="452533" y="475939"/>
                  <a:pt x="452533" y="475939"/>
                </a:cubicBezTo>
                <a:cubicBezTo>
                  <a:pt x="452533" y="483742"/>
                  <a:pt x="444730" y="483742"/>
                  <a:pt x="444730" y="491543"/>
                </a:cubicBezTo>
                <a:cubicBezTo>
                  <a:pt x="436928" y="491543"/>
                  <a:pt x="436928" y="491543"/>
                  <a:pt x="436928" y="491543"/>
                </a:cubicBezTo>
                <a:cubicBezTo>
                  <a:pt x="429125" y="491543"/>
                  <a:pt x="429125" y="491543"/>
                  <a:pt x="429125" y="491543"/>
                </a:cubicBezTo>
                <a:cubicBezTo>
                  <a:pt x="273079" y="429125"/>
                  <a:pt x="273079" y="429125"/>
                  <a:pt x="273079" y="429125"/>
                </a:cubicBezTo>
                <a:cubicBezTo>
                  <a:pt x="179452" y="522752"/>
                  <a:pt x="179452" y="522752"/>
                  <a:pt x="179452" y="522752"/>
                </a:cubicBezTo>
                <a:cubicBezTo>
                  <a:pt x="179452" y="522752"/>
                  <a:pt x="171651" y="530555"/>
                  <a:pt x="171651" y="530555"/>
                </a:cubicBezTo>
                <a:cubicBezTo>
                  <a:pt x="163848" y="530555"/>
                  <a:pt x="163848" y="530555"/>
                  <a:pt x="163848" y="530555"/>
                </a:cubicBezTo>
                <a:cubicBezTo>
                  <a:pt x="156046" y="522752"/>
                  <a:pt x="148243" y="514951"/>
                  <a:pt x="148243" y="507148"/>
                </a:cubicBezTo>
                <a:cubicBezTo>
                  <a:pt x="148243" y="374509"/>
                  <a:pt x="148243" y="374509"/>
                  <a:pt x="148243" y="374509"/>
                </a:cubicBezTo>
                <a:cubicBezTo>
                  <a:pt x="7803" y="319894"/>
                  <a:pt x="7803" y="319894"/>
                  <a:pt x="7803" y="319894"/>
                </a:cubicBezTo>
                <a:cubicBezTo>
                  <a:pt x="0" y="312091"/>
                  <a:pt x="0" y="312091"/>
                  <a:pt x="0" y="304289"/>
                </a:cubicBezTo>
                <a:cubicBezTo>
                  <a:pt x="0" y="296487"/>
                  <a:pt x="0" y="288685"/>
                  <a:pt x="7803" y="280882"/>
                </a:cubicBezTo>
                <a:cubicBezTo>
                  <a:pt x="499346" y="0"/>
                  <a:pt x="499346" y="0"/>
                  <a:pt x="499346" y="0"/>
                </a:cubicBezTo>
                <a:cubicBezTo>
                  <a:pt x="507148" y="0"/>
                  <a:pt x="514951" y="0"/>
                  <a:pt x="522752" y="0"/>
                </a:cubicBezTo>
                <a:cubicBezTo>
                  <a:pt x="530555" y="7803"/>
                  <a:pt x="530555" y="15604"/>
                  <a:pt x="530555" y="23407"/>
                </a:cubicBezTo>
                <a:close/>
                <a:moveTo>
                  <a:pt x="483742" y="54616"/>
                </a:moveTo>
                <a:cubicBezTo>
                  <a:pt x="62418" y="296487"/>
                  <a:pt x="62418" y="296487"/>
                  <a:pt x="62418" y="296487"/>
                </a:cubicBezTo>
                <a:cubicBezTo>
                  <a:pt x="156046" y="335498"/>
                  <a:pt x="156046" y="335498"/>
                  <a:pt x="156046" y="335498"/>
                </a:cubicBezTo>
                <a:cubicBezTo>
                  <a:pt x="413521" y="148243"/>
                  <a:pt x="413521" y="148243"/>
                  <a:pt x="413521" y="148243"/>
                </a:cubicBezTo>
                <a:cubicBezTo>
                  <a:pt x="273079" y="382312"/>
                  <a:pt x="273079" y="382312"/>
                  <a:pt x="273079" y="382312"/>
                </a:cubicBezTo>
                <a:cubicBezTo>
                  <a:pt x="421322" y="444730"/>
                  <a:pt x="421322" y="444730"/>
                  <a:pt x="421322" y="444730"/>
                </a:cubicBezTo>
                <a:lnTo>
                  <a:pt x="483742" y="54616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3848100" y="2374900"/>
            <a:ext cx="495300" cy="5207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4358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5676900" y="2374900"/>
            <a:ext cx="495300" cy="5207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18B29D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7493000" y="2374900"/>
            <a:ext cx="495300" cy="5207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4358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9296400" y="2374900"/>
            <a:ext cx="495300" cy="5207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18B29D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1549400" y="4597400"/>
            <a:ext cx="1968500" cy="330200"/>
          </a:xfrm>
          <a:prstGeom prst="rect">
            <a:avLst/>
          </a:prstGeom>
          <a:noFill/>
          <a:ln w="13382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101600" bIns="10160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400">
                <a:solidFill>
                  <a:srgbClr val="004358"/>
                </a:solidFill>
                <a:latin typeface="微软雅黑"/>
                <a:ea typeface="微软雅黑"/>
                <a:cs typeface="微软雅黑"/>
                <a:sym typeface="微软雅黑"/>
              </a:rPr>
              <a:t>01 需求调研与规划</a:t>
            </a:r>
            <a:endParaRPr lang="en-US" sz="1100"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1549400" y="5080000"/>
            <a:ext cx="1968500" cy="1016000"/>
          </a:xfrm>
          <a:prstGeom prst="rect">
            <a:avLst/>
          </a:prstGeom>
          <a:noFill/>
          <a:ln w="13382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595959"/>
                </a:solidFill>
                <a:latin typeface="Noto Sans SC"/>
                <a:ea typeface="Noto Sans SC"/>
                <a:cs typeface="Noto Sans SC"/>
                <a:sym typeface="Noto Sans SC"/>
              </a:rPr>
              <a:t>深入调研文献计量学研究场景需求，梳理业务痛点，明确功能开发的优先级排序，为项目确立清晰的核心目标与方向。</a:t>
            </a:r>
            <a:endParaRPr lang="en-US" sz="1100"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4241800" y="4597400"/>
            <a:ext cx="1968500" cy="330200"/>
          </a:xfrm>
          <a:prstGeom prst="rect">
            <a:avLst/>
          </a:prstGeom>
          <a:noFill/>
          <a:ln w="13382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101600" bIns="10160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400">
                <a:solidFill>
                  <a:srgbClr val="18B29D"/>
                </a:solidFill>
                <a:latin typeface="微软雅黑"/>
                <a:ea typeface="微软雅黑"/>
                <a:cs typeface="微软雅黑"/>
                <a:sym typeface="微软雅黑"/>
              </a:rPr>
              <a:t>02 基础框架搭建</a:t>
            </a:r>
            <a:endParaRPr lang="en-US" sz="1100"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4241800" y="5080000"/>
            <a:ext cx="1968500" cy="1016000"/>
          </a:xfrm>
          <a:prstGeom prst="rect">
            <a:avLst/>
          </a:prstGeom>
          <a:noFill/>
          <a:ln w="13382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595959"/>
                </a:solidFill>
                <a:latin typeface="Noto Sans SC"/>
                <a:ea typeface="Noto Sans SC"/>
                <a:cs typeface="Noto Sans SC"/>
                <a:sym typeface="Noto Sans SC"/>
              </a:rPr>
              <a:t>完成数据采集模块原型开发，搭建GitHub代码仓库实现版本管理，制定统一的代码规范与团队协作流程，夯实项目开发基础。</a:t>
            </a:r>
            <a:endParaRPr lang="en-US" sz="1100"/>
          </a:p>
        </p:txBody>
      </p:sp>
      <p:sp>
        <p:nvSpPr>
          <p:cNvPr name="AutoShape 30" id="30"/>
          <p:cNvSpPr/>
          <p:nvPr/>
        </p:nvSpPr>
        <p:spPr>
          <a:xfrm rot="0" flipH="false" flipV="false">
            <a:off x="6083300" y="4597400"/>
            <a:ext cx="1968500" cy="330200"/>
          </a:xfrm>
          <a:prstGeom prst="rect">
            <a:avLst/>
          </a:prstGeom>
          <a:noFill/>
          <a:ln w="13382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101600" bIns="10160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400">
                <a:solidFill>
                  <a:srgbClr val="004358"/>
                </a:solidFill>
                <a:latin typeface="微软雅黑"/>
                <a:ea typeface="微软雅黑"/>
                <a:cs typeface="微软雅黑"/>
                <a:sym typeface="微软雅黑"/>
              </a:rPr>
              <a:t>03 核心算法研发</a:t>
            </a:r>
            <a:endParaRPr lang="en-US" sz="1100"/>
          </a:p>
        </p:txBody>
      </p:sp>
      <p:sp>
        <p:nvSpPr>
          <p:cNvPr name="AutoShape 31" id="31"/>
          <p:cNvSpPr/>
          <p:nvPr/>
        </p:nvSpPr>
        <p:spPr>
          <a:xfrm rot="0" flipH="false" flipV="false">
            <a:off x="6083300" y="5080000"/>
            <a:ext cx="1968500" cy="1016000"/>
          </a:xfrm>
          <a:prstGeom prst="rect">
            <a:avLst/>
          </a:prstGeom>
          <a:noFill/>
          <a:ln w="13382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595959"/>
                </a:solidFill>
                <a:latin typeface="Noto Sans SC"/>
                <a:ea typeface="Noto Sans SC"/>
                <a:cs typeface="Noto Sans SC"/>
                <a:sym typeface="Noto Sans SC"/>
              </a:rPr>
              <a:t>实现多源数据的标准化清洗与格式处理，研发适配业务场景的核心计量分析算法，构建稳定、高效的项目核心业务逻辑层。</a:t>
            </a:r>
            <a:endParaRPr lang="en-US" sz="1100"/>
          </a:p>
        </p:txBody>
      </p:sp>
      <p:sp>
        <p:nvSpPr>
          <p:cNvPr name="AutoShape 32" id="32"/>
          <p:cNvSpPr/>
          <p:nvPr/>
        </p:nvSpPr>
        <p:spPr>
          <a:xfrm rot="0" flipH="false" flipV="false">
            <a:off x="7937500" y="4597400"/>
            <a:ext cx="1968500" cy="330200"/>
          </a:xfrm>
          <a:prstGeom prst="rect">
            <a:avLst/>
          </a:prstGeom>
          <a:noFill/>
          <a:ln w="13382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101600" bIns="10160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400">
                <a:solidFill>
                  <a:srgbClr val="18B29D"/>
                </a:solidFill>
                <a:latin typeface="微软雅黑"/>
                <a:ea typeface="微软雅黑"/>
                <a:cs typeface="微软雅黑"/>
                <a:sym typeface="微软雅黑"/>
              </a:rPr>
              <a:t>04 可视化模块构建</a:t>
            </a:r>
            <a:endParaRPr lang="en-US" sz="1100"/>
          </a:p>
        </p:txBody>
      </p:sp>
      <p:sp>
        <p:nvSpPr>
          <p:cNvPr name="AutoShape 33" id="33"/>
          <p:cNvSpPr/>
          <p:nvPr/>
        </p:nvSpPr>
        <p:spPr>
          <a:xfrm rot="0" flipH="false" flipV="false">
            <a:off x="7937500" y="5080000"/>
            <a:ext cx="1968500" cy="1016000"/>
          </a:xfrm>
          <a:prstGeom prst="rect">
            <a:avLst/>
          </a:prstGeom>
          <a:noFill/>
          <a:ln w="13382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595959"/>
                </a:solidFill>
                <a:latin typeface="Noto Sans SC"/>
                <a:ea typeface="Noto Sans SC"/>
                <a:cs typeface="Noto Sans SC"/>
                <a:sym typeface="Noto Sans SC"/>
              </a:rPr>
              <a:t>开发基础数据可视化组件，支持折线、柱状、图谱等多维度图表展示，将复杂的计量分析数据转化为直观的视觉呈现形式。</a:t>
            </a:r>
            <a:endParaRPr lang="en-US" sz="1100"/>
          </a:p>
        </p:txBody>
      </p:sp>
      <p:sp>
        <p:nvSpPr>
          <p:cNvPr name="AutoShape 34" id="34"/>
          <p:cNvSpPr/>
          <p:nvPr/>
        </p:nvSpPr>
        <p:spPr>
          <a:xfrm rot="0" flipH="false" flipV="false">
            <a:off x="9779000" y="4597400"/>
            <a:ext cx="1968500" cy="330200"/>
          </a:xfrm>
          <a:prstGeom prst="rect">
            <a:avLst/>
          </a:prstGeom>
          <a:noFill/>
          <a:ln w="13382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101600" bIns="10160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400">
                <a:solidFill>
                  <a:srgbClr val="004358"/>
                </a:solidFill>
                <a:latin typeface="微软雅黑"/>
                <a:ea typeface="微软雅黑"/>
                <a:cs typeface="微软雅黑"/>
                <a:sym typeface="微软雅黑"/>
              </a:rPr>
              <a:t>05 优化与开源发布</a:t>
            </a:r>
            <a:endParaRPr lang="en-US" sz="1100"/>
          </a:p>
        </p:txBody>
      </p:sp>
      <p:sp>
        <p:nvSpPr>
          <p:cNvPr name="AutoShape 35" id="35"/>
          <p:cNvSpPr/>
          <p:nvPr/>
        </p:nvSpPr>
        <p:spPr>
          <a:xfrm rot="0" flipH="false" flipV="false">
            <a:off x="9779000" y="5080000"/>
            <a:ext cx="1968500" cy="1016000"/>
          </a:xfrm>
          <a:prstGeom prst="rect">
            <a:avLst/>
          </a:prstGeom>
          <a:noFill/>
          <a:ln w="13382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595959"/>
                </a:solidFill>
                <a:latin typeface="Noto Sans SC"/>
                <a:ea typeface="Noto Sans SC"/>
                <a:cs typeface="Noto Sans SC"/>
                <a:sym typeface="Noto Sans SC"/>
              </a:rPr>
              <a:t>优化数据采集效率与前端交互体验，支持自定义布局与数据导出功能，完成开源文档撰写与全面测试，实现项目开源共享。</a:t>
            </a:r>
            <a:endParaRPr lang="en-US" sz="1100"/>
          </a:p>
        </p:txBody>
      </p:sp>
      <p:sp>
        <p:nvSpPr>
          <p:cNvPr name="AutoShape 36" id="36"/>
          <p:cNvSpPr/>
          <p:nvPr/>
        </p:nvSpPr>
        <p:spPr>
          <a:xfrm rot="0" flipH="false" flipV="false">
            <a:off x="863600" y="228600"/>
            <a:ext cx="5080000" cy="495300"/>
          </a:xfrm>
          <a:prstGeom prst="rect">
            <a:avLst/>
          </a:prstGeom>
          <a:noFill/>
          <a:ln w="13382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3200">
                <a:solidFill>
                  <a:srgbClr val="004358"/>
                </a:solidFill>
                <a:latin typeface="微软雅黑"/>
                <a:ea typeface="微软雅黑"/>
                <a:cs typeface="微软雅黑"/>
                <a:sym typeface="微软雅黑"/>
              </a:rPr>
              <a:t>项目实施计划</a:t>
            </a:r>
            <a:endParaRPr lang="en-US" sz="1100"/>
          </a:p>
        </p:txBody>
      </p:sp>
      <p:sp>
        <p:nvSpPr>
          <p:cNvPr name="AutoShape 37" id="37"/>
          <p:cNvSpPr/>
          <p:nvPr/>
        </p:nvSpPr>
        <p:spPr>
          <a:xfrm rot="0" flipH="false" flipV="false">
            <a:off x="863600" y="749300"/>
            <a:ext cx="5080000" cy="215900"/>
          </a:xfrm>
          <a:prstGeom prst="rect">
            <a:avLst/>
          </a:prstGeom>
          <a:noFill/>
          <a:ln w="13382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646464"/>
                </a:solidFill>
                <a:latin typeface="Arial"/>
                <a:ea typeface="Arial"/>
                <a:cs typeface="Arial"/>
                <a:sym typeface="Arial"/>
              </a:rPr>
              <a:t>PROJECT IMPLEMENTATION PLAN &amp; DEVELOPMENT ROADMAP</a:t>
            </a:r>
            <a:endParaRPr lang="en-US" sz="1100"/>
          </a:p>
        </p:txBody>
      </p:sp>
      <p:pic>
        <p:nvPicPr>
          <p:cNvPr name="Picture 38" id="38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11734800" y="6134100"/>
            <a:ext cx="1168400" cy="10922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rot="0" flipH="false" flipV="false">
            <a:off x="2160615" y="2605115"/>
            <a:ext cx="1676335" cy="1676335"/>
          </a:xfrm>
          <a:custGeom>
            <a:avLst/>
            <a:gdLst/>
            <a:ahLst/>
            <a:cxnLst/>
            <a:rect r="r" b="b" t="t" l="l"/>
            <a:pathLst>
              <a:path h="1676335" w="1676335">
                <a:moveTo>
                  <a:pt x="1378151" y="298184"/>
                </a:moveTo>
                <a:cubicBezTo>
                  <a:pt x="1676336" y="596446"/>
                  <a:pt x="1676336" y="1079889"/>
                  <a:pt x="1378151" y="1378151"/>
                </a:cubicBezTo>
                <a:cubicBezTo>
                  <a:pt x="1079889" y="1676336"/>
                  <a:pt x="596368" y="1676336"/>
                  <a:pt x="298184" y="1378151"/>
                </a:cubicBezTo>
                <a:cubicBezTo>
                  <a:pt x="0" y="1079889"/>
                  <a:pt x="0" y="596446"/>
                  <a:pt x="298184" y="298184"/>
                </a:cubicBezTo>
                <a:cubicBezTo>
                  <a:pt x="596368" y="0"/>
                  <a:pt x="1079889" y="0"/>
                  <a:pt x="1378151" y="298184"/>
                </a:cubicBezTo>
              </a:path>
            </a:pathLst>
          </a:custGeom>
          <a:solidFill>
            <a:srgbClr val="F1F2F1">
              <a:alpha val="100000"/>
            </a:srgbClr>
          </a:solidFill>
          <a:ln w="25400" cmpd="sng" cap="flat">
            <a:solidFill>
              <a:srgbClr val="000000">
                <a:alpha val="0"/>
              </a:srgbClr>
            </a:solidFill>
            <a:prstDash val="solid"/>
            <a:miter lim="8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3" id="3"/>
          <p:cNvSpPr/>
          <p:nvPr/>
        </p:nvSpPr>
        <p:spPr>
          <a:xfrm rot="0" flipH="false" flipV="false">
            <a:off x="2108200" y="4711700"/>
            <a:ext cx="1780177" cy="215444"/>
          </a:xfrm>
          <a:custGeom>
            <a:avLst/>
            <a:gdLst/>
            <a:ahLst/>
            <a:cxnLst/>
            <a:rect r="r" b="b" t="t" l="l"/>
            <a:pathLst>
              <a:path h="215444" w="1780177">
                <a:moveTo>
                  <a:pt x="0" y="0"/>
                </a:moveTo>
                <a:lnTo>
                  <a:pt x="1780177" y="0"/>
                </a:lnTo>
                <a:lnTo>
                  <a:pt x="1780177" y="215444"/>
                </a:lnTo>
                <a:lnTo>
                  <a:pt x="0" y="215444"/>
                </a:lnTo>
                <a:close/>
              </a:path>
            </a:pathLst>
          </a:cu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1400">
                <a:solidFill>
                  <a:srgbClr val="004358"/>
                </a:solidFill>
                <a:latin typeface="微软雅黑"/>
                <a:ea typeface="微软雅黑"/>
                <a:cs typeface="微软雅黑"/>
                <a:sym typeface="微软雅黑"/>
              </a:rPr>
              <a:t>01 权威学术数据库</a:t>
            </a:r>
            <a:endParaRPr lang="en-US" sz="1100"/>
          </a:p>
        </p:txBody>
      </p:sp>
      <p:sp>
        <p:nvSpPr>
          <p:cNvPr name="Freeform 4" id="4"/>
          <p:cNvSpPr/>
          <p:nvPr/>
        </p:nvSpPr>
        <p:spPr>
          <a:xfrm rot="0" flipH="false" flipV="false">
            <a:off x="2108200" y="4953000"/>
            <a:ext cx="1780177" cy="429585"/>
          </a:xfrm>
          <a:custGeom>
            <a:avLst/>
            <a:gdLst/>
            <a:ahLst/>
            <a:cxnLst/>
            <a:rect r="r" b="b" t="t" l="l"/>
            <a:pathLst>
              <a:path h="429585" w="1780177">
                <a:moveTo>
                  <a:pt x="0" y="0"/>
                </a:moveTo>
                <a:lnTo>
                  <a:pt x="1780177" y="0"/>
                </a:lnTo>
                <a:lnTo>
                  <a:pt x="1780177" y="429585"/>
                </a:lnTo>
                <a:lnTo>
                  <a:pt x="0" y="429585"/>
                </a:lnTo>
                <a:close/>
              </a:path>
            </a:pathLst>
          </a:custGeom>
          <a:noFill/>
          <a:ln w="254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595959"/>
                </a:solidFill>
                <a:latin typeface="Noto Sans SC"/>
                <a:ea typeface="Noto Sans SC"/>
                <a:cs typeface="Noto Sans SC"/>
                <a:sym typeface="Noto Sans SC"/>
              </a:rPr>
              <a:t>整合CNKI、Web of Science(WOS)及OpenAlex等核心数据库，通过官方API接口获取标准化、高质量的原始文献数据，筑牢数据源的学术权威性与全面性。</a:t>
            </a:r>
            <a:endParaRPr lang="en-US" sz="1100"/>
          </a:p>
        </p:txBody>
      </p:sp>
      <p:sp>
        <p:nvSpPr>
          <p:cNvPr name="Freeform 5" id="5"/>
          <p:cNvSpPr/>
          <p:nvPr/>
        </p:nvSpPr>
        <p:spPr>
          <a:xfrm rot="0" flipH="false" flipV="false">
            <a:off x="4497451" y="2605115"/>
            <a:ext cx="1675519" cy="1676335"/>
          </a:xfrm>
          <a:custGeom>
            <a:avLst/>
            <a:gdLst/>
            <a:ahLst/>
            <a:cxnLst/>
            <a:rect r="r" b="b" t="t" l="l"/>
            <a:pathLst>
              <a:path h="1676335" w="1675519">
                <a:moveTo>
                  <a:pt x="1377480" y="298184"/>
                </a:moveTo>
                <a:cubicBezTo>
                  <a:pt x="1675519" y="596446"/>
                  <a:pt x="1675519" y="1079889"/>
                  <a:pt x="1377480" y="1378151"/>
                </a:cubicBezTo>
                <a:cubicBezTo>
                  <a:pt x="1079363" y="1676336"/>
                  <a:pt x="596156" y="1676336"/>
                  <a:pt x="298040" y="1378151"/>
                </a:cubicBezTo>
                <a:cubicBezTo>
                  <a:pt x="0" y="1079889"/>
                  <a:pt x="0" y="596446"/>
                  <a:pt x="298040" y="298184"/>
                </a:cubicBezTo>
                <a:cubicBezTo>
                  <a:pt x="596156" y="0"/>
                  <a:pt x="1079363" y="0"/>
                  <a:pt x="1377480" y="298184"/>
                </a:cubicBezTo>
              </a:path>
            </a:pathLst>
          </a:custGeom>
          <a:solidFill>
            <a:srgbClr val="F1F2F1">
              <a:alpha val="100000"/>
            </a:srgbClr>
          </a:solidFill>
          <a:ln w="25400" cmpd="sng" cap="flat">
            <a:solidFill>
              <a:srgbClr val="000000">
                <a:alpha val="0"/>
              </a:srgbClr>
            </a:solidFill>
            <a:prstDash val="solid"/>
            <a:miter lim="8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6" id="6"/>
          <p:cNvSpPr/>
          <p:nvPr/>
        </p:nvSpPr>
        <p:spPr>
          <a:xfrm rot="0" flipH="false" flipV="false">
            <a:off x="4445000" y="4711700"/>
            <a:ext cx="1780177" cy="215444"/>
          </a:xfrm>
          <a:custGeom>
            <a:avLst/>
            <a:gdLst/>
            <a:ahLst/>
            <a:cxnLst/>
            <a:rect r="r" b="b" t="t" l="l"/>
            <a:pathLst>
              <a:path h="215444" w="1780177">
                <a:moveTo>
                  <a:pt x="0" y="0"/>
                </a:moveTo>
                <a:lnTo>
                  <a:pt x="1780177" y="0"/>
                </a:lnTo>
                <a:lnTo>
                  <a:pt x="1780177" y="215444"/>
                </a:lnTo>
                <a:lnTo>
                  <a:pt x="0" y="215444"/>
                </a:lnTo>
                <a:close/>
              </a:path>
            </a:pathLst>
          </a:cu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1400">
                <a:solidFill>
                  <a:srgbClr val="18B29D"/>
                </a:solidFill>
                <a:latin typeface="微软雅黑"/>
                <a:ea typeface="微软雅黑"/>
                <a:cs typeface="微软雅黑"/>
                <a:sym typeface="微软雅黑"/>
              </a:rPr>
              <a:t>02 基准测试数据集</a:t>
            </a:r>
            <a:endParaRPr lang="en-US" sz="1100"/>
          </a:p>
        </p:txBody>
      </p:sp>
      <p:sp>
        <p:nvSpPr>
          <p:cNvPr name="Freeform 7" id="7"/>
          <p:cNvSpPr/>
          <p:nvPr/>
        </p:nvSpPr>
        <p:spPr>
          <a:xfrm rot="0" flipH="false" flipV="false">
            <a:off x="4445000" y="4953000"/>
            <a:ext cx="1780177" cy="429585"/>
          </a:xfrm>
          <a:custGeom>
            <a:avLst/>
            <a:gdLst/>
            <a:ahLst/>
            <a:cxnLst/>
            <a:rect r="r" b="b" t="t" l="l"/>
            <a:pathLst>
              <a:path h="429585" w="1780177">
                <a:moveTo>
                  <a:pt x="0" y="0"/>
                </a:moveTo>
                <a:lnTo>
                  <a:pt x="1780177" y="0"/>
                </a:lnTo>
                <a:lnTo>
                  <a:pt x="1780177" y="429585"/>
                </a:lnTo>
                <a:lnTo>
                  <a:pt x="0" y="429585"/>
                </a:lnTo>
                <a:close/>
              </a:path>
            </a:pathLst>
          </a:custGeom>
          <a:noFill/>
          <a:ln w="254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595959"/>
                </a:solidFill>
                <a:latin typeface="Noto Sans SC"/>
                <a:ea typeface="Noto Sans SC"/>
                <a:cs typeface="Noto Sans SC"/>
                <a:sym typeface="Noto Sans SC"/>
              </a:rPr>
              <a:t>采用领域内公认的公开文献计量学基准数据集，构建标准化测试环境，从准确率、召回率等维度全方位验证算法模型的有效性与稳定性。</a:t>
            </a:r>
            <a:endParaRPr lang="en-US" sz="1100"/>
          </a:p>
        </p:txBody>
      </p:sp>
      <p:sp>
        <p:nvSpPr>
          <p:cNvPr name="Freeform 8" id="8"/>
          <p:cNvSpPr/>
          <p:nvPr/>
        </p:nvSpPr>
        <p:spPr>
          <a:xfrm rot="0" flipH="false" flipV="false">
            <a:off x="6770715" y="2605115"/>
            <a:ext cx="1676335" cy="1676335"/>
          </a:xfrm>
          <a:custGeom>
            <a:avLst/>
            <a:gdLst/>
            <a:ahLst/>
            <a:cxnLst/>
            <a:rect r="r" b="b" t="t" l="l"/>
            <a:pathLst>
              <a:path h="1676335" w="1676335">
                <a:moveTo>
                  <a:pt x="1378151" y="298184"/>
                </a:moveTo>
                <a:cubicBezTo>
                  <a:pt x="1676336" y="596446"/>
                  <a:pt x="1676336" y="1079889"/>
                  <a:pt x="1378151" y="1378151"/>
                </a:cubicBezTo>
                <a:cubicBezTo>
                  <a:pt x="1079889" y="1676336"/>
                  <a:pt x="596446" y="1676336"/>
                  <a:pt x="298184" y="1378151"/>
                </a:cubicBezTo>
                <a:cubicBezTo>
                  <a:pt x="0" y="1079889"/>
                  <a:pt x="0" y="596446"/>
                  <a:pt x="298184" y="298184"/>
                </a:cubicBezTo>
                <a:cubicBezTo>
                  <a:pt x="596446" y="0"/>
                  <a:pt x="1079889" y="0"/>
                  <a:pt x="1378151" y="298184"/>
                </a:cubicBezTo>
              </a:path>
            </a:pathLst>
          </a:custGeom>
          <a:solidFill>
            <a:srgbClr val="F1F2F1">
              <a:alpha val="100000"/>
            </a:srgbClr>
          </a:solidFill>
          <a:ln w="25400" cmpd="sng" cap="flat">
            <a:solidFill>
              <a:srgbClr val="000000">
                <a:alpha val="0"/>
              </a:srgbClr>
            </a:solidFill>
            <a:prstDash val="solid"/>
            <a:miter lim="8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9" id="9"/>
          <p:cNvSpPr/>
          <p:nvPr/>
        </p:nvSpPr>
        <p:spPr>
          <a:xfrm rot="0" flipH="false" flipV="false">
            <a:off x="6718300" y="4711700"/>
            <a:ext cx="1780177" cy="215444"/>
          </a:xfrm>
          <a:custGeom>
            <a:avLst/>
            <a:gdLst/>
            <a:ahLst/>
            <a:cxnLst/>
            <a:rect r="r" b="b" t="t" l="l"/>
            <a:pathLst>
              <a:path h="215444" w="1780177">
                <a:moveTo>
                  <a:pt x="0" y="0"/>
                </a:moveTo>
                <a:lnTo>
                  <a:pt x="1780177" y="0"/>
                </a:lnTo>
                <a:lnTo>
                  <a:pt x="1780177" y="215444"/>
                </a:lnTo>
                <a:lnTo>
                  <a:pt x="0" y="215444"/>
                </a:lnTo>
                <a:close/>
              </a:path>
            </a:pathLst>
          </a:cu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1400">
                <a:solidFill>
                  <a:srgbClr val="004358"/>
                </a:solidFill>
                <a:latin typeface="微软雅黑"/>
                <a:ea typeface="微软雅黑"/>
                <a:cs typeface="微软雅黑"/>
                <a:sym typeface="微软雅黑"/>
              </a:rPr>
              <a:t>03 用户自定义数据</a:t>
            </a:r>
            <a:endParaRPr lang="en-US" sz="1100"/>
          </a:p>
        </p:txBody>
      </p:sp>
      <p:sp>
        <p:nvSpPr>
          <p:cNvPr name="Freeform 10" id="10"/>
          <p:cNvSpPr/>
          <p:nvPr/>
        </p:nvSpPr>
        <p:spPr>
          <a:xfrm rot="0" flipH="false" flipV="false">
            <a:off x="6718300" y="4953000"/>
            <a:ext cx="1780177" cy="429585"/>
          </a:xfrm>
          <a:custGeom>
            <a:avLst/>
            <a:gdLst/>
            <a:ahLst/>
            <a:cxnLst/>
            <a:rect r="r" b="b" t="t" l="l"/>
            <a:pathLst>
              <a:path h="429585" w="1780177">
                <a:moveTo>
                  <a:pt x="0" y="0"/>
                </a:moveTo>
                <a:lnTo>
                  <a:pt x="1780177" y="0"/>
                </a:lnTo>
                <a:lnTo>
                  <a:pt x="1780177" y="429585"/>
                </a:lnTo>
                <a:lnTo>
                  <a:pt x="0" y="429585"/>
                </a:lnTo>
                <a:close/>
              </a:path>
            </a:pathLst>
          </a:custGeom>
          <a:noFill/>
          <a:ln w="254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595959"/>
                </a:solidFill>
                <a:latin typeface="Noto Sans SC"/>
                <a:ea typeface="Noto Sans SC"/>
                <a:cs typeface="Noto Sans SC"/>
                <a:sym typeface="Noto Sans SC"/>
              </a:rPr>
              <a:t>系统支持CSV、Excel等本地格式数据上传，允许用户导入私有文献库与项目数据，实现贴合实际研究场景的个性化、定制化深度分析。</a:t>
            </a:r>
            <a:endParaRPr lang="en-US" sz="1100"/>
          </a:p>
        </p:txBody>
      </p:sp>
      <p:sp>
        <p:nvSpPr>
          <p:cNvPr name="Freeform 11" id="11"/>
          <p:cNvSpPr/>
          <p:nvPr/>
        </p:nvSpPr>
        <p:spPr>
          <a:xfrm rot="0" flipH="false" flipV="false">
            <a:off x="9018615" y="2592415"/>
            <a:ext cx="1676335" cy="1676335"/>
          </a:xfrm>
          <a:custGeom>
            <a:avLst/>
            <a:gdLst/>
            <a:ahLst/>
            <a:cxnLst/>
            <a:rect r="r" b="b" t="t" l="l"/>
            <a:pathLst>
              <a:path h="1676335" w="1676335">
                <a:moveTo>
                  <a:pt x="1378151" y="298184"/>
                </a:moveTo>
                <a:cubicBezTo>
                  <a:pt x="1676336" y="596446"/>
                  <a:pt x="1676336" y="1079889"/>
                  <a:pt x="1378151" y="1378151"/>
                </a:cubicBezTo>
                <a:cubicBezTo>
                  <a:pt x="1079889" y="1676336"/>
                  <a:pt x="596446" y="1676336"/>
                  <a:pt x="298184" y="1378151"/>
                </a:cubicBezTo>
                <a:cubicBezTo>
                  <a:pt x="0" y="1079889"/>
                  <a:pt x="0" y="596446"/>
                  <a:pt x="298184" y="298184"/>
                </a:cubicBezTo>
                <a:cubicBezTo>
                  <a:pt x="596446" y="0"/>
                  <a:pt x="1079889" y="0"/>
                  <a:pt x="1378151" y="298184"/>
                </a:cubicBezTo>
              </a:path>
            </a:pathLst>
          </a:custGeom>
          <a:solidFill>
            <a:srgbClr val="F1F2F1">
              <a:alpha val="100000"/>
            </a:srgbClr>
          </a:solidFill>
          <a:ln w="25400" cmpd="sng" cap="flat">
            <a:solidFill>
              <a:srgbClr val="000000">
                <a:alpha val="0"/>
              </a:srgbClr>
            </a:solidFill>
            <a:prstDash val="solid"/>
            <a:miter lim="8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12" id="12"/>
          <p:cNvSpPr/>
          <p:nvPr/>
        </p:nvSpPr>
        <p:spPr>
          <a:xfrm rot="0" flipH="false" flipV="false">
            <a:off x="8966200" y="4711700"/>
            <a:ext cx="1780177" cy="215444"/>
          </a:xfrm>
          <a:custGeom>
            <a:avLst/>
            <a:gdLst/>
            <a:ahLst/>
            <a:cxnLst/>
            <a:rect r="r" b="b" t="t" l="l"/>
            <a:pathLst>
              <a:path h="215444" w="1780177">
                <a:moveTo>
                  <a:pt x="0" y="0"/>
                </a:moveTo>
                <a:lnTo>
                  <a:pt x="1780177" y="0"/>
                </a:lnTo>
                <a:lnTo>
                  <a:pt x="1780177" y="215444"/>
                </a:lnTo>
                <a:lnTo>
                  <a:pt x="0" y="215444"/>
                </a:lnTo>
                <a:close/>
              </a:path>
            </a:pathLst>
          </a:cu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1400">
                <a:solidFill>
                  <a:srgbClr val="18B29D"/>
                </a:solidFill>
                <a:latin typeface="微软雅黑"/>
                <a:ea typeface="微软雅黑"/>
                <a:cs typeface="微软雅黑"/>
                <a:sym typeface="微软雅黑"/>
              </a:rPr>
              <a:t>04 全流程质量管控</a:t>
            </a:r>
            <a:endParaRPr lang="en-US" sz="1100"/>
          </a:p>
        </p:txBody>
      </p:sp>
      <p:sp>
        <p:nvSpPr>
          <p:cNvPr name="Freeform 13" id="13"/>
          <p:cNvSpPr/>
          <p:nvPr/>
        </p:nvSpPr>
        <p:spPr>
          <a:xfrm rot="0" flipH="false" flipV="false">
            <a:off x="8966200" y="4953000"/>
            <a:ext cx="1780177" cy="429585"/>
          </a:xfrm>
          <a:custGeom>
            <a:avLst/>
            <a:gdLst/>
            <a:ahLst/>
            <a:cxnLst/>
            <a:rect r="r" b="b" t="t" l="l"/>
            <a:pathLst>
              <a:path h="429585" w="1780177">
                <a:moveTo>
                  <a:pt x="0" y="0"/>
                </a:moveTo>
                <a:lnTo>
                  <a:pt x="1780177" y="0"/>
                </a:lnTo>
                <a:lnTo>
                  <a:pt x="1780177" y="429585"/>
                </a:lnTo>
                <a:lnTo>
                  <a:pt x="0" y="429585"/>
                </a:lnTo>
                <a:close/>
              </a:path>
            </a:pathLst>
          </a:custGeom>
          <a:noFill/>
          <a:ln w="254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595959"/>
                </a:solidFill>
                <a:latin typeface="Noto Sans SC"/>
                <a:ea typeface="Noto Sans SC"/>
                <a:cs typeface="Noto Sans SC"/>
                <a:sym typeface="Noto Sans SC"/>
              </a:rPr>
              <a:t>建立数据清洗、去重与标准化预处理机制，结合自动化校验与人工复核流程，剔除噪声数据，确保分析样本的纯净度与数据一致性。</a:t>
            </a:r>
            <a:endParaRPr lang="en-US" sz="1100"/>
          </a:p>
        </p:txBody>
      </p:sp>
      <p:sp>
        <p:nvSpPr>
          <p:cNvPr name="Freeform 14" id="14"/>
          <p:cNvSpPr/>
          <p:nvPr/>
        </p:nvSpPr>
        <p:spPr>
          <a:xfrm rot="0" flipH="false" flipV="false">
            <a:off x="5141271" y="3238500"/>
            <a:ext cx="422190" cy="417812"/>
          </a:xfrm>
          <a:custGeom>
            <a:avLst/>
            <a:gdLst/>
            <a:ahLst/>
            <a:cxnLst/>
            <a:rect r="r" b="b" t="t" l="l"/>
            <a:pathLst>
              <a:path h="417812" w="422190">
                <a:moveTo>
                  <a:pt x="413414" y="359876"/>
                </a:moveTo>
                <a:cubicBezTo>
                  <a:pt x="421584" y="372585"/>
                  <a:pt x="422190" y="385371"/>
                  <a:pt x="415330" y="398216"/>
                </a:cubicBezTo>
                <a:cubicBezTo>
                  <a:pt x="412105" y="404580"/>
                  <a:pt x="407453" y="409475"/>
                  <a:pt x="401511" y="412763"/>
                </a:cubicBezTo>
                <a:cubicBezTo>
                  <a:pt x="395548" y="416168"/>
                  <a:pt x="389195" y="417812"/>
                  <a:pt x="382510" y="417812"/>
                </a:cubicBezTo>
                <a:lnTo>
                  <a:pt x="39915" y="417812"/>
                </a:lnTo>
                <a:cubicBezTo>
                  <a:pt x="33211" y="417812"/>
                  <a:pt x="26917" y="416168"/>
                  <a:pt x="21091" y="412763"/>
                </a:cubicBezTo>
                <a:cubicBezTo>
                  <a:pt x="15188" y="409475"/>
                  <a:pt x="10536" y="404580"/>
                  <a:pt x="7077" y="398216"/>
                </a:cubicBezTo>
                <a:cubicBezTo>
                  <a:pt x="0" y="385216"/>
                  <a:pt x="666" y="372373"/>
                  <a:pt x="8954" y="359876"/>
                </a:cubicBezTo>
                <a:lnTo>
                  <a:pt x="149005" y="141463"/>
                </a:lnTo>
                <a:lnTo>
                  <a:pt x="149005" y="41919"/>
                </a:lnTo>
                <a:lnTo>
                  <a:pt x="127856" y="41919"/>
                </a:lnTo>
                <a:cubicBezTo>
                  <a:pt x="121893" y="41919"/>
                  <a:pt x="116968" y="39868"/>
                  <a:pt x="113059" y="35786"/>
                </a:cubicBezTo>
                <a:cubicBezTo>
                  <a:pt x="109209" y="31685"/>
                  <a:pt x="107215" y="26694"/>
                  <a:pt x="107215" y="20737"/>
                </a:cubicBezTo>
                <a:cubicBezTo>
                  <a:pt x="107215" y="15050"/>
                  <a:pt x="109209" y="10213"/>
                  <a:pt x="113059" y="6190"/>
                </a:cubicBezTo>
                <a:cubicBezTo>
                  <a:pt x="116968" y="2089"/>
                  <a:pt x="121893" y="0"/>
                  <a:pt x="127856" y="0"/>
                </a:cubicBezTo>
                <a:lnTo>
                  <a:pt x="294512" y="0"/>
                </a:lnTo>
                <a:cubicBezTo>
                  <a:pt x="300513" y="0"/>
                  <a:pt x="305496" y="2089"/>
                  <a:pt x="309582" y="6190"/>
                </a:cubicBezTo>
                <a:cubicBezTo>
                  <a:pt x="313667" y="10213"/>
                  <a:pt x="315720" y="15050"/>
                  <a:pt x="315720" y="20737"/>
                </a:cubicBezTo>
                <a:cubicBezTo>
                  <a:pt x="315720" y="26694"/>
                  <a:pt x="313667" y="31685"/>
                  <a:pt x="309582" y="35786"/>
                </a:cubicBezTo>
                <a:cubicBezTo>
                  <a:pt x="305496" y="39868"/>
                  <a:pt x="300513" y="41919"/>
                  <a:pt x="294512" y="41919"/>
                </a:cubicBezTo>
                <a:lnTo>
                  <a:pt x="273929" y="41919"/>
                </a:lnTo>
                <a:lnTo>
                  <a:pt x="273929" y="141966"/>
                </a:lnTo>
                <a:lnTo>
                  <a:pt x="413414" y="359876"/>
                </a:lnTo>
                <a:close/>
                <a:moveTo>
                  <a:pt x="105065" y="287550"/>
                </a:moveTo>
                <a:lnTo>
                  <a:pt x="317362" y="287550"/>
                </a:lnTo>
                <a:lnTo>
                  <a:pt x="232353" y="154249"/>
                </a:lnTo>
                <a:lnTo>
                  <a:pt x="232353" y="41919"/>
                </a:lnTo>
                <a:lnTo>
                  <a:pt x="190562" y="41919"/>
                </a:lnTo>
                <a:lnTo>
                  <a:pt x="190562" y="153727"/>
                </a:lnTo>
                <a:lnTo>
                  <a:pt x="105065" y="287550"/>
                </a:lnTo>
                <a:close/>
              </a:path>
            </a:pathLst>
          </a:custGeom>
          <a:solidFill>
            <a:srgbClr val="18B29D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15" id="15"/>
          <p:cNvSpPr/>
          <p:nvPr/>
        </p:nvSpPr>
        <p:spPr>
          <a:xfrm rot="0" flipH="false" flipV="false">
            <a:off x="7442200" y="3200400"/>
            <a:ext cx="417831" cy="418219"/>
          </a:xfrm>
          <a:custGeom>
            <a:avLst/>
            <a:gdLst/>
            <a:ahLst/>
            <a:cxnLst/>
            <a:rect r="r" b="b" t="t" l="l"/>
            <a:pathLst>
              <a:path h="418219" w="417831">
                <a:moveTo>
                  <a:pt x="417831" y="181836"/>
                </a:moveTo>
                <a:cubicBezTo>
                  <a:pt x="417831" y="191441"/>
                  <a:pt x="415355" y="199843"/>
                  <a:pt x="410441" y="207124"/>
                </a:cubicBezTo>
                <a:cubicBezTo>
                  <a:pt x="405508" y="214385"/>
                  <a:pt x="399396" y="219052"/>
                  <a:pt x="391968" y="221259"/>
                </a:cubicBezTo>
                <a:lnTo>
                  <a:pt x="391968" y="321617"/>
                </a:lnTo>
                <a:cubicBezTo>
                  <a:pt x="391968" y="333041"/>
                  <a:pt x="388564" y="342877"/>
                  <a:pt x="381639" y="350990"/>
                </a:cubicBezTo>
                <a:cubicBezTo>
                  <a:pt x="374771" y="359181"/>
                  <a:pt x="366588" y="363209"/>
                  <a:pt x="357072" y="363209"/>
                </a:cubicBezTo>
                <a:cubicBezTo>
                  <a:pt x="346780" y="350893"/>
                  <a:pt x="334381" y="338946"/>
                  <a:pt x="319893" y="327309"/>
                </a:cubicBezTo>
                <a:cubicBezTo>
                  <a:pt x="305346" y="315712"/>
                  <a:pt x="289773" y="305081"/>
                  <a:pt x="273060" y="295361"/>
                </a:cubicBezTo>
                <a:cubicBezTo>
                  <a:pt x="256386" y="285699"/>
                  <a:pt x="239150" y="277354"/>
                  <a:pt x="221470" y="270480"/>
                </a:cubicBezTo>
                <a:cubicBezTo>
                  <a:pt x="203808" y="263606"/>
                  <a:pt x="186632" y="259056"/>
                  <a:pt x="169996" y="256887"/>
                </a:cubicBezTo>
                <a:cubicBezTo>
                  <a:pt x="163515" y="259056"/>
                  <a:pt x="158215" y="262637"/>
                  <a:pt x="154134" y="267749"/>
                </a:cubicBezTo>
                <a:cubicBezTo>
                  <a:pt x="150071" y="272861"/>
                  <a:pt x="147267" y="278554"/>
                  <a:pt x="145757" y="284751"/>
                </a:cubicBezTo>
                <a:cubicBezTo>
                  <a:pt x="144248" y="290985"/>
                  <a:pt x="144094" y="297414"/>
                  <a:pt x="145274" y="303958"/>
                </a:cubicBezTo>
                <a:cubicBezTo>
                  <a:pt x="146512" y="310483"/>
                  <a:pt x="149316" y="316389"/>
                  <a:pt x="153708" y="321617"/>
                </a:cubicBezTo>
                <a:cubicBezTo>
                  <a:pt x="149916" y="329014"/>
                  <a:pt x="148175" y="335887"/>
                  <a:pt x="148504" y="342200"/>
                </a:cubicBezTo>
                <a:cubicBezTo>
                  <a:pt x="148794" y="348395"/>
                  <a:pt x="150341" y="354476"/>
                  <a:pt x="153147" y="360265"/>
                </a:cubicBezTo>
                <a:cubicBezTo>
                  <a:pt x="155894" y="366113"/>
                  <a:pt x="159685" y="371631"/>
                  <a:pt x="164366" y="376975"/>
                </a:cubicBezTo>
                <a:cubicBezTo>
                  <a:pt x="169009" y="382320"/>
                  <a:pt x="174019" y="387664"/>
                  <a:pt x="179338" y="392892"/>
                </a:cubicBezTo>
                <a:cubicBezTo>
                  <a:pt x="176301" y="400733"/>
                  <a:pt x="171040" y="406639"/>
                  <a:pt x="163553" y="410724"/>
                </a:cubicBezTo>
                <a:cubicBezTo>
                  <a:pt x="156087" y="414810"/>
                  <a:pt x="148078" y="417095"/>
                  <a:pt x="139510" y="417657"/>
                </a:cubicBezTo>
                <a:cubicBezTo>
                  <a:pt x="130979" y="418219"/>
                  <a:pt x="122641" y="417270"/>
                  <a:pt x="114459" y="414810"/>
                </a:cubicBezTo>
                <a:cubicBezTo>
                  <a:pt x="106314" y="412313"/>
                  <a:pt x="99873" y="408402"/>
                  <a:pt x="95231" y="402941"/>
                </a:cubicBezTo>
                <a:cubicBezTo>
                  <a:pt x="92484" y="391923"/>
                  <a:pt x="89447" y="380615"/>
                  <a:pt x="86139" y="368959"/>
                </a:cubicBezTo>
                <a:cubicBezTo>
                  <a:pt x="82812" y="357303"/>
                  <a:pt x="80065" y="345491"/>
                  <a:pt x="77995" y="333506"/>
                </a:cubicBezTo>
                <a:cubicBezTo>
                  <a:pt x="75848" y="321404"/>
                  <a:pt x="74823" y="308896"/>
                  <a:pt x="74823" y="295883"/>
                </a:cubicBezTo>
                <a:cubicBezTo>
                  <a:pt x="74823" y="282988"/>
                  <a:pt x="76622" y="269240"/>
                  <a:pt x="80259" y="254679"/>
                </a:cubicBezTo>
                <a:lnTo>
                  <a:pt x="34897" y="254679"/>
                </a:lnTo>
                <a:cubicBezTo>
                  <a:pt x="25380" y="254679"/>
                  <a:pt x="17178" y="250652"/>
                  <a:pt x="10310" y="242462"/>
                </a:cubicBezTo>
                <a:cubicBezTo>
                  <a:pt x="3405" y="234291"/>
                  <a:pt x="0" y="224455"/>
                  <a:pt x="0" y="212797"/>
                </a:cubicBezTo>
                <a:lnTo>
                  <a:pt x="0" y="150527"/>
                </a:lnTo>
                <a:cubicBezTo>
                  <a:pt x="0" y="139103"/>
                  <a:pt x="3405" y="129267"/>
                  <a:pt x="10175" y="120921"/>
                </a:cubicBezTo>
                <a:cubicBezTo>
                  <a:pt x="16984" y="112672"/>
                  <a:pt x="25225" y="108529"/>
                  <a:pt x="34897" y="108529"/>
                </a:cubicBezTo>
                <a:lnTo>
                  <a:pt x="148021" y="108529"/>
                </a:lnTo>
                <a:cubicBezTo>
                  <a:pt x="165411" y="108529"/>
                  <a:pt x="183923" y="105508"/>
                  <a:pt x="203576" y="99428"/>
                </a:cubicBezTo>
                <a:cubicBezTo>
                  <a:pt x="223230" y="93349"/>
                  <a:pt x="242496" y="85178"/>
                  <a:pt x="261357" y="74992"/>
                </a:cubicBezTo>
                <a:cubicBezTo>
                  <a:pt x="280256" y="64710"/>
                  <a:pt x="298052" y="53132"/>
                  <a:pt x="314766" y="40100"/>
                </a:cubicBezTo>
                <a:cubicBezTo>
                  <a:pt x="331441" y="27205"/>
                  <a:pt x="345562" y="13806"/>
                  <a:pt x="357072" y="0"/>
                </a:cubicBezTo>
                <a:cubicBezTo>
                  <a:pt x="366588" y="0"/>
                  <a:pt x="374771" y="4144"/>
                  <a:pt x="381639" y="12257"/>
                </a:cubicBezTo>
                <a:cubicBezTo>
                  <a:pt x="388564" y="20447"/>
                  <a:pt x="391968" y="30342"/>
                  <a:pt x="391968" y="41920"/>
                </a:cubicBezTo>
                <a:lnTo>
                  <a:pt x="391968" y="142008"/>
                </a:lnTo>
                <a:cubicBezTo>
                  <a:pt x="399396" y="144156"/>
                  <a:pt x="405508" y="148939"/>
                  <a:pt x="410441" y="156258"/>
                </a:cubicBezTo>
                <a:cubicBezTo>
                  <a:pt x="415355" y="163694"/>
                  <a:pt x="417831" y="172232"/>
                  <a:pt x="417831" y="181836"/>
                </a:cubicBezTo>
                <a:moveTo>
                  <a:pt x="357072" y="55281"/>
                </a:moveTo>
                <a:cubicBezTo>
                  <a:pt x="345562" y="65969"/>
                  <a:pt x="333008" y="76309"/>
                  <a:pt x="319409" y="86183"/>
                </a:cubicBezTo>
                <a:cubicBezTo>
                  <a:pt x="305829" y="96078"/>
                  <a:pt x="291418" y="105005"/>
                  <a:pt x="276233" y="112963"/>
                </a:cubicBezTo>
                <a:cubicBezTo>
                  <a:pt x="261028" y="120921"/>
                  <a:pt x="245534" y="127950"/>
                  <a:pt x="229768" y="134048"/>
                </a:cubicBezTo>
                <a:cubicBezTo>
                  <a:pt x="213945" y="140129"/>
                  <a:pt x="198373" y="144485"/>
                  <a:pt x="182936" y="147216"/>
                </a:cubicBezTo>
                <a:lnTo>
                  <a:pt x="182936" y="216322"/>
                </a:lnTo>
                <a:cubicBezTo>
                  <a:pt x="198373" y="219285"/>
                  <a:pt x="213945" y="223718"/>
                  <a:pt x="229768" y="229682"/>
                </a:cubicBezTo>
                <a:cubicBezTo>
                  <a:pt x="245534" y="235646"/>
                  <a:pt x="261028" y="242752"/>
                  <a:pt x="276233" y="250866"/>
                </a:cubicBezTo>
                <a:cubicBezTo>
                  <a:pt x="291418" y="259056"/>
                  <a:pt x="305868" y="268040"/>
                  <a:pt x="319641" y="277799"/>
                </a:cubicBezTo>
                <a:cubicBezTo>
                  <a:pt x="333375" y="287635"/>
                  <a:pt x="345891" y="297801"/>
                  <a:pt x="357072" y="308257"/>
                </a:cubicBezTo>
                <a:lnTo>
                  <a:pt x="357072" y="55281"/>
                </a:lnTo>
                <a:close/>
              </a:path>
            </a:pathLst>
          </a:custGeom>
          <a:solidFill>
            <a:srgbClr val="004358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16" id="16"/>
          <p:cNvSpPr/>
          <p:nvPr/>
        </p:nvSpPr>
        <p:spPr>
          <a:xfrm rot="0" flipH="false" flipV="false">
            <a:off x="9690100" y="3225800"/>
            <a:ext cx="417831" cy="365603"/>
          </a:xfrm>
          <a:custGeom>
            <a:avLst/>
            <a:gdLst/>
            <a:ahLst/>
            <a:cxnLst/>
            <a:rect r="r" b="b" t="t" l="l"/>
            <a:pathLst>
              <a:path h="365603" w="417831">
                <a:moveTo>
                  <a:pt x="391968" y="0"/>
                </a:moveTo>
                <a:cubicBezTo>
                  <a:pt x="399067" y="0"/>
                  <a:pt x="405180" y="2725"/>
                  <a:pt x="410248" y="8142"/>
                </a:cubicBezTo>
                <a:cubicBezTo>
                  <a:pt x="415317" y="13506"/>
                  <a:pt x="417831" y="19922"/>
                  <a:pt x="417831" y="27386"/>
                </a:cubicBezTo>
                <a:lnTo>
                  <a:pt x="417831" y="338198"/>
                </a:lnTo>
                <a:cubicBezTo>
                  <a:pt x="417831" y="345664"/>
                  <a:pt x="415317" y="352078"/>
                  <a:pt x="410248" y="357495"/>
                </a:cubicBezTo>
                <a:cubicBezTo>
                  <a:pt x="405180" y="362911"/>
                  <a:pt x="399067" y="365603"/>
                  <a:pt x="391968" y="365603"/>
                </a:cubicBezTo>
                <a:lnTo>
                  <a:pt x="26038" y="365603"/>
                </a:lnTo>
                <a:cubicBezTo>
                  <a:pt x="18938" y="365603"/>
                  <a:pt x="12824" y="362911"/>
                  <a:pt x="7718" y="357495"/>
                </a:cubicBezTo>
                <a:cubicBezTo>
                  <a:pt x="2554" y="352078"/>
                  <a:pt x="0" y="345664"/>
                  <a:pt x="0" y="338198"/>
                </a:cubicBezTo>
                <a:lnTo>
                  <a:pt x="0" y="27386"/>
                </a:lnTo>
                <a:cubicBezTo>
                  <a:pt x="0" y="19922"/>
                  <a:pt x="2554" y="13506"/>
                  <a:pt x="7718" y="8142"/>
                </a:cubicBezTo>
                <a:cubicBezTo>
                  <a:pt x="12824" y="2725"/>
                  <a:pt x="18938" y="0"/>
                  <a:pt x="26038" y="0"/>
                </a:cubicBezTo>
                <a:lnTo>
                  <a:pt x="391968" y="0"/>
                </a:lnTo>
                <a:close/>
                <a:moveTo>
                  <a:pt x="383108" y="38118"/>
                </a:moveTo>
                <a:lnTo>
                  <a:pt x="166166" y="38118"/>
                </a:lnTo>
                <a:lnTo>
                  <a:pt x="162993" y="60002"/>
                </a:lnTo>
                <a:lnTo>
                  <a:pt x="34897" y="60002"/>
                </a:lnTo>
                <a:lnTo>
                  <a:pt x="34897" y="93110"/>
                </a:lnTo>
                <a:lnTo>
                  <a:pt x="383108" y="93110"/>
                </a:lnTo>
                <a:lnTo>
                  <a:pt x="383108" y="38118"/>
                </a:lnTo>
                <a:close/>
                <a:moveTo>
                  <a:pt x="383108" y="300369"/>
                </a:moveTo>
                <a:lnTo>
                  <a:pt x="34897" y="300369"/>
                </a:lnTo>
                <a:lnTo>
                  <a:pt x="34897" y="327519"/>
                </a:lnTo>
                <a:lnTo>
                  <a:pt x="383108" y="327519"/>
                </a:lnTo>
                <a:lnTo>
                  <a:pt x="383108" y="300369"/>
                </a:lnTo>
                <a:close/>
                <a:moveTo>
                  <a:pt x="60275" y="46429"/>
                </a:moveTo>
                <a:lnTo>
                  <a:pt x="131926" y="46429"/>
                </a:lnTo>
                <a:lnTo>
                  <a:pt x="131926" y="24305"/>
                </a:lnTo>
                <a:lnTo>
                  <a:pt x="60275" y="24305"/>
                </a:lnTo>
                <a:lnTo>
                  <a:pt x="60275" y="46429"/>
                </a:lnTo>
                <a:close/>
                <a:moveTo>
                  <a:pt x="126298" y="196867"/>
                </a:moveTo>
                <a:cubicBezTo>
                  <a:pt x="126298" y="208901"/>
                  <a:pt x="128425" y="220224"/>
                  <a:pt x="132739" y="230769"/>
                </a:cubicBezTo>
                <a:cubicBezTo>
                  <a:pt x="137033" y="241314"/>
                  <a:pt x="142913" y="250505"/>
                  <a:pt x="150400" y="258359"/>
                </a:cubicBezTo>
                <a:cubicBezTo>
                  <a:pt x="157886" y="266263"/>
                  <a:pt x="166688" y="272424"/>
                  <a:pt x="176689" y="276893"/>
                </a:cubicBezTo>
                <a:cubicBezTo>
                  <a:pt x="186766" y="281480"/>
                  <a:pt x="197522" y="283714"/>
                  <a:pt x="209032" y="283714"/>
                </a:cubicBezTo>
                <a:cubicBezTo>
                  <a:pt x="220483" y="283714"/>
                  <a:pt x="231239" y="281480"/>
                  <a:pt x="241220" y="276893"/>
                </a:cubicBezTo>
                <a:cubicBezTo>
                  <a:pt x="251163" y="272424"/>
                  <a:pt x="259886" y="266263"/>
                  <a:pt x="267412" y="258359"/>
                </a:cubicBezTo>
                <a:cubicBezTo>
                  <a:pt x="274898" y="250505"/>
                  <a:pt x="280778" y="241314"/>
                  <a:pt x="285073" y="230769"/>
                </a:cubicBezTo>
                <a:cubicBezTo>
                  <a:pt x="289387" y="220224"/>
                  <a:pt x="291515" y="208901"/>
                  <a:pt x="291515" y="196867"/>
                </a:cubicBezTo>
                <a:cubicBezTo>
                  <a:pt x="291515" y="184781"/>
                  <a:pt x="289387" y="173492"/>
                  <a:pt x="285073" y="162913"/>
                </a:cubicBezTo>
                <a:cubicBezTo>
                  <a:pt x="280778" y="152368"/>
                  <a:pt x="274898" y="143212"/>
                  <a:pt x="267412" y="135459"/>
                </a:cubicBezTo>
                <a:cubicBezTo>
                  <a:pt x="259886" y="127657"/>
                  <a:pt x="251125" y="121495"/>
                  <a:pt x="241084" y="117027"/>
                </a:cubicBezTo>
                <a:cubicBezTo>
                  <a:pt x="231045" y="112490"/>
                  <a:pt x="220348" y="110206"/>
                  <a:pt x="209032" y="110206"/>
                </a:cubicBezTo>
                <a:cubicBezTo>
                  <a:pt x="197522" y="110206"/>
                  <a:pt x="186766" y="112490"/>
                  <a:pt x="176689" y="117027"/>
                </a:cubicBezTo>
                <a:cubicBezTo>
                  <a:pt x="166688" y="121495"/>
                  <a:pt x="157886" y="127657"/>
                  <a:pt x="150400" y="135459"/>
                </a:cubicBezTo>
                <a:cubicBezTo>
                  <a:pt x="142913" y="143212"/>
                  <a:pt x="137033" y="152368"/>
                  <a:pt x="132739" y="162913"/>
                </a:cubicBezTo>
                <a:cubicBezTo>
                  <a:pt x="128425" y="173492"/>
                  <a:pt x="126298" y="184781"/>
                  <a:pt x="126298" y="196867"/>
                </a:cubicBezTo>
                <a:moveTo>
                  <a:pt x="265477" y="196867"/>
                </a:moveTo>
                <a:cubicBezTo>
                  <a:pt x="265477" y="204958"/>
                  <a:pt x="264008" y="212675"/>
                  <a:pt x="261164" y="220021"/>
                </a:cubicBezTo>
                <a:cubicBezTo>
                  <a:pt x="258281" y="227385"/>
                  <a:pt x="254297" y="233799"/>
                  <a:pt x="249132" y="239114"/>
                </a:cubicBezTo>
                <a:cubicBezTo>
                  <a:pt x="243967" y="244395"/>
                  <a:pt x="237951" y="248609"/>
                  <a:pt x="231007" y="251690"/>
                </a:cubicBezTo>
                <a:cubicBezTo>
                  <a:pt x="224042" y="254771"/>
                  <a:pt x="216750" y="256328"/>
                  <a:pt x="209032" y="256328"/>
                </a:cubicBezTo>
                <a:cubicBezTo>
                  <a:pt x="201313" y="256328"/>
                  <a:pt x="193924" y="254771"/>
                  <a:pt x="186902" y="251690"/>
                </a:cubicBezTo>
                <a:cubicBezTo>
                  <a:pt x="179899" y="248609"/>
                  <a:pt x="173845" y="244395"/>
                  <a:pt x="168777" y="239114"/>
                </a:cubicBezTo>
                <a:cubicBezTo>
                  <a:pt x="163708" y="233799"/>
                  <a:pt x="159724" y="227486"/>
                  <a:pt x="156745" y="220174"/>
                </a:cubicBezTo>
                <a:cubicBezTo>
                  <a:pt x="153805" y="212913"/>
                  <a:pt x="152334" y="205110"/>
                  <a:pt x="152334" y="196867"/>
                </a:cubicBezTo>
                <a:cubicBezTo>
                  <a:pt x="152334" y="188759"/>
                  <a:pt x="153805" y="181108"/>
                  <a:pt x="156745" y="173746"/>
                </a:cubicBezTo>
                <a:cubicBezTo>
                  <a:pt x="159724" y="166484"/>
                  <a:pt x="163708" y="160120"/>
                  <a:pt x="168777" y="154704"/>
                </a:cubicBezTo>
                <a:cubicBezTo>
                  <a:pt x="173845" y="149338"/>
                  <a:pt x="179861" y="145157"/>
                  <a:pt x="186806" y="142077"/>
                </a:cubicBezTo>
                <a:cubicBezTo>
                  <a:pt x="193731" y="139098"/>
                  <a:pt x="201159" y="137608"/>
                  <a:pt x="209032" y="137608"/>
                </a:cubicBezTo>
                <a:cubicBezTo>
                  <a:pt x="216750" y="137608"/>
                  <a:pt x="224042" y="139098"/>
                  <a:pt x="231007" y="142077"/>
                </a:cubicBezTo>
                <a:cubicBezTo>
                  <a:pt x="237951" y="145157"/>
                  <a:pt x="243967" y="149338"/>
                  <a:pt x="249132" y="154704"/>
                </a:cubicBezTo>
                <a:cubicBezTo>
                  <a:pt x="254297" y="160120"/>
                  <a:pt x="258281" y="166484"/>
                  <a:pt x="261164" y="173746"/>
                </a:cubicBezTo>
                <a:cubicBezTo>
                  <a:pt x="264008" y="181108"/>
                  <a:pt x="265477" y="188759"/>
                  <a:pt x="265477" y="196867"/>
                </a:cubicBezTo>
                <a:moveTo>
                  <a:pt x="187482" y="196867"/>
                </a:moveTo>
                <a:cubicBezTo>
                  <a:pt x="187482" y="190350"/>
                  <a:pt x="189553" y="184984"/>
                  <a:pt x="193827" y="180804"/>
                </a:cubicBezTo>
                <a:cubicBezTo>
                  <a:pt x="198044" y="176572"/>
                  <a:pt x="203112" y="174490"/>
                  <a:pt x="209032" y="174490"/>
                </a:cubicBezTo>
                <a:lnTo>
                  <a:pt x="209032" y="173999"/>
                </a:lnTo>
                <a:cubicBezTo>
                  <a:pt x="211720" y="173999"/>
                  <a:pt x="214042" y="173051"/>
                  <a:pt x="215937" y="171105"/>
                </a:cubicBezTo>
                <a:cubicBezTo>
                  <a:pt x="217833" y="169226"/>
                  <a:pt x="218780" y="166925"/>
                  <a:pt x="218780" y="164250"/>
                </a:cubicBezTo>
                <a:cubicBezTo>
                  <a:pt x="218780" y="161356"/>
                  <a:pt x="217833" y="158970"/>
                  <a:pt x="215937" y="156989"/>
                </a:cubicBezTo>
                <a:cubicBezTo>
                  <a:pt x="214042" y="154992"/>
                  <a:pt x="211720" y="153960"/>
                  <a:pt x="209032" y="153960"/>
                </a:cubicBezTo>
                <a:cubicBezTo>
                  <a:pt x="197851" y="153960"/>
                  <a:pt x="188275" y="158224"/>
                  <a:pt x="180325" y="166688"/>
                </a:cubicBezTo>
                <a:cubicBezTo>
                  <a:pt x="172414" y="175184"/>
                  <a:pt x="168448" y="185222"/>
                  <a:pt x="168448" y="196816"/>
                </a:cubicBezTo>
                <a:cubicBezTo>
                  <a:pt x="168448" y="199338"/>
                  <a:pt x="169395" y="201639"/>
                  <a:pt x="171272" y="203570"/>
                </a:cubicBezTo>
                <a:cubicBezTo>
                  <a:pt x="173168" y="205600"/>
                  <a:pt x="175315" y="206599"/>
                  <a:pt x="177714" y="206599"/>
                </a:cubicBezTo>
                <a:cubicBezTo>
                  <a:pt x="180461" y="206599"/>
                  <a:pt x="182743" y="205617"/>
                  <a:pt x="184639" y="203570"/>
                </a:cubicBezTo>
                <a:cubicBezTo>
                  <a:pt x="186535" y="201690"/>
                  <a:pt x="187482" y="199389"/>
                  <a:pt x="187482" y="196867"/>
                </a:cubicBezTo>
              </a:path>
            </a:pathLst>
          </a:custGeom>
          <a:solidFill>
            <a:srgbClr val="18B29D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17" id="17"/>
          <p:cNvSpPr/>
          <p:nvPr/>
        </p:nvSpPr>
        <p:spPr>
          <a:xfrm rot="0" flipH="false" flipV="false">
            <a:off x="2755900" y="3251200"/>
            <a:ext cx="417831" cy="418064"/>
          </a:xfrm>
          <a:custGeom>
            <a:avLst/>
            <a:gdLst/>
            <a:ahLst/>
            <a:cxnLst/>
            <a:rect r="r" b="b" t="t" l="l"/>
            <a:pathLst>
              <a:path h="418064" w="417831">
                <a:moveTo>
                  <a:pt x="339101" y="148954"/>
                </a:moveTo>
                <a:cubicBezTo>
                  <a:pt x="339101" y="169374"/>
                  <a:pt x="334691" y="188651"/>
                  <a:pt x="325811" y="206786"/>
                </a:cubicBezTo>
                <a:cubicBezTo>
                  <a:pt x="316972" y="224903"/>
                  <a:pt x="304862" y="240695"/>
                  <a:pt x="289561" y="254070"/>
                </a:cubicBezTo>
                <a:cubicBezTo>
                  <a:pt x="274221" y="267503"/>
                  <a:pt x="256289" y="278148"/>
                  <a:pt x="235707" y="285967"/>
                </a:cubicBezTo>
                <a:cubicBezTo>
                  <a:pt x="215125" y="293825"/>
                  <a:pt x="193092" y="297754"/>
                  <a:pt x="169550" y="297754"/>
                </a:cubicBezTo>
                <a:cubicBezTo>
                  <a:pt x="164173" y="297754"/>
                  <a:pt x="158853" y="297484"/>
                  <a:pt x="153514" y="296941"/>
                </a:cubicBezTo>
                <a:cubicBezTo>
                  <a:pt x="148233" y="296438"/>
                  <a:pt x="143049" y="295800"/>
                  <a:pt x="137942" y="295142"/>
                </a:cubicBezTo>
                <a:cubicBezTo>
                  <a:pt x="116586" y="314786"/>
                  <a:pt x="92193" y="328393"/>
                  <a:pt x="64726" y="335592"/>
                </a:cubicBezTo>
                <a:cubicBezTo>
                  <a:pt x="61824" y="336367"/>
                  <a:pt x="58864" y="337025"/>
                  <a:pt x="55904" y="337624"/>
                </a:cubicBezTo>
                <a:cubicBezTo>
                  <a:pt x="52906" y="338225"/>
                  <a:pt x="49752" y="338883"/>
                  <a:pt x="46387" y="339580"/>
                </a:cubicBezTo>
                <a:cubicBezTo>
                  <a:pt x="44646" y="339909"/>
                  <a:pt x="43099" y="339367"/>
                  <a:pt x="41686" y="337838"/>
                </a:cubicBezTo>
                <a:cubicBezTo>
                  <a:pt x="40333" y="336367"/>
                  <a:pt x="39327" y="334780"/>
                  <a:pt x="38785" y="333037"/>
                </a:cubicBezTo>
                <a:lnTo>
                  <a:pt x="38785" y="332534"/>
                </a:lnTo>
                <a:cubicBezTo>
                  <a:pt x="38185" y="330406"/>
                  <a:pt x="38418" y="328722"/>
                  <a:pt x="39423" y="327406"/>
                </a:cubicBezTo>
                <a:cubicBezTo>
                  <a:pt x="40429" y="326147"/>
                  <a:pt x="41745" y="324560"/>
                  <a:pt x="43331" y="322819"/>
                </a:cubicBezTo>
                <a:cubicBezTo>
                  <a:pt x="45980" y="319702"/>
                  <a:pt x="48476" y="316548"/>
                  <a:pt x="50856" y="313315"/>
                </a:cubicBezTo>
                <a:cubicBezTo>
                  <a:pt x="53254" y="310102"/>
                  <a:pt x="55401" y="306386"/>
                  <a:pt x="57316" y="302341"/>
                </a:cubicBezTo>
                <a:cubicBezTo>
                  <a:pt x="59173" y="298257"/>
                  <a:pt x="60954" y="293399"/>
                  <a:pt x="62636" y="287825"/>
                </a:cubicBezTo>
                <a:cubicBezTo>
                  <a:pt x="64319" y="282193"/>
                  <a:pt x="65731" y="275322"/>
                  <a:pt x="66872" y="267115"/>
                </a:cubicBezTo>
                <a:cubicBezTo>
                  <a:pt x="46387" y="253586"/>
                  <a:pt x="30138" y="236554"/>
                  <a:pt x="18067" y="216077"/>
                </a:cubicBezTo>
                <a:cubicBezTo>
                  <a:pt x="5997" y="195599"/>
                  <a:pt x="0" y="173264"/>
                  <a:pt x="0" y="148954"/>
                </a:cubicBezTo>
                <a:cubicBezTo>
                  <a:pt x="0" y="128264"/>
                  <a:pt x="4449" y="108871"/>
                  <a:pt x="13367" y="90851"/>
                </a:cubicBezTo>
                <a:cubicBezTo>
                  <a:pt x="22304" y="72832"/>
                  <a:pt x="34451" y="57057"/>
                  <a:pt x="49792" y="43684"/>
                </a:cubicBezTo>
                <a:cubicBezTo>
                  <a:pt x="65093" y="30291"/>
                  <a:pt x="82986" y="19587"/>
                  <a:pt x="103529" y="11787"/>
                </a:cubicBezTo>
                <a:cubicBezTo>
                  <a:pt x="123976" y="3929"/>
                  <a:pt x="146008" y="0"/>
                  <a:pt x="169550" y="0"/>
                </a:cubicBezTo>
                <a:cubicBezTo>
                  <a:pt x="193092" y="0"/>
                  <a:pt x="215125" y="3929"/>
                  <a:pt x="235707" y="11787"/>
                </a:cubicBezTo>
                <a:cubicBezTo>
                  <a:pt x="256289" y="19587"/>
                  <a:pt x="274221" y="30291"/>
                  <a:pt x="289561" y="43684"/>
                </a:cubicBezTo>
                <a:cubicBezTo>
                  <a:pt x="304862" y="57057"/>
                  <a:pt x="316972" y="72832"/>
                  <a:pt x="325811" y="90851"/>
                </a:cubicBezTo>
                <a:cubicBezTo>
                  <a:pt x="334691" y="108871"/>
                  <a:pt x="339101" y="128264"/>
                  <a:pt x="339101" y="148954"/>
                </a:cubicBezTo>
                <a:moveTo>
                  <a:pt x="417831" y="227147"/>
                </a:moveTo>
                <a:cubicBezTo>
                  <a:pt x="417831" y="251341"/>
                  <a:pt x="411757" y="273793"/>
                  <a:pt x="399744" y="294270"/>
                </a:cubicBezTo>
                <a:cubicBezTo>
                  <a:pt x="387634" y="314728"/>
                  <a:pt x="371386" y="331721"/>
                  <a:pt x="350901" y="345309"/>
                </a:cubicBezTo>
                <a:cubicBezTo>
                  <a:pt x="352081" y="353515"/>
                  <a:pt x="353435" y="360387"/>
                  <a:pt x="355040" y="365961"/>
                </a:cubicBezTo>
                <a:cubicBezTo>
                  <a:pt x="356626" y="371592"/>
                  <a:pt x="358503" y="376334"/>
                  <a:pt x="360592" y="380534"/>
                </a:cubicBezTo>
                <a:cubicBezTo>
                  <a:pt x="362739" y="384579"/>
                  <a:pt x="364867" y="388238"/>
                  <a:pt x="367149" y="391470"/>
                </a:cubicBezTo>
                <a:cubicBezTo>
                  <a:pt x="369374" y="394683"/>
                  <a:pt x="371831" y="397857"/>
                  <a:pt x="374423" y="401011"/>
                </a:cubicBezTo>
                <a:cubicBezTo>
                  <a:pt x="375893" y="402754"/>
                  <a:pt x="377170" y="404341"/>
                  <a:pt x="378253" y="405831"/>
                </a:cubicBezTo>
                <a:cubicBezTo>
                  <a:pt x="379355" y="407360"/>
                  <a:pt x="379569" y="408927"/>
                  <a:pt x="378988" y="410689"/>
                </a:cubicBezTo>
                <a:lnTo>
                  <a:pt x="378988" y="411231"/>
                </a:lnTo>
                <a:cubicBezTo>
                  <a:pt x="378718" y="413244"/>
                  <a:pt x="377847" y="414947"/>
                  <a:pt x="376300" y="416302"/>
                </a:cubicBezTo>
                <a:cubicBezTo>
                  <a:pt x="374752" y="417618"/>
                  <a:pt x="373165" y="418064"/>
                  <a:pt x="371386" y="417735"/>
                </a:cubicBezTo>
                <a:cubicBezTo>
                  <a:pt x="368059" y="417076"/>
                  <a:pt x="364867" y="416361"/>
                  <a:pt x="361907" y="415760"/>
                </a:cubicBezTo>
                <a:cubicBezTo>
                  <a:pt x="358948" y="415160"/>
                  <a:pt x="355989" y="414560"/>
                  <a:pt x="353087" y="413786"/>
                </a:cubicBezTo>
                <a:cubicBezTo>
                  <a:pt x="339101" y="410301"/>
                  <a:pt x="326024" y="405115"/>
                  <a:pt x="313837" y="398127"/>
                </a:cubicBezTo>
                <a:cubicBezTo>
                  <a:pt x="301631" y="391179"/>
                  <a:pt x="290295" y="382896"/>
                  <a:pt x="279870" y="373276"/>
                </a:cubicBezTo>
                <a:cubicBezTo>
                  <a:pt x="274762" y="373992"/>
                  <a:pt x="269578" y="374593"/>
                  <a:pt x="264240" y="375134"/>
                </a:cubicBezTo>
                <a:cubicBezTo>
                  <a:pt x="258958" y="375618"/>
                  <a:pt x="253639" y="375947"/>
                  <a:pt x="248223" y="375947"/>
                </a:cubicBezTo>
                <a:cubicBezTo>
                  <a:pt x="227738" y="375947"/>
                  <a:pt x="208470" y="372831"/>
                  <a:pt x="190481" y="366773"/>
                </a:cubicBezTo>
                <a:cubicBezTo>
                  <a:pt x="172452" y="360657"/>
                  <a:pt x="156106" y="352469"/>
                  <a:pt x="141444" y="342153"/>
                </a:cubicBezTo>
                <a:cubicBezTo>
                  <a:pt x="142314" y="341495"/>
                  <a:pt x="143281" y="340779"/>
                  <a:pt x="144365" y="340083"/>
                </a:cubicBezTo>
                <a:cubicBezTo>
                  <a:pt x="145467" y="339425"/>
                  <a:pt x="146454" y="338709"/>
                  <a:pt x="147324" y="337993"/>
                </a:cubicBezTo>
                <a:cubicBezTo>
                  <a:pt x="154752" y="339038"/>
                  <a:pt x="162122" y="339580"/>
                  <a:pt x="169550" y="339580"/>
                </a:cubicBezTo>
                <a:cubicBezTo>
                  <a:pt x="198180" y="339580"/>
                  <a:pt x="225010" y="334664"/>
                  <a:pt x="249944" y="324792"/>
                </a:cubicBezTo>
                <a:cubicBezTo>
                  <a:pt x="274956" y="314903"/>
                  <a:pt x="296621" y="301470"/>
                  <a:pt x="314921" y="284321"/>
                </a:cubicBezTo>
                <a:cubicBezTo>
                  <a:pt x="333278" y="267115"/>
                  <a:pt x="347651" y="246908"/>
                  <a:pt x="358174" y="223703"/>
                </a:cubicBezTo>
                <a:cubicBezTo>
                  <a:pt x="368736" y="200612"/>
                  <a:pt x="374016" y="175645"/>
                  <a:pt x="374016" y="148954"/>
                </a:cubicBezTo>
                <a:cubicBezTo>
                  <a:pt x="374016" y="141793"/>
                  <a:pt x="373572" y="134593"/>
                  <a:pt x="372702" y="127044"/>
                </a:cubicBezTo>
                <a:cubicBezTo>
                  <a:pt x="386629" y="140651"/>
                  <a:pt x="397655" y="155884"/>
                  <a:pt x="405703" y="172761"/>
                </a:cubicBezTo>
                <a:cubicBezTo>
                  <a:pt x="413808" y="189696"/>
                  <a:pt x="417831" y="207813"/>
                  <a:pt x="417831" y="227147"/>
                </a:cubicBezTo>
              </a:path>
            </a:pathLst>
          </a:custGeom>
          <a:solidFill>
            <a:srgbClr val="004358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863600" y="228600"/>
            <a:ext cx="6350000" cy="495300"/>
          </a:xfrm>
          <a:prstGeom prst="rect">
            <a:avLst/>
          </a:prstGeom>
          <a:noFill/>
          <a:ln w="13382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3200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微软雅黑"/>
              </a:rPr>
              <a:t>数据来源与验证体系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863600" y="749300"/>
            <a:ext cx="5715000" cy="215900"/>
          </a:xfrm>
          <a:prstGeom prst="rect">
            <a:avLst/>
          </a:prstGeom>
          <a:noFill/>
          <a:ln w="13382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646464"/>
                </a:solidFill>
                <a:latin typeface="Arial"/>
                <a:ea typeface="Arial"/>
                <a:cs typeface="Arial"/>
                <a:sym typeface="Arial"/>
              </a:rPr>
              <a:t>DATA SOURCES AND VERIFICATION SYSTEM</a:t>
            </a:r>
            <a:endParaRPr lang="en-US" sz="1100"/>
          </a:p>
        </p:txBody>
      </p:sp>
      <p:pic>
        <p:nvPicPr>
          <p:cNvPr name="Picture 20" id="20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11734800" y="6134100"/>
            <a:ext cx="1168400" cy="10922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4241800" y="3492500"/>
            <a:ext cx="4381500" cy="965200"/>
          </a:xfrm>
          <a:prstGeom prst="roundRect">
            <a:avLst>
              <a:gd name="adj" fmla="val 50000"/>
            </a:avLst>
          </a:prstGeom>
          <a:solidFill>
            <a:srgbClr val="18B29D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5918200" y="2209800"/>
            <a:ext cx="1016000" cy="1016000"/>
          </a:xfrm>
          <a:prstGeom prst="ellipse">
            <a:avLst/>
          </a:prstGeom>
          <a:solidFill>
            <a:srgbClr val="004358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4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lang="en-US" sz="1100"/>
          </a:p>
        </p:txBody>
      </p:sp>
      <p:sp>
        <p:nvSpPr>
          <p:cNvPr name="Freeform 4" id="4"/>
          <p:cNvSpPr/>
          <p:nvPr/>
        </p:nvSpPr>
        <p:spPr>
          <a:xfrm rot="0" flipH="false" flipV="false">
            <a:off x="5156200" y="3619500"/>
            <a:ext cx="2535812" cy="708143"/>
          </a:xfrm>
          <a:custGeom>
            <a:avLst/>
            <a:gdLst/>
            <a:ahLst/>
            <a:cxnLst/>
            <a:rect r="r" b="b" t="t" l="l"/>
            <a:pathLst>
              <a:path h="708143" w="2535812">
                <a:moveTo>
                  <a:pt x="0" y="708143"/>
                </a:moveTo>
                <a:lnTo>
                  <a:pt x="2535812" y="708143"/>
                </a:lnTo>
                <a:lnTo>
                  <a:pt x="0" y="708143"/>
                </a:lnTo>
                <a:close/>
                <a:moveTo>
                  <a:pt x="0" y="0"/>
                </a:moveTo>
                <a:lnTo>
                  <a:pt x="922" y="0"/>
                </a:lnTo>
                <a:lnTo>
                  <a:pt x="0" y="0"/>
                </a:lnTo>
                <a:close/>
              </a:path>
            </a:pathLst>
          </a:cu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32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成果展示</a:t>
            </a:r>
            <a:r>
              <a:rPr lang="en-US" b="false" i="false" strike="noStrike" u="none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RESEARCH FINDINGS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6502400" y="4648200"/>
            <a:ext cx="1612900" cy="215900"/>
          </a:xfrm>
          <a:prstGeom prst="rect">
            <a:avLst/>
          </a:prstGeom>
          <a:noFill/>
          <a:ln w="13382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ctr" lvl="1" indent="-177800" marL="533400">
              <a:lnSpc>
                <a:spcPct val="100000"/>
              </a:lnSpc>
              <a:buClr>
                <a:srgbClr val="595959"/>
              </a:buClr>
              <a:buFont typeface="Arial"/>
              <a:buChar char="•"/>
              <a:defRPr/>
            </a:pPr>
            <a:r>
              <a:rPr lang="en-US" b="false" i="false" strike="noStrike" u="none" sz="1400">
                <a:solidFill>
                  <a:srgbClr val="595959"/>
                </a:solidFill>
                <a:latin typeface="微软雅黑"/>
                <a:ea typeface="微软雅黑"/>
                <a:cs typeface="微软雅黑"/>
                <a:sym typeface="微软雅黑"/>
              </a:rPr>
              <a:t>核心作者与机构分布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4737100" y="4648200"/>
            <a:ext cx="1612900" cy="215900"/>
          </a:xfrm>
          <a:prstGeom prst="rect">
            <a:avLst/>
          </a:prstGeom>
          <a:noFill/>
          <a:ln w="13382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ctr" lvl="1" indent="-177800" marL="533400">
              <a:lnSpc>
                <a:spcPct val="100000"/>
              </a:lnSpc>
              <a:buClr>
                <a:srgbClr val="595959"/>
              </a:buClr>
              <a:buFont typeface="Arial"/>
              <a:buChar char="•"/>
              <a:defRPr/>
            </a:pPr>
            <a:r>
              <a:rPr lang="en-US" b="false" i="false" strike="noStrike" u="none" sz="1400">
                <a:solidFill>
                  <a:srgbClr val="595959"/>
                </a:solidFill>
                <a:latin typeface="微软雅黑"/>
                <a:ea typeface="微软雅黑"/>
                <a:cs typeface="微软雅黑"/>
                <a:sym typeface="微软雅黑"/>
              </a:rPr>
              <a:t>文献发表趋势分析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6502400" y="4914900"/>
            <a:ext cx="1612900" cy="215900"/>
          </a:xfrm>
          <a:prstGeom prst="rect">
            <a:avLst/>
          </a:prstGeom>
          <a:noFill/>
          <a:ln w="13382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ctr" lvl="1" indent="-177800" marL="533400">
              <a:lnSpc>
                <a:spcPct val="100000"/>
              </a:lnSpc>
              <a:buClr>
                <a:srgbClr val="595959"/>
              </a:buClr>
              <a:buFont typeface="Arial"/>
              <a:buChar char="•"/>
              <a:defRPr/>
            </a:pPr>
            <a:r>
              <a:rPr lang="en-US" b="false" i="false" strike="noStrike" u="none" sz="1400">
                <a:solidFill>
                  <a:srgbClr val="595959"/>
                </a:solidFill>
                <a:latin typeface="微软雅黑"/>
                <a:ea typeface="微软雅黑"/>
                <a:cs typeface="微软雅黑"/>
                <a:sym typeface="微软雅黑"/>
              </a:rPr>
              <a:t>研究前沿演进路径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4737100" y="4914900"/>
            <a:ext cx="1612900" cy="215900"/>
          </a:xfrm>
          <a:prstGeom prst="rect">
            <a:avLst/>
          </a:prstGeom>
          <a:noFill/>
          <a:ln w="13382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ctr" lvl="1" indent="-177800" marL="533400">
              <a:lnSpc>
                <a:spcPct val="100000"/>
              </a:lnSpc>
              <a:buClr>
                <a:srgbClr val="595959"/>
              </a:buClr>
              <a:buFont typeface="Arial"/>
              <a:buChar char="•"/>
              <a:defRPr/>
            </a:pPr>
            <a:r>
              <a:rPr lang="en-US" b="false" i="false" strike="noStrike" u="none" sz="1400">
                <a:solidFill>
                  <a:srgbClr val="595959"/>
                </a:solidFill>
                <a:latin typeface="微软雅黑"/>
                <a:ea typeface="微软雅黑"/>
                <a:cs typeface="微软雅黑"/>
                <a:sym typeface="微软雅黑"/>
              </a:rPr>
              <a:t>研究热点共现图谱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5791200" y="3416300"/>
            <a:ext cx="596900" cy="596900"/>
          </a:xfrm>
          <a:prstGeom prst="roundRect">
            <a:avLst>
              <a:gd name="adj" fmla="val 17021"/>
            </a:avLst>
          </a:prstGeom>
          <a:solidFill>
            <a:srgbClr val="18B29D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16666"/>
              </a:lnSpc>
              <a:defRPr/>
            </a:pPr>
            <a:r>
              <a:rPr lang="en-US" b="true" i="false" strike="noStrike" u="none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5791200" y="4178300"/>
            <a:ext cx="596900" cy="596900"/>
          </a:xfrm>
          <a:prstGeom prst="roundRect">
            <a:avLst>
              <a:gd name="adj" fmla="val 17021"/>
            </a:avLst>
          </a:prstGeom>
          <a:solidFill>
            <a:srgbClr val="004358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16666"/>
              </a:lnSpc>
              <a:defRPr/>
            </a:pPr>
            <a:r>
              <a:rPr lang="en-US" b="true" i="false" strike="noStrike" u="none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5803900" y="2667000"/>
            <a:ext cx="596900" cy="596900"/>
          </a:xfrm>
          <a:prstGeom prst="roundRect">
            <a:avLst>
              <a:gd name="adj" fmla="val 17021"/>
            </a:avLst>
          </a:prstGeom>
          <a:solidFill>
            <a:srgbClr val="004358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16666"/>
              </a:lnSpc>
              <a:defRPr/>
            </a:pPr>
            <a:r>
              <a:rPr lang="en-US" b="true" i="false" strike="noStrike" u="none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9245600" y="3429000"/>
            <a:ext cx="596900" cy="596900"/>
          </a:xfrm>
          <a:prstGeom prst="roundRect">
            <a:avLst>
              <a:gd name="adj" fmla="val 17021"/>
            </a:avLst>
          </a:prstGeom>
          <a:solidFill>
            <a:srgbClr val="004358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16666"/>
              </a:lnSpc>
              <a:defRPr/>
            </a:pPr>
            <a:r>
              <a:rPr lang="en-US" b="true" i="false" strike="noStrike" u="none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9245600" y="4178300"/>
            <a:ext cx="596900" cy="596900"/>
          </a:xfrm>
          <a:prstGeom prst="roundRect">
            <a:avLst>
              <a:gd name="adj" fmla="val 17021"/>
            </a:avLst>
          </a:prstGeom>
          <a:solidFill>
            <a:srgbClr val="18B29D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16666"/>
              </a:lnSpc>
              <a:defRPr/>
            </a:pPr>
            <a:r>
              <a:rPr lang="en-US" b="true" i="false" strike="noStrike" u="none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9258300" y="2667000"/>
            <a:ext cx="596900" cy="596900"/>
          </a:xfrm>
          <a:prstGeom prst="roundRect">
            <a:avLst>
              <a:gd name="adj" fmla="val 17021"/>
            </a:avLst>
          </a:prstGeom>
          <a:solidFill>
            <a:srgbClr val="18B29D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16666"/>
              </a:lnSpc>
              <a:defRPr/>
            </a:pPr>
            <a:r>
              <a:rPr lang="en-US" b="true" i="false" strike="noStrike" u="none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6464300" y="2641600"/>
            <a:ext cx="2120900" cy="698500"/>
          </a:xfrm>
          <a:prstGeom prst="rect">
            <a:avLst/>
          </a:prstGeom>
          <a:noFill/>
          <a:ln w="13382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just" marL="0" indent="0">
              <a:lnSpc>
                <a:spcPct val="100000"/>
              </a:lnSpc>
              <a:defRPr/>
            </a:pPr>
            <a:r>
              <a:rPr lang="en-US" b="true" i="false" strike="noStrike" u="none" sz="1400">
                <a:solidFill>
                  <a:srgbClr val="004358"/>
                </a:solidFill>
                <a:latin typeface="微软雅黑"/>
                <a:ea typeface="微软雅黑"/>
                <a:cs typeface="微软雅黑"/>
                <a:sym typeface="微软雅黑"/>
              </a:rPr>
              <a:t>核心热点聚焦</a:t>
            </a:r>
            <a:r>
              <a:rPr lang="en-US" b="false" i="false" strike="noStrike" u="none" sz="1600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微软雅黑"/>
              </a:rPr>
              <a:t/>
            </a:r>
            <a:endParaRPr lang="en-US" sz="1100"/>
          </a:p>
          <a:p>
            <a:pPr algn="just" marL="0" indent="0">
              <a:lnSpc>
                <a:spcPct val="100000"/>
              </a:lnSpc>
            </a:pPr>
            <a:r>
              <a:rPr lang="en-US" b="false" i="false" strike="noStrike" u="none" sz="1100">
                <a:solidFill>
                  <a:srgbClr val="595959"/>
                </a:solidFill>
                <a:latin typeface="微软雅黑"/>
                <a:ea typeface="微软雅黑"/>
                <a:cs typeface="微软雅黑"/>
                <a:sym typeface="微软雅黑"/>
              </a:rPr>
              <a:t>图谱显示“智能交通”“信息采集”与“数据采集”构成领域核心，是当前研究最集中的关键主题。</a:t>
            </a:r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6464300" y="4178300"/>
            <a:ext cx="2120900" cy="698500"/>
          </a:xfrm>
          <a:prstGeom prst="rect">
            <a:avLst/>
          </a:prstGeom>
          <a:noFill/>
          <a:ln w="13382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just" marL="0" indent="0">
              <a:lnSpc>
                <a:spcPct val="100000"/>
              </a:lnSpc>
              <a:defRPr/>
            </a:pPr>
            <a:r>
              <a:rPr lang="en-US" b="true" i="false" strike="noStrike" u="none" sz="1400">
                <a:solidFill>
                  <a:srgbClr val="004358"/>
                </a:solidFill>
                <a:latin typeface="微软雅黑"/>
                <a:ea typeface="微软雅黑"/>
                <a:cs typeface="微软雅黑"/>
                <a:sym typeface="微软雅黑"/>
              </a:rPr>
              <a:t>领域架构呈现</a:t>
            </a:r>
            <a:r>
              <a:rPr lang="en-US" b="false" i="false" strike="noStrike" u="none" sz="1600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微软雅黑"/>
              </a:rPr>
              <a:t/>
            </a:r>
            <a:endParaRPr lang="en-US" sz="1100"/>
          </a:p>
          <a:p>
            <a:pPr algn="just" marL="0" indent="0">
              <a:lnSpc>
                <a:spcPct val="100000"/>
              </a:lnSpc>
            </a:pPr>
            <a:r>
              <a:rPr lang="en-US" b="false" i="false" strike="noStrike" u="none" sz="1100">
                <a:solidFill>
                  <a:srgbClr val="595959"/>
                </a:solidFill>
                <a:latin typeface="微软雅黑"/>
                <a:ea typeface="微软雅黑"/>
                <a:cs typeface="微软雅黑"/>
                <a:sym typeface="微软雅黑"/>
              </a:rPr>
              <a:t>核心节点向外辐射形成多层级知识网络，清晰构建了从信息采集到应用分析的完整领域知识体系框架。</a:t>
            </a:r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464300" y="3441700"/>
            <a:ext cx="2120900" cy="698500"/>
          </a:xfrm>
          <a:prstGeom prst="rect">
            <a:avLst/>
          </a:prstGeom>
          <a:noFill/>
          <a:ln w="13382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just" marL="0" indent="0">
              <a:lnSpc>
                <a:spcPct val="100000"/>
              </a:lnSpc>
              <a:defRPr/>
            </a:pPr>
            <a:r>
              <a:rPr lang="en-US" b="true" i="false" strike="noStrike" u="none" sz="1400">
                <a:solidFill>
                  <a:srgbClr val="004358"/>
                </a:solidFill>
                <a:latin typeface="微软雅黑"/>
                <a:ea typeface="微软雅黑"/>
                <a:cs typeface="微软雅黑"/>
                <a:sym typeface="微软雅黑"/>
              </a:rPr>
              <a:t>知识聚类特征</a:t>
            </a:r>
            <a:r>
              <a:rPr lang="en-US" b="false" i="false" strike="noStrike" u="none" sz="1600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微软雅黑"/>
              </a:rPr>
              <a:t/>
            </a:r>
            <a:endParaRPr lang="en-US" sz="1100"/>
          </a:p>
          <a:p>
            <a:pPr algn="just" marL="0" indent="0">
              <a:lnSpc>
                <a:spcPct val="100000"/>
              </a:lnSpc>
            </a:pPr>
            <a:r>
              <a:rPr lang="en-US" b="false" i="false" strike="noStrike" u="none" sz="1100">
                <a:solidFill>
                  <a:srgbClr val="595959"/>
                </a:solidFill>
                <a:latin typeface="微软雅黑"/>
                <a:ea typeface="微软雅黑"/>
                <a:cs typeface="微软雅黑"/>
                <a:sym typeface="微软雅黑"/>
              </a:rPr>
              <a:t>围绕核心形成“物联网”“数据挖掘”“交通信息”等聚类群，揭示了领域内多维度的细分研究方向。</a:t>
            </a:r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9906000" y="2654300"/>
            <a:ext cx="2146300" cy="698500"/>
          </a:xfrm>
          <a:prstGeom prst="rect">
            <a:avLst/>
          </a:prstGeom>
          <a:noFill/>
          <a:ln w="13382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just" marL="0" indent="0">
              <a:lnSpc>
                <a:spcPct val="100000"/>
              </a:lnSpc>
              <a:defRPr/>
            </a:pPr>
            <a:r>
              <a:rPr lang="en-US" b="true" i="false" strike="noStrike" u="none" sz="1400">
                <a:solidFill>
                  <a:srgbClr val="004358"/>
                </a:solidFill>
                <a:latin typeface="微软雅黑"/>
                <a:ea typeface="微软雅黑"/>
                <a:cs typeface="微软雅黑"/>
                <a:sym typeface="微软雅黑"/>
              </a:rPr>
              <a:t>图谱结构解析</a:t>
            </a:r>
            <a:r>
              <a:rPr lang="en-US" b="false" i="false" strike="noStrike" u="none" sz="1600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微软雅黑"/>
              </a:rPr>
              <a:t/>
            </a:r>
            <a:endParaRPr lang="en-US" sz="1100"/>
          </a:p>
          <a:p>
            <a:pPr algn="just" marL="0" indent="0">
              <a:lnSpc>
                <a:spcPct val="100000"/>
              </a:lnSpc>
            </a:pPr>
            <a:r>
              <a:rPr lang="en-US" b="false" i="false" strike="noStrike" u="none" sz="1100">
                <a:solidFill>
                  <a:srgbClr val="595959"/>
                </a:solidFill>
                <a:latin typeface="微软雅黑"/>
                <a:ea typeface="微软雅黑"/>
                <a:cs typeface="微软雅黑"/>
                <a:sym typeface="微软雅黑"/>
              </a:rPr>
              <a:t>通过文献标题与摘要关键词映射，直观呈现了交通信息采集领域的知识关联路径与演进脉络。</a:t>
            </a:r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9906000" y="4191000"/>
            <a:ext cx="2146300" cy="698500"/>
          </a:xfrm>
          <a:prstGeom prst="rect">
            <a:avLst/>
          </a:prstGeom>
          <a:noFill/>
          <a:ln w="13382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just" marL="0" indent="0">
              <a:lnSpc>
                <a:spcPct val="100000"/>
              </a:lnSpc>
              <a:defRPr/>
            </a:pPr>
            <a:r>
              <a:rPr lang="en-US" b="true" i="false" strike="noStrike" u="none" sz="1400">
                <a:solidFill>
                  <a:srgbClr val="004358"/>
                </a:solidFill>
                <a:latin typeface="微软雅黑"/>
                <a:ea typeface="微软雅黑"/>
                <a:cs typeface="微软雅黑"/>
                <a:sym typeface="微软雅黑"/>
              </a:rPr>
              <a:t>研究价值启示</a:t>
            </a:r>
            <a:r>
              <a:rPr lang="en-US" b="false" i="false" strike="noStrike" u="none" sz="1600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微软雅黑"/>
              </a:rPr>
              <a:t/>
            </a:r>
            <a:endParaRPr lang="en-US" sz="1100"/>
          </a:p>
          <a:p>
            <a:pPr algn="just" marL="0" indent="0">
              <a:lnSpc>
                <a:spcPct val="100000"/>
              </a:lnSpc>
            </a:pPr>
            <a:r>
              <a:rPr lang="en-US" b="false" i="false" strike="noStrike" u="none" sz="1100">
                <a:solidFill>
                  <a:srgbClr val="595959"/>
                </a:solidFill>
                <a:latin typeface="微软雅黑"/>
                <a:ea typeface="微软雅黑"/>
                <a:cs typeface="微软雅黑"/>
                <a:sym typeface="微软雅黑"/>
              </a:rPr>
              <a:t>明确了领域发展的关键技术节点与趋势，为后续研究选题与方向规划提供了科学的可视化依据。</a:t>
            </a:r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9906000" y="3441700"/>
            <a:ext cx="2146300" cy="698500"/>
          </a:xfrm>
          <a:prstGeom prst="rect">
            <a:avLst/>
          </a:prstGeom>
          <a:noFill/>
          <a:ln w="13382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just" marL="0" indent="0">
              <a:lnSpc>
                <a:spcPct val="100000"/>
              </a:lnSpc>
              <a:defRPr/>
            </a:pPr>
            <a:r>
              <a:rPr lang="en-US" b="true" i="false" strike="noStrike" u="none" sz="1400">
                <a:solidFill>
                  <a:srgbClr val="004358"/>
                </a:solidFill>
                <a:latin typeface="微软雅黑"/>
                <a:ea typeface="微软雅黑"/>
                <a:cs typeface="微软雅黑"/>
                <a:sym typeface="微软雅黑"/>
              </a:rPr>
              <a:t>关联强度分析</a:t>
            </a:r>
            <a:r>
              <a:rPr lang="en-US" b="false" i="false" strike="noStrike" u="none" sz="1600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微软雅黑"/>
              </a:rPr>
              <a:t/>
            </a:r>
            <a:endParaRPr lang="en-US" sz="1100"/>
          </a:p>
          <a:p>
            <a:pPr algn="just" marL="0" indent="0">
              <a:lnSpc>
                <a:spcPct val="100000"/>
              </a:lnSpc>
            </a:pPr>
            <a:r>
              <a:rPr lang="en-US" b="false" i="false" strike="noStrike" u="none" sz="1100">
                <a:solidFill>
                  <a:srgbClr val="595959"/>
                </a:solidFill>
                <a:latin typeface="微软雅黑"/>
                <a:ea typeface="微软雅黑"/>
                <a:cs typeface="微软雅黑"/>
                <a:sym typeface="微软雅黑"/>
              </a:rPr>
              <a:t>节点大小反映关键词出现频次，连线粗细代表共被引强度，量化展示了概念间的紧密联系程度。</a:t>
            </a:r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2"/>
          <a:srcRect l="15930" r="15930" t="0" b="0"/>
          <a:stretch>
            <a:fillRect/>
          </a:stretch>
        </p:blipFill>
        <p:spPr>
          <a:xfrm rot="0" flipH="false" flipV="false">
            <a:off x="723900" y="2133600"/>
            <a:ext cx="4876800" cy="39878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5" id="15"/>
          <p:cNvSpPr/>
          <p:nvPr/>
        </p:nvSpPr>
        <p:spPr>
          <a:xfrm rot="0" flipH="false" flipV="false">
            <a:off x="863600" y="228600"/>
            <a:ext cx="6350000" cy="495300"/>
          </a:xfrm>
          <a:prstGeom prst="rect">
            <a:avLst/>
          </a:prstGeom>
          <a:noFill/>
          <a:ln w="13382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3200">
                <a:solidFill>
                  <a:srgbClr val="004358"/>
                </a:solidFill>
                <a:latin typeface="微软雅黑"/>
                <a:ea typeface="微软雅黑"/>
                <a:cs typeface="微软雅黑"/>
                <a:sym typeface="微软雅黑"/>
              </a:rPr>
              <a:t>关键词共被引网络分析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863600" y="749300"/>
            <a:ext cx="7620000" cy="215900"/>
          </a:xfrm>
          <a:prstGeom prst="rect">
            <a:avLst/>
          </a:prstGeom>
          <a:noFill/>
          <a:ln w="13382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646464"/>
                </a:solidFill>
                <a:latin typeface="Arial"/>
                <a:ea typeface="Arial"/>
                <a:cs typeface="Arial"/>
                <a:sym typeface="Arial"/>
              </a:rPr>
              <a:t>KEYWORD CO-CITATION NETWORK ANALYSIS IN TRAFFIC INFORMATION COLLECTION</a:t>
            </a:r>
            <a:endParaRPr lang="en-US" sz="1100"/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3"/>
          <a:srcRect l="0" r="0" t="0" b="0"/>
          <a:stretch>
            <a:fillRect/>
          </a:stretch>
        </p:blipFill>
        <p:spPr>
          <a:xfrm rot="0" flipH="false" flipV="false">
            <a:off x="11734800" y="6134100"/>
            <a:ext cx="1168400" cy="10922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4572000" y="1333500"/>
            <a:ext cx="8280400" cy="5181600"/>
          </a:xfrm>
          <a:prstGeom prst="roundRect">
            <a:avLst>
              <a:gd name="adj" fmla="val 0"/>
            </a:avLst>
          </a:prstGeom>
          <a:blipFill rotWithShape="true">
            <a:blip r:embed="rId2"/>
            <a:stretch>
              <a:fillRect l="0" r="0" t="0" b="0"/>
            </a:stretch>
          </a:blip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812800" y="1333500"/>
            <a:ext cx="5245100" cy="1714500"/>
          </a:xfrm>
          <a:prstGeom prst="roundRect">
            <a:avLst>
              <a:gd name="adj" fmla="val 0"/>
            </a:avLst>
          </a:prstGeom>
          <a:solidFill>
            <a:srgbClr val="004358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812800" y="4483100"/>
            <a:ext cx="3378200" cy="495300"/>
          </a:xfrm>
          <a:prstGeom prst="roundRect">
            <a:avLst>
              <a:gd name="adj" fmla="val 0"/>
            </a:avLst>
          </a:prstGeom>
          <a:solidFill>
            <a:srgbClr val="18B29D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88900" rIns="88900" tIns="50800" bIns="50800"/>
          <a:lstStyle/>
          <a:p>
            <a:pPr algn="just" marL="0" indent="0">
              <a:lnSpc>
                <a:spcPct val="100000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领域发展核心洞察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812800" y="5029200"/>
            <a:ext cx="3378200" cy="1295400"/>
          </a:xfrm>
          <a:prstGeom prst="rect">
            <a:avLst/>
          </a:prstGeom>
          <a:noFill/>
          <a:ln w="13382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just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505050"/>
                </a:solidFill>
                <a:latin typeface="微软雅黑"/>
                <a:ea typeface="微软雅黑"/>
                <a:cs typeface="微软雅黑"/>
                <a:sym typeface="微软雅黑"/>
              </a:rPr>
              <a:t>这一稀疏网络结构反映出该领域研究尚处于分散阶段，合作多局限于小团队内部。未来需着力打破机构与地域壁垒，建立跨单位的大规模科研合作共同体，以整合资源推动领域系统性发展。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168400" y="1587500"/>
            <a:ext cx="4610100" cy="1206500"/>
          </a:xfrm>
          <a:prstGeom prst="rect">
            <a:avLst/>
          </a:prstGeom>
          <a:noFill/>
          <a:ln w="13382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just" marL="0" indent="0">
              <a:lnSpc>
                <a:spcPct val="116666"/>
              </a:lnSpc>
              <a:defRPr/>
            </a:pPr>
            <a:r>
              <a:rPr lang="en-US" b="true" i="false" strike="noStrike" u="none" sz="15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网络特征与合作模式解析：</a:t>
            </a:r>
            <a:r>
              <a:rPr lang="en-US" b="false" i="false" strike="noStrike" u="none" sz="1400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微软雅黑"/>
              </a:rPr>
              <a:t/>
            </a:r>
            <a:endParaRPr lang="en-US" sz="1100"/>
          </a:p>
          <a:p>
            <a:pPr algn="just" marL="0" indent="0">
              <a:lnSpc>
                <a:spcPct val="116666"/>
              </a:lnSpc>
            </a:pPr>
            <a:r>
              <a:rPr lang="en-US" b="false" i="false" strike="noStrike" u="none" sz="1300">
                <a:solidFill>
                  <a:srgbClr val="E6E6E6"/>
                </a:solidFill>
                <a:latin typeface="微软雅黑"/>
                <a:ea typeface="微软雅黑"/>
                <a:cs typeface="微软雅黑"/>
                <a:sym typeface="微软雅黑"/>
              </a:rPr>
              <a:t>从可视化图谱可见，该领域作者合作网络整体呈现稀疏特征，仅存在若干小规模、分散的合作团体，尚未形成紧密连接的大规模合作网络，跨团队协作的节点关联度较低。</a:t>
            </a:r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863600" y="228600"/>
            <a:ext cx="5715000" cy="495300"/>
          </a:xfrm>
          <a:prstGeom prst="rect">
            <a:avLst/>
          </a:prstGeom>
          <a:noFill/>
          <a:ln w="13382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3200">
                <a:solidFill>
                  <a:srgbClr val="004358"/>
                </a:solidFill>
                <a:latin typeface="微软雅黑"/>
                <a:ea typeface="微软雅黑"/>
                <a:cs typeface="微软雅黑"/>
                <a:sym typeface="微软雅黑"/>
              </a:rPr>
              <a:t>作者合作网络分析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863600" y="749300"/>
            <a:ext cx="6350000" cy="215900"/>
          </a:xfrm>
          <a:prstGeom prst="rect">
            <a:avLst/>
          </a:prstGeom>
          <a:noFill/>
          <a:ln w="13382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646464"/>
                </a:solidFill>
                <a:latin typeface="Arial"/>
                <a:ea typeface="Arial"/>
                <a:cs typeface="Arial"/>
                <a:sym typeface="Arial"/>
              </a:rPr>
              <a:t>ANALYSIS OF AUTHOR COLLABORATION NETWORK IN RESEARCH FIELD</a:t>
            </a:r>
            <a:endParaRPr lang="en-US" sz="1100"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3"/>
          <a:srcRect l="0" r="0" t="0" b="0"/>
          <a:stretch>
            <a:fillRect/>
          </a:stretch>
        </p:blipFill>
        <p:spPr>
          <a:xfrm rot="0" flipH="false" flipV="false">
            <a:off x="11734800" y="6134100"/>
            <a:ext cx="1168400" cy="10922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5791200" y="3416300"/>
            <a:ext cx="596900" cy="596900"/>
          </a:xfrm>
          <a:prstGeom prst="roundRect">
            <a:avLst>
              <a:gd name="adj" fmla="val 17021"/>
            </a:avLst>
          </a:prstGeom>
          <a:solidFill>
            <a:srgbClr val="18B29D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5791200" y="4178300"/>
            <a:ext cx="596900" cy="596900"/>
          </a:xfrm>
          <a:prstGeom prst="roundRect">
            <a:avLst>
              <a:gd name="adj" fmla="val 17021"/>
            </a:avLst>
          </a:prstGeom>
          <a:solidFill>
            <a:srgbClr val="004358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5803900" y="2667000"/>
            <a:ext cx="596900" cy="596900"/>
          </a:xfrm>
          <a:prstGeom prst="roundRect">
            <a:avLst>
              <a:gd name="adj" fmla="val 17021"/>
            </a:avLst>
          </a:prstGeom>
          <a:solidFill>
            <a:srgbClr val="004358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9245600" y="3429000"/>
            <a:ext cx="596900" cy="596900"/>
          </a:xfrm>
          <a:prstGeom prst="roundRect">
            <a:avLst>
              <a:gd name="adj" fmla="val 17021"/>
            </a:avLst>
          </a:prstGeom>
          <a:solidFill>
            <a:srgbClr val="004358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9245600" y="4178300"/>
            <a:ext cx="596900" cy="596900"/>
          </a:xfrm>
          <a:prstGeom prst="roundRect">
            <a:avLst>
              <a:gd name="adj" fmla="val 17021"/>
            </a:avLst>
          </a:prstGeom>
          <a:solidFill>
            <a:srgbClr val="18B29D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9258300" y="2667000"/>
            <a:ext cx="596900" cy="596900"/>
          </a:xfrm>
          <a:prstGeom prst="roundRect">
            <a:avLst>
              <a:gd name="adj" fmla="val 17021"/>
            </a:avLst>
          </a:prstGeom>
          <a:solidFill>
            <a:srgbClr val="18B29D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6464300" y="2641600"/>
            <a:ext cx="2120900" cy="698500"/>
          </a:xfrm>
          <a:prstGeom prst="rect">
            <a:avLst/>
          </a:prstGeom>
          <a:noFill/>
          <a:ln w="13382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just" marL="0" indent="0">
              <a:lnSpc>
                <a:spcPct val="108333"/>
              </a:lnSpc>
              <a:defRPr/>
            </a:pPr>
            <a:r>
              <a:rPr lang="en-US" b="true" i="false" strike="noStrike" u="none" sz="1400">
                <a:solidFill>
                  <a:srgbClr val="004358"/>
                </a:solidFill>
                <a:latin typeface="微软雅黑"/>
                <a:ea typeface="微软雅黑"/>
                <a:cs typeface="微软雅黑"/>
                <a:sym typeface="微软雅黑"/>
              </a:rPr>
              <a:t>演进路径：基础贯穿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just" marL="0" indent="0">
              <a:lnSpc>
                <a:spcPct val="100000"/>
              </a:lnSpc>
            </a:pPr>
            <a:r>
              <a:rPr lang="en-US" b="false" i="false" strike="noStrike" u="none" sz="11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时间线清晰展示研究热点演进，“智能交通”与“信息采集”作为核心基础主题贯穿领域发展始终。</a:t>
            </a:r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6464300" y="4178300"/>
            <a:ext cx="2120900" cy="698500"/>
          </a:xfrm>
          <a:prstGeom prst="rect">
            <a:avLst/>
          </a:prstGeom>
          <a:noFill/>
          <a:ln w="13382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just" marL="0" indent="0">
              <a:lnSpc>
                <a:spcPct val="108333"/>
              </a:lnSpc>
              <a:defRPr/>
            </a:pPr>
            <a:r>
              <a:rPr lang="en-US" b="true" i="false" strike="noStrike" u="none" sz="1400">
                <a:solidFill>
                  <a:srgbClr val="004358"/>
                </a:solidFill>
                <a:latin typeface="微软雅黑"/>
                <a:ea typeface="微软雅黑"/>
                <a:cs typeface="微软雅黑"/>
                <a:sym typeface="微软雅黑"/>
              </a:rPr>
              <a:t>趋势洞察：技术迭代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just" marL="0" indent="0">
              <a:lnSpc>
                <a:spcPct val="100000"/>
              </a:lnSpc>
            </a:pPr>
            <a:r>
              <a:rPr lang="en-US" b="false" i="false" strike="noStrike" u="none" sz="11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近年“车联网”“安全检测”等新关键词快速涌现，反映领域正从基础采集向综合应用方向深度拓展。</a:t>
            </a:r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464300" y="3441700"/>
            <a:ext cx="2120900" cy="698500"/>
          </a:xfrm>
          <a:prstGeom prst="rect">
            <a:avLst/>
          </a:prstGeom>
          <a:noFill/>
          <a:ln w="13382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just" marL="0" indent="0">
              <a:lnSpc>
                <a:spcPct val="108333"/>
              </a:lnSpc>
              <a:defRPr/>
            </a:pPr>
            <a:r>
              <a:rPr lang="en-US" b="true" i="false" strike="noStrike" u="none" sz="1400">
                <a:solidFill>
                  <a:srgbClr val="18B29D"/>
                </a:solidFill>
                <a:latin typeface="微软雅黑"/>
                <a:ea typeface="微软雅黑"/>
                <a:cs typeface="微软雅黑"/>
                <a:sym typeface="微软雅黑"/>
              </a:rPr>
              <a:t>时间跨度：长期脉络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just" marL="0" indent="0">
              <a:lnSpc>
                <a:spcPct val="100000"/>
              </a:lnSpc>
            </a:pPr>
            <a:r>
              <a:rPr lang="en-US" b="false" i="false" strike="noStrike" u="none" sz="11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覆盖2014至2026年的完整研究周期，系统呈现了领域从起步探索到成熟深化的全过程发展轨迹。</a:t>
            </a:r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9906000" y="2654300"/>
            <a:ext cx="2146300" cy="698500"/>
          </a:xfrm>
          <a:prstGeom prst="rect">
            <a:avLst/>
          </a:prstGeom>
          <a:noFill/>
          <a:ln w="13382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just" marL="0" indent="0">
              <a:lnSpc>
                <a:spcPct val="108333"/>
              </a:lnSpc>
              <a:defRPr/>
            </a:pPr>
            <a:r>
              <a:rPr lang="en-US" b="true" i="false" strike="noStrike" u="none" sz="1400">
                <a:solidFill>
                  <a:srgbClr val="18B29D"/>
                </a:solidFill>
                <a:latin typeface="微软雅黑"/>
                <a:ea typeface="微软雅黑"/>
                <a:cs typeface="微软雅黑"/>
                <a:sym typeface="微软雅黑"/>
              </a:rPr>
              <a:t>核心方向：高度智能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just" marL="0" indent="0">
              <a:lnSpc>
                <a:spcPct val="100000"/>
              </a:lnSpc>
            </a:pPr>
            <a:r>
              <a:rPr lang="en-US" b="false" i="false" strike="noStrike" u="none" sz="11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研究前沿向智能化演进，人工智能算法与交通系统深度融合，大幅提升了信息处理与决策效率。</a:t>
            </a:r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9906000" y="4191000"/>
            <a:ext cx="2146300" cy="698500"/>
          </a:xfrm>
          <a:prstGeom prst="rect">
            <a:avLst/>
          </a:prstGeom>
          <a:noFill/>
          <a:ln w="13382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just" marL="0" indent="0">
              <a:lnSpc>
                <a:spcPct val="108333"/>
              </a:lnSpc>
              <a:defRPr/>
            </a:pPr>
            <a:r>
              <a:rPr lang="en-US" b="true" i="false" strike="noStrike" u="none" sz="1400">
                <a:solidFill>
                  <a:srgbClr val="18B29D"/>
                </a:solidFill>
                <a:latin typeface="微软雅黑"/>
                <a:ea typeface="微软雅黑"/>
                <a:cs typeface="微软雅黑"/>
                <a:sym typeface="微软雅黑"/>
              </a:rPr>
              <a:t>发展保障：安全为基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just" marL="0" indent="0">
              <a:lnSpc>
                <a:spcPct val="100000"/>
              </a:lnSpc>
            </a:pPr>
            <a:r>
              <a:rPr lang="en-US" b="false" i="false" strike="noStrike" u="none" sz="11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“安全检测”成为高频关键词，标志着领域发展更注重系统的可靠性与全生命周期的安全管控。</a:t>
            </a:r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9906000" y="3441700"/>
            <a:ext cx="2146300" cy="698500"/>
          </a:xfrm>
          <a:prstGeom prst="rect">
            <a:avLst/>
          </a:prstGeom>
          <a:noFill/>
          <a:ln w="13382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just" marL="0" indent="0">
              <a:lnSpc>
                <a:spcPct val="108333"/>
              </a:lnSpc>
              <a:defRPr/>
            </a:pPr>
            <a:r>
              <a:rPr lang="en-US" b="true" i="false" strike="noStrike" u="none" sz="1400">
                <a:solidFill>
                  <a:srgbClr val="004358"/>
                </a:solidFill>
                <a:latin typeface="微软雅黑"/>
                <a:ea typeface="微软雅黑"/>
                <a:cs typeface="微软雅黑"/>
                <a:sym typeface="微软雅黑"/>
              </a:rPr>
              <a:t>关键特性：实时响应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just" marL="0" indent="0">
              <a:lnSpc>
                <a:spcPct val="100000"/>
              </a:lnSpc>
            </a:pPr>
            <a:r>
              <a:rPr lang="en-US" b="false" i="false" strike="noStrike" u="none" sz="11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“实时”成为关键技术指标，强调信息采集、传输与分析的即时性，满足动态交通管控的实际需求。</a:t>
            </a:r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2"/>
          <a:srcRect l="15930" r="15930" t="0" b="0"/>
          <a:stretch>
            <a:fillRect/>
          </a:stretch>
        </p:blipFill>
        <p:spPr>
          <a:xfrm rot="0" flipH="false" flipV="false">
            <a:off x="723900" y="2133600"/>
            <a:ext cx="4876800" cy="39878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5" id="15"/>
          <p:cNvSpPr/>
          <p:nvPr/>
        </p:nvSpPr>
        <p:spPr>
          <a:xfrm rot="0" flipH="false" flipV="false">
            <a:off x="863600" y="228600"/>
            <a:ext cx="6350000" cy="495300"/>
          </a:xfrm>
          <a:prstGeom prst="rect">
            <a:avLst/>
          </a:prstGeom>
          <a:noFill/>
          <a:ln w="13382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3200">
                <a:solidFill>
                  <a:srgbClr val="004358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r>
              <a:rPr lang="en-US" b="true" i="false" strike="noStrike" u="none" sz="3200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微软雅黑"/>
              </a:rPr>
              <a:t>研究趋势时间线分析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863600" y="749300"/>
            <a:ext cx="7620000" cy="215900"/>
          </a:xfrm>
          <a:prstGeom prst="rect">
            <a:avLst/>
          </a:prstGeom>
          <a:noFill/>
          <a:ln w="13382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646464"/>
                </a:solidFill>
                <a:latin typeface="Arial"/>
                <a:ea typeface="Arial"/>
                <a:cs typeface="Arial"/>
                <a:sym typeface="Arial"/>
              </a:rPr>
              <a:t>RESEARCH TREND TIMELINE ANALYSIS (2014-2026)</a:t>
            </a:r>
            <a:endParaRPr lang="en-US" sz="1100"/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3"/>
          <a:srcRect l="0" r="0" t="0" b="0"/>
          <a:stretch>
            <a:fillRect/>
          </a:stretch>
        </p:blipFill>
        <p:spPr>
          <a:xfrm rot="0" flipH="false" flipV="false">
            <a:off x="11734800" y="6134100"/>
            <a:ext cx="1168400" cy="10922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4241800" y="3492500"/>
            <a:ext cx="4381500" cy="965200"/>
          </a:xfrm>
          <a:prstGeom prst="roundRect">
            <a:avLst>
              <a:gd name="adj" fmla="val 50000"/>
            </a:avLst>
          </a:prstGeom>
          <a:solidFill>
            <a:srgbClr val="18B29D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5918200" y="2209800"/>
            <a:ext cx="1016000" cy="1016000"/>
          </a:xfrm>
          <a:prstGeom prst="ellipse">
            <a:avLst/>
          </a:prstGeom>
          <a:solidFill>
            <a:srgbClr val="004358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4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lang="en-US" sz="1100"/>
          </a:p>
        </p:txBody>
      </p:sp>
      <p:sp>
        <p:nvSpPr>
          <p:cNvPr name="Freeform 4" id="4"/>
          <p:cNvSpPr/>
          <p:nvPr/>
        </p:nvSpPr>
        <p:spPr>
          <a:xfrm rot="0" flipH="false" flipV="false">
            <a:off x="5156200" y="3619500"/>
            <a:ext cx="2535812" cy="708143"/>
          </a:xfrm>
          <a:custGeom>
            <a:avLst/>
            <a:gdLst/>
            <a:ahLst/>
            <a:cxnLst/>
            <a:rect r="r" b="b" t="t" l="l"/>
            <a:pathLst>
              <a:path h="708143" w="2535812">
                <a:moveTo>
                  <a:pt x="0" y="708143"/>
                </a:moveTo>
                <a:lnTo>
                  <a:pt x="2535812" y="708143"/>
                </a:lnTo>
                <a:lnTo>
                  <a:pt x="0" y="708143"/>
                </a:lnTo>
                <a:close/>
                <a:moveTo>
                  <a:pt x="0" y="0"/>
                </a:moveTo>
                <a:lnTo>
                  <a:pt x="922" y="0"/>
                </a:lnTo>
                <a:lnTo>
                  <a:pt x="0" y="0"/>
                </a:lnTo>
                <a:close/>
              </a:path>
            </a:pathLst>
          </a:cu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32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总结与展望</a:t>
            </a:r>
            <a:r>
              <a:rPr lang="en-US" b="false" i="false" strike="noStrike" u="none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SUMMARY AND OUTLOOK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6502400" y="4648200"/>
            <a:ext cx="1612900" cy="215900"/>
          </a:xfrm>
          <a:prstGeom prst="rect">
            <a:avLst/>
          </a:prstGeom>
          <a:noFill/>
          <a:ln w="13382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ctr" lvl="1" indent="-177800" marL="533400">
              <a:lnSpc>
                <a:spcPct val="100000"/>
              </a:lnSpc>
              <a:buClr>
                <a:srgbClr val="505050"/>
              </a:buClr>
              <a:buFont typeface="Arial"/>
              <a:buChar char="•"/>
              <a:defRPr/>
            </a:pPr>
            <a:r>
              <a:rPr lang="en-US" b="false" i="false" strike="noStrike" u="none" sz="1400">
                <a:solidFill>
                  <a:srgbClr val="505050"/>
                </a:solidFill>
                <a:latin typeface="微软雅黑"/>
                <a:ea typeface="微软雅黑"/>
                <a:cs typeface="微软雅黑"/>
                <a:sym typeface="微软雅黑"/>
              </a:rPr>
              <a:t>关键技术难题攻克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4737100" y="4648200"/>
            <a:ext cx="1612900" cy="215900"/>
          </a:xfrm>
          <a:prstGeom prst="rect">
            <a:avLst/>
          </a:prstGeom>
          <a:noFill/>
          <a:ln w="13382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ctr" lvl="1" indent="-177800" marL="533400">
              <a:lnSpc>
                <a:spcPct val="100000"/>
              </a:lnSpc>
              <a:buClr>
                <a:srgbClr val="505050"/>
              </a:buClr>
              <a:buFont typeface="Arial"/>
              <a:buChar char="•"/>
              <a:defRPr/>
            </a:pPr>
            <a:r>
              <a:rPr lang="en-US" b="false" i="false" strike="noStrike" u="none" sz="1400">
                <a:solidFill>
                  <a:srgbClr val="505050"/>
                </a:solidFill>
                <a:latin typeface="微软雅黑"/>
                <a:ea typeface="微软雅黑"/>
                <a:cs typeface="微软雅黑"/>
                <a:sym typeface="微软雅黑"/>
              </a:rPr>
              <a:t>项目核心目标达成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6502400" y="4914900"/>
            <a:ext cx="1612900" cy="215900"/>
          </a:xfrm>
          <a:prstGeom prst="rect">
            <a:avLst/>
          </a:prstGeom>
          <a:noFill/>
          <a:ln w="13382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ctr" lvl="1" indent="-177800" marL="533400">
              <a:lnSpc>
                <a:spcPct val="100000"/>
              </a:lnSpc>
              <a:buClr>
                <a:srgbClr val="505050"/>
              </a:buClr>
              <a:buFont typeface="Arial"/>
              <a:buChar char="•"/>
              <a:defRPr/>
            </a:pPr>
            <a:r>
              <a:rPr lang="en-US" b="false" i="false" strike="noStrike" u="none" sz="1400">
                <a:solidFill>
                  <a:srgbClr val="505050"/>
                </a:solidFill>
                <a:latin typeface="微软雅黑"/>
                <a:ea typeface="微软雅黑"/>
                <a:cs typeface="微软雅黑"/>
                <a:sym typeface="微软雅黑"/>
              </a:rPr>
              <a:t>持续优化迭代升级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4737100" y="4914900"/>
            <a:ext cx="1612900" cy="215900"/>
          </a:xfrm>
          <a:prstGeom prst="rect">
            <a:avLst/>
          </a:prstGeom>
          <a:noFill/>
          <a:ln w="13382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ctr" lvl="1" indent="-177800" marL="533400">
              <a:lnSpc>
                <a:spcPct val="100000"/>
              </a:lnSpc>
              <a:buClr>
                <a:srgbClr val="505050"/>
              </a:buClr>
              <a:buFont typeface="Arial"/>
              <a:buChar char="•"/>
              <a:defRPr/>
            </a:pPr>
            <a:r>
              <a:rPr lang="en-US" b="false" i="false" strike="noStrike" u="none" sz="1400">
                <a:solidFill>
                  <a:srgbClr val="505050"/>
                </a:solidFill>
                <a:latin typeface="微软雅黑"/>
                <a:ea typeface="微软雅黑"/>
                <a:cs typeface="微软雅黑"/>
                <a:sym typeface="微软雅黑"/>
              </a:rPr>
              <a:t>拓展应用场景探索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rot="1500000" flipH="false" flipV="false">
            <a:off x="8623300" y="2895568"/>
            <a:ext cx="676681" cy="669300"/>
          </a:xfrm>
          <a:custGeom>
            <a:avLst/>
            <a:gdLst/>
            <a:ahLst/>
            <a:cxnLst/>
            <a:rect r="r" b="b" t="t" l="l"/>
            <a:pathLst>
              <a:path h="669300" w="676681">
                <a:moveTo>
                  <a:pt x="101408" y="0"/>
                </a:moveTo>
                <a:cubicBezTo>
                  <a:pt x="432167" y="50174"/>
                  <a:pt x="676681" y="334603"/>
                  <a:pt x="676681" y="669300"/>
                </a:cubicBezTo>
                <a:moveTo>
                  <a:pt x="101408" y="0"/>
                </a:moveTo>
                <a:cubicBezTo>
                  <a:pt x="432167" y="50174"/>
                  <a:pt x="676681" y="334603"/>
                  <a:pt x="676681" y="669300"/>
                </a:cubicBezTo>
                <a:lnTo>
                  <a:pt x="0" y="669300"/>
                </a:lnTo>
                <a:lnTo>
                  <a:pt x="101408" y="0"/>
                </a:lnTo>
                <a:close/>
              </a:path>
            </a:pathLst>
          </a:custGeom>
          <a:noFill/>
          <a:ln w="12700" cmpd="sng" cap="rnd">
            <a:solidFill>
              <a:srgbClr val="808080">
                <a:alpha val="100000"/>
              </a:srgbClr>
            </a:solidFill>
            <a:prstDash val="sysDot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3" id="3"/>
          <p:cNvSpPr/>
          <p:nvPr/>
        </p:nvSpPr>
        <p:spPr>
          <a:xfrm rot="4020000" flipH="false" flipV="false">
            <a:off x="7569200" y="3530600"/>
            <a:ext cx="1753653" cy="1754711"/>
          </a:xfrm>
          <a:custGeom>
            <a:avLst/>
            <a:gdLst/>
            <a:ahLst/>
            <a:cxnLst/>
            <a:rect r="r" b="b" t="t" l="l"/>
            <a:pathLst>
              <a:path h="1754711" w="1753653">
                <a:moveTo>
                  <a:pt x="1753653" y="944993"/>
                </a:moveTo>
                <a:lnTo>
                  <a:pt x="1753653" y="807786"/>
                </a:lnTo>
                <a:lnTo>
                  <a:pt x="1651292" y="807786"/>
                </a:lnTo>
                <a:lnTo>
                  <a:pt x="1647430" y="765270"/>
                </a:lnTo>
                <a:lnTo>
                  <a:pt x="1639705" y="724687"/>
                </a:lnTo>
                <a:lnTo>
                  <a:pt x="1630048" y="684106"/>
                </a:lnTo>
                <a:lnTo>
                  <a:pt x="1620390" y="643523"/>
                </a:lnTo>
                <a:lnTo>
                  <a:pt x="1713095" y="604873"/>
                </a:lnTo>
                <a:lnTo>
                  <a:pt x="1659018" y="477328"/>
                </a:lnTo>
                <a:lnTo>
                  <a:pt x="1566314" y="515978"/>
                </a:lnTo>
                <a:lnTo>
                  <a:pt x="1547000" y="479260"/>
                </a:lnTo>
                <a:lnTo>
                  <a:pt x="1523823" y="444476"/>
                </a:lnTo>
                <a:lnTo>
                  <a:pt x="1498717" y="409691"/>
                </a:lnTo>
                <a:lnTo>
                  <a:pt x="1473609" y="376838"/>
                </a:lnTo>
                <a:lnTo>
                  <a:pt x="1545069" y="305335"/>
                </a:lnTo>
                <a:lnTo>
                  <a:pt x="1446571" y="208711"/>
                </a:lnTo>
                <a:lnTo>
                  <a:pt x="1377042" y="280213"/>
                </a:lnTo>
                <a:lnTo>
                  <a:pt x="1344210" y="253158"/>
                </a:lnTo>
                <a:lnTo>
                  <a:pt x="1309446" y="228035"/>
                </a:lnTo>
                <a:lnTo>
                  <a:pt x="1272751" y="206778"/>
                </a:lnTo>
                <a:lnTo>
                  <a:pt x="1236055" y="185520"/>
                </a:lnTo>
                <a:lnTo>
                  <a:pt x="1274681" y="92760"/>
                </a:lnTo>
                <a:lnTo>
                  <a:pt x="1147214" y="40583"/>
                </a:lnTo>
                <a:lnTo>
                  <a:pt x="1110518" y="133342"/>
                </a:lnTo>
                <a:lnTo>
                  <a:pt x="1069960" y="121747"/>
                </a:lnTo>
                <a:lnTo>
                  <a:pt x="1029402" y="112085"/>
                </a:lnTo>
                <a:lnTo>
                  <a:pt x="986913" y="106288"/>
                </a:lnTo>
                <a:lnTo>
                  <a:pt x="944423" y="100490"/>
                </a:lnTo>
                <a:lnTo>
                  <a:pt x="944423" y="0"/>
                </a:lnTo>
                <a:lnTo>
                  <a:pt x="807298" y="0"/>
                </a:lnTo>
                <a:lnTo>
                  <a:pt x="807298" y="100490"/>
                </a:lnTo>
                <a:lnTo>
                  <a:pt x="764809" y="106288"/>
                </a:lnTo>
                <a:lnTo>
                  <a:pt x="724251" y="112085"/>
                </a:lnTo>
                <a:lnTo>
                  <a:pt x="681761" y="121747"/>
                </a:lnTo>
                <a:lnTo>
                  <a:pt x="643134" y="133342"/>
                </a:lnTo>
                <a:lnTo>
                  <a:pt x="604509" y="40583"/>
                </a:lnTo>
                <a:lnTo>
                  <a:pt x="477040" y="92760"/>
                </a:lnTo>
                <a:lnTo>
                  <a:pt x="515667" y="185520"/>
                </a:lnTo>
                <a:lnTo>
                  <a:pt x="478972" y="206778"/>
                </a:lnTo>
                <a:lnTo>
                  <a:pt x="444207" y="228035"/>
                </a:lnTo>
                <a:lnTo>
                  <a:pt x="409443" y="253158"/>
                </a:lnTo>
                <a:lnTo>
                  <a:pt x="376611" y="280213"/>
                </a:lnTo>
                <a:lnTo>
                  <a:pt x="305151" y="208711"/>
                </a:lnTo>
                <a:lnTo>
                  <a:pt x="208585" y="305335"/>
                </a:lnTo>
                <a:lnTo>
                  <a:pt x="278112" y="376838"/>
                </a:lnTo>
                <a:lnTo>
                  <a:pt x="253006" y="409691"/>
                </a:lnTo>
                <a:lnTo>
                  <a:pt x="227898" y="444476"/>
                </a:lnTo>
                <a:lnTo>
                  <a:pt x="206653" y="479260"/>
                </a:lnTo>
                <a:lnTo>
                  <a:pt x="185409" y="515978"/>
                </a:lnTo>
                <a:lnTo>
                  <a:pt x="92704" y="477328"/>
                </a:lnTo>
                <a:lnTo>
                  <a:pt x="40557" y="604873"/>
                </a:lnTo>
                <a:lnTo>
                  <a:pt x="133262" y="643523"/>
                </a:lnTo>
                <a:lnTo>
                  <a:pt x="121674" y="684106"/>
                </a:lnTo>
                <a:lnTo>
                  <a:pt x="112018" y="724687"/>
                </a:lnTo>
                <a:lnTo>
                  <a:pt x="104292" y="765270"/>
                </a:lnTo>
                <a:lnTo>
                  <a:pt x="100429" y="807786"/>
                </a:lnTo>
                <a:lnTo>
                  <a:pt x="0" y="807786"/>
                </a:lnTo>
                <a:lnTo>
                  <a:pt x="0" y="944993"/>
                </a:lnTo>
                <a:lnTo>
                  <a:pt x="100429" y="944993"/>
                </a:lnTo>
                <a:lnTo>
                  <a:pt x="104292" y="987508"/>
                </a:lnTo>
                <a:lnTo>
                  <a:pt x="112018" y="1030023"/>
                </a:lnTo>
                <a:lnTo>
                  <a:pt x="121674" y="1070606"/>
                </a:lnTo>
                <a:lnTo>
                  <a:pt x="133262" y="1111188"/>
                </a:lnTo>
                <a:lnTo>
                  <a:pt x="40557" y="1149838"/>
                </a:lnTo>
                <a:lnTo>
                  <a:pt x="92704" y="1275451"/>
                </a:lnTo>
                <a:lnTo>
                  <a:pt x="185409" y="1236801"/>
                </a:lnTo>
                <a:lnTo>
                  <a:pt x="206653" y="1275451"/>
                </a:lnTo>
                <a:lnTo>
                  <a:pt x="227898" y="1310236"/>
                </a:lnTo>
                <a:lnTo>
                  <a:pt x="253006" y="1345020"/>
                </a:lnTo>
                <a:lnTo>
                  <a:pt x="278112" y="1377874"/>
                </a:lnTo>
                <a:lnTo>
                  <a:pt x="208585" y="1449376"/>
                </a:lnTo>
                <a:lnTo>
                  <a:pt x="305151" y="1546001"/>
                </a:lnTo>
                <a:lnTo>
                  <a:pt x="376611" y="1474498"/>
                </a:lnTo>
                <a:lnTo>
                  <a:pt x="409443" y="1501553"/>
                </a:lnTo>
                <a:lnTo>
                  <a:pt x="444207" y="1524743"/>
                </a:lnTo>
                <a:lnTo>
                  <a:pt x="478972" y="1547933"/>
                </a:lnTo>
                <a:lnTo>
                  <a:pt x="515667" y="1567259"/>
                </a:lnTo>
                <a:lnTo>
                  <a:pt x="477040" y="1660018"/>
                </a:lnTo>
                <a:lnTo>
                  <a:pt x="604509" y="1714128"/>
                </a:lnTo>
                <a:lnTo>
                  <a:pt x="643134" y="1621368"/>
                </a:lnTo>
                <a:lnTo>
                  <a:pt x="681761" y="1632963"/>
                </a:lnTo>
                <a:lnTo>
                  <a:pt x="724251" y="1640694"/>
                </a:lnTo>
                <a:lnTo>
                  <a:pt x="764809" y="1648423"/>
                </a:lnTo>
                <a:lnTo>
                  <a:pt x="807298" y="1654221"/>
                </a:lnTo>
                <a:lnTo>
                  <a:pt x="807298" y="1754711"/>
                </a:lnTo>
                <a:lnTo>
                  <a:pt x="944423" y="1754711"/>
                </a:lnTo>
                <a:lnTo>
                  <a:pt x="944423" y="1654221"/>
                </a:lnTo>
                <a:lnTo>
                  <a:pt x="986913" y="1648423"/>
                </a:lnTo>
                <a:lnTo>
                  <a:pt x="1029402" y="1640694"/>
                </a:lnTo>
                <a:lnTo>
                  <a:pt x="1069960" y="1632963"/>
                </a:lnTo>
                <a:lnTo>
                  <a:pt x="1110518" y="1621368"/>
                </a:lnTo>
                <a:lnTo>
                  <a:pt x="1147214" y="1714128"/>
                </a:lnTo>
                <a:lnTo>
                  <a:pt x="1274681" y="1660018"/>
                </a:lnTo>
                <a:lnTo>
                  <a:pt x="1236055" y="1567259"/>
                </a:lnTo>
                <a:lnTo>
                  <a:pt x="1272751" y="1547933"/>
                </a:lnTo>
                <a:lnTo>
                  <a:pt x="1309446" y="1524743"/>
                </a:lnTo>
                <a:lnTo>
                  <a:pt x="1344210" y="1501553"/>
                </a:lnTo>
                <a:lnTo>
                  <a:pt x="1377042" y="1474498"/>
                </a:lnTo>
                <a:lnTo>
                  <a:pt x="1446571" y="1546001"/>
                </a:lnTo>
                <a:lnTo>
                  <a:pt x="1545069" y="1449376"/>
                </a:lnTo>
                <a:lnTo>
                  <a:pt x="1473609" y="1377874"/>
                </a:lnTo>
                <a:lnTo>
                  <a:pt x="1498717" y="1345020"/>
                </a:lnTo>
                <a:lnTo>
                  <a:pt x="1523823" y="1310236"/>
                </a:lnTo>
                <a:lnTo>
                  <a:pt x="1547000" y="1275451"/>
                </a:lnTo>
                <a:lnTo>
                  <a:pt x="1566314" y="1236801"/>
                </a:lnTo>
                <a:lnTo>
                  <a:pt x="1659018" y="1275451"/>
                </a:lnTo>
                <a:lnTo>
                  <a:pt x="1713095" y="1149838"/>
                </a:lnTo>
                <a:lnTo>
                  <a:pt x="1620390" y="1111188"/>
                </a:lnTo>
                <a:lnTo>
                  <a:pt x="1630048" y="1070606"/>
                </a:lnTo>
                <a:lnTo>
                  <a:pt x="1639705" y="1030023"/>
                </a:lnTo>
                <a:lnTo>
                  <a:pt x="1647430" y="987508"/>
                </a:lnTo>
                <a:lnTo>
                  <a:pt x="1651292" y="944993"/>
                </a:lnTo>
                <a:lnTo>
                  <a:pt x="1753653" y="944993"/>
                </a:lnTo>
                <a:close/>
                <a:moveTo>
                  <a:pt x="876827" y="1559528"/>
                </a:moveTo>
                <a:lnTo>
                  <a:pt x="876827" y="1559528"/>
                </a:lnTo>
                <a:lnTo>
                  <a:pt x="842062" y="1557595"/>
                </a:lnTo>
                <a:lnTo>
                  <a:pt x="807298" y="1555664"/>
                </a:lnTo>
                <a:lnTo>
                  <a:pt x="772535" y="1551798"/>
                </a:lnTo>
                <a:lnTo>
                  <a:pt x="739701" y="1546001"/>
                </a:lnTo>
                <a:lnTo>
                  <a:pt x="704938" y="1538271"/>
                </a:lnTo>
                <a:lnTo>
                  <a:pt x="674036" y="1528609"/>
                </a:lnTo>
                <a:lnTo>
                  <a:pt x="641204" y="1517014"/>
                </a:lnTo>
                <a:lnTo>
                  <a:pt x="610302" y="1505419"/>
                </a:lnTo>
                <a:lnTo>
                  <a:pt x="581332" y="1491891"/>
                </a:lnTo>
                <a:lnTo>
                  <a:pt x="550431" y="1476431"/>
                </a:lnTo>
                <a:lnTo>
                  <a:pt x="523392" y="1460971"/>
                </a:lnTo>
                <a:lnTo>
                  <a:pt x="494422" y="1441646"/>
                </a:lnTo>
                <a:lnTo>
                  <a:pt x="467383" y="1424253"/>
                </a:lnTo>
                <a:lnTo>
                  <a:pt x="442276" y="1402996"/>
                </a:lnTo>
                <a:lnTo>
                  <a:pt x="417168" y="1381738"/>
                </a:lnTo>
                <a:lnTo>
                  <a:pt x="393992" y="1358548"/>
                </a:lnTo>
                <a:lnTo>
                  <a:pt x="370816" y="1335358"/>
                </a:lnTo>
                <a:lnTo>
                  <a:pt x="349571" y="1310236"/>
                </a:lnTo>
                <a:lnTo>
                  <a:pt x="330258" y="1285113"/>
                </a:lnTo>
                <a:lnTo>
                  <a:pt x="310946" y="1258058"/>
                </a:lnTo>
                <a:lnTo>
                  <a:pt x="293563" y="1231003"/>
                </a:lnTo>
                <a:lnTo>
                  <a:pt x="276181" y="1202016"/>
                </a:lnTo>
                <a:lnTo>
                  <a:pt x="262661" y="1173028"/>
                </a:lnTo>
                <a:lnTo>
                  <a:pt x="247211" y="1142108"/>
                </a:lnTo>
                <a:lnTo>
                  <a:pt x="235623" y="1111188"/>
                </a:lnTo>
                <a:lnTo>
                  <a:pt x="225966" y="1080268"/>
                </a:lnTo>
                <a:lnTo>
                  <a:pt x="216310" y="1047416"/>
                </a:lnTo>
                <a:lnTo>
                  <a:pt x="208585" y="1014564"/>
                </a:lnTo>
                <a:lnTo>
                  <a:pt x="202790" y="981710"/>
                </a:lnTo>
                <a:lnTo>
                  <a:pt x="198928" y="946926"/>
                </a:lnTo>
                <a:lnTo>
                  <a:pt x="195064" y="912141"/>
                </a:lnTo>
                <a:lnTo>
                  <a:pt x="195064" y="877355"/>
                </a:lnTo>
                <a:lnTo>
                  <a:pt x="195064" y="842570"/>
                </a:lnTo>
                <a:lnTo>
                  <a:pt x="198928" y="807786"/>
                </a:lnTo>
                <a:lnTo>
                  <a:pt x="202790" y="773001"/>
                </a:lnTo>
                <a:lnTo>
                  <a:pt x="208585" y="740148"/>
                </a:lnTo>
                <a:lnTo>
                  <a:pt x="216310" y="707296"/>
                </a:lnTo>
                <a:lnTo>
                  <a:pt x="225966" y="674442"/>
                </a:lnTo>
                <a:lnTo>
                  <a:pt x="235623" y="641590"/>
                </a:lnTo>
                <a:lnTo>
                  <a:pt x="247211" y="610671"/>
                </a:lnTo>
                <a:lnTo>
                  <a:pt x="262661" y="581683"/>
                </a:lnTo>
                <a:lnTo>
                  <a:pt x="276181" y="552695"/>
                </a:lnTo>
                <a:lnTo>
                  <a:pt x="293563" y="523707"/>
                </a:lnTo>
                <a:lnTo>
                  <a:pt x="310946" y="494721"/>
                </a:lnTo>
                <a:lnTo>
                  <a:pt x="330258" y="469598"/>
                </a:lnTo>
                <a:lnTo>
                  <a:pt x="349571" y="442543"/>
                </a:lnTo>
                <a:lnTo>
                  <a:pt x="370816" y="417420"/>
                </a:lnTo>
                <a:lnTo>
                  <a:pt x="393992" y="394230"/>
                </a:lnTo>
                <a:lnTo>
                  <a:pt x="417168" y="372972"/>
                </a:lnTo>
                <a:lnTo>
                  <a:pt x="442276" y="349782"/>
                </a:lnTo>
                <a:lnTo>
                  <a:pt x="467383" y="330458"/>
                </a:lnTo>
                <a:lnTo>
                  <a:pt x="494422" y="311132"/>
                </a:lnTo>
                <a:lnTo>
                  <a:pt x="523392" y="293740"/>
                </a:lnTo>
                <a:lnTo>
                  <a:pt x="550431" y="276348"/>
                </a:lnTo>
                <a:lnTo>
                  <a:pt x="581332" y="262820"/>
                </a:lnTo>
                <a:lnTo>
                  <a:pt x="610302" y="249292"/>
                </a:lnTo>
                <a:lnTo>
                  <a:pt x="641204" y="235765"/>
                </a:lnTo>
                <a:lnTo>
                  <a:pt x="674036" y="226103"/>
                </a:lnTo>
                <a:lnTo>
                  <a:pt x="704938" y="216440"/>
                </a:lnTo>
                <a:lnTo>
                  <a:pt x="739701" y="208711"/>
                </a:lnTo>
                <a:lnTo>
                  <a:pt x="772535" y="202913"/>
                </a:lnTo>
                <a:lnTo>
                  <a:pt x="807298" y="199047"/>
                </a:lnTo>
                <a:lnTo>
                  <a:pt x="842062" y="195182"/>
                </a:lnTo>
                <a:lnTo>
                  <a:pt x="876827" y="195182"/>
                </a:lnTo>
                <a:lnTo>
                  <a:pt x="911591" y="195182"/>
                </a:lnTo>
                <a:lnTo>
                  <a:pt x="946354" y="199047"/>
                </a:lnTo>
                <a:lnTo>
                  <a:pt x="979188" y="202913"/>
                </a:lnTo>
                <a:lnTo>
                  <a:pt x="1013951" y="208711"/>
                </a:lnTo>
                <a:lnTo>
                  <a:pt x="1046784" y="216440"/>
                </a:lnTo>
                <a:lnTo>
                  <a:pt x="1079617" y="226103"/>
                </a:lnTo>
                <a:lnTo>
                  <a:pt x="1110518" y="235765"/>
                </a:lnTo>
                <a:lnTo>
                  <a:pt x="1141420" y="249292"/>
                </a:lnTo>
                <a:lnTo>
                  <a:pt x="1172320" y="262820"/>
                </a:lnTo>
                <a:lnTo>
                  <a:pt x="1201290" y="276348"/>
                </a:lnTo>
                <a:lnTo>
                  <a:pt x="1230260" y="293740"/>
                </a:lnTo>
                <a:lnTo>
                  <a:pt x="1257300" y="311132"/>
                </a:lnTo>
                <a:lnTo>
                  <a:pt x="1284338" y="330458"/>
                </a:lnTo>
                <a:lnTo>
                  <a:pt x="1309446" y="349782"/>
                </a:lnTo>
                <a:lnTo>
                  <a:pt x="1334553" y="372972"/>
                </a:lnTo>
                <a:lnTo>
                  <a:pt x="1357729" y="394230"/>
                </a:lnTo>
                <a:lnTo>
                  <a:pt x="1380905" y="417420"/>
                </a:lnTo>
                <a:lnTo>
                  <a:pt x="1402150" y="442543"/>
                </a:lnTo>
                <a:lnTo>
                  <a:pt x="1423394" y="469598"/>
                </a:lnTo>
                <a:lnTo>
                  <a:pt x="1440777" y="494721"/>
                </a:lnTo>
                <a:lnTo>
                  <a:pt x="1460090" y="523707"/>
                </a:lnTo>
                <a:lnTo>
                  <a:pt x="1475541" y="552695"/>
                </a:lnTo>
                <a:lnTo>
                  <a:pt x="1490991" y="581683"/>
                </a:lnTo>
                <a:lnTo>
                  <a:pt x="1504511" y="610671"/>
                </a:lnTo>
                <a:lnTo>
                  <a:pt x="1516098" y="641590"/>
                </a:lnTo>
                <a:lnTo>
                  <a:pt x="1527687" y="674442"/>
                </a:lnTo>
                <a:lnTo>
                  <a:pt x="1537344" y="707296"/>
                </a:lnTo>
                <a:lnTo>
                  <a:pt x="1543138" y="740148"/>
                </a:lnTo>
                <a:lnTo>
                  <a:pt x="1550863" y="773001"/>
                </a:lnTo>
                <a:lnTo>
                  <a:pt x="1554725" y="807786"/>
                </a:lnTo>
                <a:lnTo>
                  <a:pt x="1556657" y="842570"/>
                </a:lnTo>
                <a:lnTo>
                  <a:pt x="1558588" y="877355"/>
                </a:lnTo>
                <a:lnTo>
                  <a:pt x="1556657" y="912141"/>
                </a:lnTo>
                <a:lnTo>
                  <a:pt x="1554725" y="946926"/>
                </a:lnTo>
                <a:lnTo>
                  <a:pt x="1550863" y="981710"/>
                </a:lnTo>
                <a:lnTo>
                  <a:pt x="1543138" y="1014564"/>
                </a:lnTo>
                <a:lnTo>
                  <a:pt x="1537344" y="1047416"/>
                </a:lnTo>
                <a:lnTo>
                  <a:pt x="1527687" y="1080268"/>
                </a:lnTo>
                <a:lnTo>
                  <a:pt x="1516098" y="1111188"/>
                </a:lnTo>
                <a:lnTo>
                  <a:pt x="1504511" y="1142108"/>
                </a:lnTo>
                <a:lnTo>
                  <a:pt x="1490991" y="1173028"/>
                </a:lnTo>
                <a:lnTo>
                  <a:pt x="1475541" y="1202016"/>
                </a:lnTo>
                <a:lnTo>
                  <a:pt x="1460090" y="1231003"/>
                </a:lnTo>
                <a:lnTo>
                  <a:pt x="1440777" y="1258058"/>
                </a:lnTo>
                <a:lnTo>
                  <a:pt x="1423394" y="1285113"/>
                </a:lnTo>
                <a:lnTo>
                  <a:pt x="1402150" y="1310236"/>
                </a:lnTo>
                <a:lnTo>
                  <a:pt x="1380905" y="1335358"/>
                </a:lnTo>
                <a:lnTo>
                  <a:pt x="1357729" y="1358548"/>
                </a:lnTo>
                <a:lnTo>
                  <a:pt x="1334553" y="1381738"/>
                </a:lnTo>
                <a:lnTo>
                  <a:pt x="1309446" y="1402996"/>
                </a:lnTo>
                <a:lnTo>
                  <a:pt x="1284338" y="1424253"/>
                </a:lnTo>
                <a:lnTo>
                  <a:pt x="1257300" y="1441646"/>
                </a:lnTo>
                <a:lnTo>
                  <a:pt x="1230260" y="1460971"/>
                </a:lnTo>
                <a:lnTo>
                  <a:pt x="1201290" y="1476431"/>
                </a:lnTo>
                <a:lnTo>
                  <a:pt x="1172320" y="1491891"/>
                </a:lnTo>
                <a:lnTo>
                  <a:pt x="1141420" y="1505419"/>
                </a:lnTo>
                <a:lnTo>
                  <a:pt x="1110518" y="1517014"/>
                </a:lnTo>
                <a:lnTo>
                  <a:pt x="1079617" y="1528609"/>
                </a:lnTo>
                <a:lnTo>
                  <a:pt x="1046784" y="1538271"/>
                </a:lnTo>
                <a:lnTo>
                  <a:pt x="1013951" y="1546001"/>
                </a:lnTo>
                <a:lnTo>
                  <a:pt x="979188" y="1551798"/>
                </a:lnTo>
                <a:lnTo>
                  <a:pt x="946354" y="1555664"/>
                </a:lnTo>
                <a:lnTo>
                  <a:pt x="911591" y="1557595"/>
                </a:lnTo>
                <a:lnTo>
                  <a:pt x="876827" y="1559528"/>
                </a:lnTo>
                <a:close/>
              </a:path>
            </a:pathLst>
          </a:custGeom>
          <a:solidFill>
            <a:srgbClr val="18B29D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4" id="4"/>
          <p:cNvSpPr/>
          <p:nvPr/>
        </p:nvSpPr>
        <p:spPr>
          <a:xfrm rot="4020000" flipH="false" flipV="false">
            <a:off x="6426200" y="1536700"/>
            <a:ext cx="2287373" cy="2287372"/>
          </a:xfrm>
          <a:custGeom>
            <a:avLst/>
            <a:gdLst/>
            <a:ahLst/>
            <a:cxnLst/>
            <a:rect r="r" b="b" t="t" l="l"/>
            <a:pathLst>
              <a:path h="2287372" w="2287373">
                <a:moveTo>
                  <a:pt x="2287373" y="1205625"/>
                </a:moveTo>
                <a:lnTo>
                  <a:pt x="2287373" y="1081747"/>
                </a:lnTo>
                <a:lnTo>
                  <a:pt x="2198390" y="1081747"/>
                </a:lnTo>
                <a:lnTo>
                  <a:pt x="2194902" y="1043362"/>
                </a:lnTo>
                <a:lnTo>
                  <a:pt x="2191412" y="1004978"/>
                </a:lnTo>
                <a:lnTo>
                  <a:pt x="2186177" y="968338"/>
                </a:lnTo>
                <a:lnTo>
                  <a:pt x="2179198" y="931699"/>
                </a:lnTo>
                <a:lnTo>
                  <a:pt x="2264691" y="907271"/>
                </a:lnTo>
                <a:lnTo>
                  <a:pt x="2233286" y="788628"/>
                </a:lnTo>
                <a:lnTo>
                  <a:pt x="2146047" y="811310"/>
                </a:lnTo>
                <a:lnTo>
                  <a:pt x="2133835" y="774671"/>
                </a:lnTo>
                <a:lnTo>
                  <a:pt x="2119876" y="739775"/>
                </a:lnTo>
                <a:lnTo>
                  <a:pt x="2104174" y="704880"/>
                </a:lnTo>
                <a:lnTo>
                  <a:pt x="2088471" y="669986"/>
                </a:lnTo>
                <a:lnTo>
                  <a:pt x="2165241" y="626367"/>
                </a:lnTo>
                <a:lnTo>
                  <a:pt x="2104174" y="518192"/>
                </a:lnTo>
                <a:lnTo>
                  <a:pt x="2025660" y="563555"/>
                </a:lnTo>
                <a:lnTo>
                  <a:pt x="2004723" y="532150"/>
                </a:lnTo>
                <a:lnTo>
                  <a:pt x="1982041" y="500744"/>
                </a:lnTo>
                <a:lnTo>
                  <a:pt x="1957615" y="471084"/>
                </a:lnTo>
                <a:lnTo>
                  <a:pt x="1933188" y="443168"/>
                </a:lnTo>
                <a:lnTo>
                  <a:pt x="1997744" y="378611"/>
                </a:lnTo>
                <a:lnTo>
                  <a:pt x="1908762" y="291374"/>
                </a:lnTo>
                <a:lnTo>
                  <a:pt x="1845950" y="354185"/>
                </a:lnTo>
                <a:lnTo>
                  <a:pt x="1816289" y="329758"/>
                </a:lnTo>
                <a:lnTo>
                  <a:pt x="1786628" y="307077"/>
                </a:lnTo>
                <a:lnTo>
                  <a:pt x="1756968" y="284395"/>
                </a:lnTo>
                <a:lnTo>
                  <a:pt x="1725562" y="261713"/>
                </a:lnTo>
                <a:lnTo>
                  <a:pt x="1769181" y="184944"/>
                </a:lnTo>
                <a:lnTo>
                  <a:pt x="1662751" y="122133"/>
                </a:lnTo>
                <a:lnTo>
                  <a:pt x="1617387" y="200647"/>
                </a:lnTo>
                <a:lnTo>
                  <a:pt x="1584237" y="183199"/>
                </a:lnTo>
                <a:lnTo>
                  <a:pt x="1549342" y="169241"/>
                </a:lnTo>
                <a:lnTo>
                  <a:pt x="1512702" y="155283"/>
                </a:lnTo>
                <a:lnTo>
                  <a:pt x="1477808" y="141326"/>
                </a:lnTo>
                <a:lnTo>
                  <a:pt x="1500488" y="55832"/>
                </a:lnTo>
                <a:lnTo>
                  <a:pt x="1380100" y="22682"/>
                </a:lnTo>
                <a:lnTo>
                  <a:pt x="1357419" y="109920"/>
                </a:lnTo>
                <a:lnTo>
                  <a:pt x="1320780" y="102940"/>
                </a:lnTo>
                <a:lnTo>
                  <a:pt x="1282394" y="97706"/>
                </a:lnTo>
                <a:lnTo>
                  <a:pt x="1244009" y="92473"/>
                </a:lnTo>
                <a:lnTo>
                  <a:pt x="1205625" y="90728"/>
                </a:lnTo>
                <a:lnTo>
                  <a:pt x="1205625" y="0"/>
                </a:lnTo>
                <a:lnTo>
                  <a:pt x="1081748" y="0"/>
                </a:lnTo>
                <a:lnTo>
                  <a:pt x="1081748" y="90728"/>
                </a:lnTo>
                <a:lnTo>
                  <a:pt x="1043363" y="92473"/>
                </a:lnTo>
                <a:lnTo>
                  <a:pt x="1006723" y="97706"/>
                </a:lnTo>
                <a:lnTo>
                  <a:pt x="968338" y="102940"/>
                </a:lnTo>
                <a:lnTo>
                  <a:pt x="931699" y="109920"/>
                </a:lnTo>
                <a:lnTo>
                  <a:pt x="909016" y="22682"/>
                </a:lnTo>
                <a:lnTo>
                  <a:pt x="788629" y="55832"/>
                </a:lnTo>
                <a:lnTo>
                  <a:pt x="811310" y="141326"/>
                </a:lnTo>
                <a:lnTo>
                  <a:pt x="776416" y="155283"/>
                </a:lnTo>
                <a:lnTo>
                  <a:pt x="739776" y="169241"/>
                </a:lnTo>
                <a:lnTo>
                  <a:pt x="704880" y="183199"/>
                </a:lnTo>
                <a:lnTo>
                  <a:pt x="671731" y="200647"/>
                </a:lnTo>
                <a:lnTo>
                  <a:pt x="626367" y="122133"/>
                </a:lnTo>
                <a:lnTo>
                  <a:pt x="518192" y="184944"/>
                </a:lnTo>
                <a:lnTo>
                  <a:pt x="563556" y="261713"/>
                </a:lnTo>
                <a:lnTo>
                  <a:pt x="532150" y="284395"/>
                </a:lnTo>
                <a:lnTo>
                  <a:pt x="502489" y="307077"/>
                </a:lnTo>
                <a:lnTo>
                  <a:pt x="472829" y="329758"/>
                </a:lnTo>
                <a:lnTo>
                  <a:pt x="443168" y="354185"/>
                </a:lnTo>
                <a:lnTo>
                  <a:pt x="380356" y="291374"/>
                </a:lnTo>
                <a:lnTo>
                  <a:pt x="291374" y="378611"/>
                </a:lnTo>
                <a:lnTo>
                  <a:pt x="355930" y="443168"/>
                </a:lnTo>
                <a:lnTo>
                  <a:pt x="329758" y="471084"/>
                </a:lnTo>
                <a:lnTo>
                  <a:pt x="307077" y="500744"/>
                </a:lnTo>
                <a:lnTo>
                  <a:pt x="284395" y="532150"/>
                </a:lnTo>
                <a:lnTo>
                  <a:pt x="263458" y="563555"/>
                </a:lnTo>
                <a:lnTo>
                  <a:pt x="184944" y="518192"/>
                </a:lnTo>
                <a:lnTo>
                  <a:pt x="122133" y="626367"/>
                </a:lnTo>
                <a:lnTo>
                  <a:pt x="200647" y="669986"/>
                </a:lnTo>
                <a:lnTo>
                  <a:pt x="184944" y="704880"/>
                </a:lnTo>
                <a:lnTo>
                  <a:pt x="169241" y="739775"/>
                </a:lnTo>
                <a:lnTo>
                  <a:pt x="155283" y="774671"/>
                </a:lnTo>
                <a:lnTo>
                  <a:pt x="143069" y="811310"/>
                </a:lnTo>
                <a:lnTo>
                  <a:pt x="55832" y="788628"/>
                </a:lnTo>
                <a:lnTo>
                  <a:pt x="22682" y="907271"/>
                </a:lnTo>
                <a:lnTo>
                  <a:pt x="109920" y="931699"/>
                </a:lnTo>
                <a:lnTo>
                  <a:pt x="102941" y="968338"/>
                </a:lnTo>
                <a:lnTo>
                  <a:pt x="97706" y="1004978"/>
                </a:lnTo>
                <a:lnTo>
                  <a:pt x="94216" y="1043362"/>
                </a:lnTo>
                <a:lnTo>
                  <a:pt x="90728" y="1081747"/>
                </a:lnTo>
                <a:lnTo>
                  <a:pt x="0" y="1081747"/>
                </a:lnTo>
                <a:lnTo>
                  <a:pt x="0" y="1205625"/>
                </a:lnTo>
                <a:lnTo>
                  <a:pt x="90728" y="1205625"/>
                </a:lnTo>
                <a:lnTo>
                  <a:pt x="94216" y="1244009"/>
                </a:lnTo>
                <a:lnTo>
                  <a:pt x="97706" y="1282394"/>
                </a:lnTo>
                <a:lnTo>
                  <a:pt x="102941" y="1319033"/>
                </a:lnTo>
                <a:lnTo>
                  <a:pt x="109920" y="1357418"/>
                </a:lnTo>
                <a:lnTo>
                  <a:pt x="22682" y="1380100"/>
                </a:lnTo>
                <a:lnTo>
                  <a:pt x="55832" y="1500488"/>
                </a:lnTo>
                <a:lnTo>
                  <a:pt x="143069" y="1476061"/>
                </a:lnTo>
                <a:lnTo>
                  <a:pt x="155283" y="1512701"/>
                </a:lnTo>
                <a:lnTo>
                  <a:pt x="169241" y="1547597"/>
                </a:lnTo>
                <a:lnTo>
                  <a:pt x="184944" y="1582491"/>
                </a:lnTo>
                <a:lnTo>
                  <a:pt x="200647" y="1617387"/>
                </a:lnTo>
                <a:lnTo>
                  <a:pt x="122133" y="1662750"/>
                </a:lnTo>
                <a:lnTo>
                  <a:pt x="184944" y="1769180"/>
                </a:lnTo>
                <a:lnTo>
                  <a:pt x="263458" y="1725562"/>
                </a:lnTo>
                <a:lnTo>
                  <a:pt x="284395" y="1756968"/>
                </a:lnTo>
                <a:lnTo>
                  <a:pt x="307077" y="1786627"/>
                </a:lnTo>
                <a:lnTo>
                  <a:pt x="329758" y="1816288"/>
                </a:lnTo>
                <a:lnTo>
                  <a:pt x="355930" y="1845949"/>
                </a:lnTo>
                <a:lnTo>
                  <a:pt x="291374" y="1908760"/>
                </a:lnTo>
                <a:lnTo>
                  <a:pt x="380356" y="1995998"/>
                </a:lnTo>
                <a:lnTo>
                  <a:pt x="443168" y="1933186"/>
                </a:lnTo>
                <a:lnTo>
                  <a:pt x="472829" y="1957614"/>
                </a:lnTo>
                <a:lnTo>
                  <a:pt x="502489" y="1982041"/>
                </a:lnTo>
                <a:lnTo>
                  <a:pt x="532150" y="2004722"/>
                </a:lnTo>
                <a:lnTo>
                  <a:pt x="563556" y="2025659"/>
                </a:lnTo>
                <a:lnTo>
                  <a:pt x="518192" y="2104173"/>
                </a:lnTo>
                <a:lnTo>
                  <a:pt x="626367" y="2165240"/>
                </a:lnTo>
                <a:lnTo>
                  <a:pt x="671731" y="2088471"/>
                </a:lnTo>
                <a:lnTo>
                  <a:pt x="704880" y="2104173"/>
                </a:lnTo>
                <a:lnTo>
                  <a:pt x="739776" y="2119875"/>
                </a:lnTo>
                <a:lnTo>
                  <a:pt x="776416" y="2133834"/>
                </a:lnTo>
                <a:lnTo>
                  <a:pt x="811310" y="2146047"/>
                </a:lnTo>
                <a:lnTo>
                  <a:pt x="788629" y="2233285"/>
                </a:lnTo>
                <a:lnTo>
                  <a:pt x="909016" y="2264691"/>
                </a:lnTo>
                <a:lnTo>
                  <a:pt x="931699" y="2179197"/>
                </a:lnTo>
                <a:lnTo>
                  <a:pt x="968338" y="2184432"/>
                </a:lnTo>
                <a:lnTo>
                  <a:pt x="1006723" y="2191410"/>
                </a:lnTo>
                <a:lnTo>
                  <a:pt x="1043363" y="2194900"/>
                </a:lnTo>
                <a:lnTo>
                  <a:pt x="1081748" y="2198389"/>
                </a:lnTo>
                <a:lnTo>
                  <a:pt x="1081748" y="2287372"/>
                </a:lnTo>
                <a:lnTo>
                  <a:pt x="1205625" y="2287372"/>
                </a:lnTo>
                <a:lnTo>
                  <a:pt x="1205625" y="2198389"/>
                </a:lnTo>
                <a:lnTo>
                  <a:pt x="1244009" y="2194900"/>
                </a:lnTo>
                <a:lnTo>
                  <a:pt x="1282394" y="2191410"/>
                </a:lnTo>
                <a:lnTo>
                  <a:pt x="1320780" y="2184432"/>
                </a:lnTo>
                <a:lnTo>
                  <a:pt x="1357419" y="2179197"/>
                </a:lnTo>
                <a:lnTo>
                  <a:pt x="1380100" y="2264691"/>
                </a:lnTo>
                <a:lnTo>
                  <a:pt x="1500488" y="2233285"/>
                </a:lnTo>
                <a:lnTo>
                  <a:pt x="1477808" y="2146047"/>
                </a:lnTo>
                <a:lnTo>
                  <a:pt x="1512702" y="2133834"/>
                </a:lnTo>
                <a:lnTo>
                  <a:pt x="1549342" y="2119875"/>
                </a:lnTo>
                <a:lnTo>
                  <a:pt x="1584237" y="2104173"/>
                </a:lnTo>
                <a:lnTo>
                  <a:pt x="1617387" y="2088471"/>
                </a:lnTo>
                <a:lnTo>
                  <a:pt x="1662751" y="2165240"/>
                </a:lnTo>
                <a:lnTo>
                  <a:pt x="1769181" y="2104173"/>
                </a:lnTo>
                <a:lnTo>
                  <a:pt x="1725562" y="2025659"/>
                </a:lnTo>
                <a:lnTo>
                  <a:pt x="1756968" y="2004722"/>
                </a:lnTo>
                <a:lnTo>
                  <a:pt x="1786628" y="1982041"/>
                </a:lnTo>
                <a:lnTo>
                  <a:pt x="1816289" y="1957614"/>
                </a:lnTo>
                <a:lnTo>
                  <a:pt x="1845950" y="1933186"/>
                </a:lnTo>
                <a:lnTo>
                  <a:pt x="1908762" y="1995998"/>
                </a:lnTo>
                <a:lnTo>
                  <a:pt x="1997744" y="1908760"/>
                </a:lnTo>
                <a:lnTo>
                  <a:pt x="1933188" y="1845949"/>
                </a:lnTo>
                <a:lnTo>
                  <a:pt x="1957615" y="1816288"/>
                </a:lnTo>
                <a:lnTo>
                  <a:pt x="1982041" y="1786627"/>
                </a:lnTo>
                <a:lnTo>
                  <a:pt x="2004723" y="1756968"/>
                </a:lnTo>
                <a:lnTo>
                  <a:pt x="2025660" y="1725562"/>
                </a:lnTo>
                <a:lnTo>
                  <a:pt x="2104174" y="1769180"/>
                </a:lnTo>
                <a:lnTo>
                  <a:pt x="2165241" y="1662750"/>
                </a:lnTo>
                <a:lnTo>
                  <a:pt x="2088471" y="1617387"/>
                </a:lnTo>
                <a:lnTo>
                  <a:pt x="2104174" y="1582491"/>
                </a:lnTo>
                <a:lnTo>
                  <a:pt x="2119876" y="1547597"/>
                </a:lnTo>
                <a:lnTo>
                  <a:pt x="2133835" y="1512701"/>
                </a:lnTo>
                <a:lnTo>
                  <a:pt x="2146047" y="1476061"/>
                </a:lnTo>
                <a:lnTo>
                  <a:pt x="2233286" y="1500488"/>
                </a:lnTo>
                <a:lnTo>
                  <a:pt x="2264691" y="1380100"/>
                </a:lnTo>
                <a:lnTo>
                  <a:pt x="2179198" y="1357418"/>
                </a:lnTo>
                <a:lnTo>
                  <a:pt x="2186177" y="1319033"/>
                </a:lnTo>
                <a:lnTo>
                  <a:pt x="2191412" y="1282394"/>
                </a:lnTo>
                <a:lnTo>
                  <a:pt x="2194902" y="1244009"/>
                </a:lnTo>
                <a:lnTo>
                  <a:pt x="2198390" y="1205625"/>
                </a:lnTo>
                <a:lnTo>
                  <a:pt x="2287373" y="1205625"/>
                </a:lnTo>
                <a:close/>
                <a:moveTo>
                  <a:pt x="1144558" y="2111151"/>
                </a:moveTo>
                <a:lnTo>
                  <a:pt x="1144558" y="2111151"/>
                </a:lnTo>
                <a:lnTo>
                  <a:pt x="1093961" y="2111151"/>
                </a:lnTo>
                <a:lnTo>
                  <a:pt x="1045108" y="2107663"/>
                </a:lnTo>
                <a:lnTo>
                  <a:pt x="996255" y="2100683"/>
                </a:lnTo>
                <a:lnTo>
                  <a:pt x="949146" y="2091959"/>
                </a:lnTo>
                <a:lnTo>
                  <a:pt x="902038" y="2081491"/>
                </a:lnTo>
                <a:lnTo>
                  <a:pt x="856675" y="2067533"/>
                </a:lnTo>
                <a:lnTo>
                  <a:pt x="811310" y="2053575"/>
                </a:lnTo>
                <a:lnTo>
                  <a:pt x="767692" y="2036128"/>
                </a:lnTo>
                <a:lnTo>
                  <a:pt x="724073" y="2016935"/>
                </a:lnTo>
                <a:lnTo>
                  <a:pt x="682200" y="1994253"/>
                </a:lnTo>
                <a:lnTo>
                  <a:pt x="642070" y="1971572"/>
                </a:lnTo>
                <a:lnTo>
                  <a:pt x="603686" y="1947145"/>
                </a:lnTo>
                <a:lnTo>
                  <a:pt x="565300" y="1919229"/>
                </a:lnTo>
                <a:lnTo>
                  <a:pt x="528660" y="1891313"/>
                </a:lnTo>
                <a:lnTo>
                  <a:pt x="493766" y="1859907"/>
                </a:lnTo>
                <a:lnTo>
                  <a:pt x="460615" y="1828502"/>
                </a:lnTo>
                <a:lnTo>
                  <a:pt x="427464" y="1795352"/>
                </a:lnTo>
                <a:lnTo>
                  <a:pt x="397803" y="1760456"/>
                </a:lnTo>
                <a:lnTo>
                  <a:pt x="368144" y="1723817"/>
                </a:lnTo>
                <a:lnTo>
                  <a:pt x="341972" y="1685432"/>
                </a:lnTo>
                <a:lnTo>
                  <a:pt x="315801" y="1645303"/>
                </a:lnTo>
                <a:lnTo>
                  <a:pt x="293119" y="1605173"/>
                </a:lnTo>
                <a:lnTo>
                  <a:pt x="272181" y="1563299"/>
                </a:lnTo>
                <a:lnTo>
                  <a:pt x="252989" y="1521426"/>
                </a:lnTo>
                <a:lnTo>
                  <a:pt x="235542" y="1476061"/>
                </a:lnTo>
                <a:lnTo>
                  <a:pt x="219840" y="1432443"/>
                </a:lnTo>
                <a:lnTo>
                  <a:pt x="207626" y="1385334"/>
                </a:lnTo>
                <a:lnTo>
                  <a:pt x="195412" y="1338226"/>
                </a:lnTo>
                <a:lnTo>
                  <a:pt x="188434" y="1291118"/>
                </a:lnTo>
                <a:lnTo>
                  <a:pt x="181455" y="1242264"/>
                </a:lnTo>
                <a:lnTo>
                  <a:pt x="177965" y="1193411"/>
                </a:lnTo>
                <a:lnTo>
                  <a:pt x="176220" y="1144558"/>
                </a:lnTo>
                <a:lnTo>
                  <a:pt x="177965" y="1093960"/>
                </a:lnTo>
                <a:lnTo>
                  <a:pt x="181455" y="1045107"/>
                </a:lnTo>
                <a:lnTo>
                  <a:pt x="188434" y="996254"/>
                </a:lnTo>
                <a:lnTo>
                  <a:pt x="195412" y="949146"/>
                </a:lnTo>
                <a:lnTo>
                  <a:pt x="207626" y="902038"/>
                </a:lnTo>
                <a:lnTo>
                  <a:pt x="219840" y="856673"/>
                </a:lnTo>
                <a:lnTo>
                  <a:pt x="235542" y="811310"/>
                </a:lnTo>
                <a:lnTo>
                  <a:pt x="252989" y="767692"/>
                </a:lnTo>
                <a:lnTo>
                  <a:pt x="272181" y="724073"/>
                </a:lnTo>
                <a:lnTo>
                  <a:pt x="293119" y="682198"/>
                </a:lnTo>
                <a:lnTo>
                  <a:pt x="315801" y="642069"/>
                </a:lnTo>
                <a:lnTo>
                  <a:pt x="341972" y="603684"/>
                </a:lnTo>
                <a:lnTo>
                  <a:pt x="368144" y="565300"/>
                </a:lnTo>
                <a:lnTo>
                  <a:pt x="397803" y="528660"/>
                </a:lnTo>
                <a:lnTo>
                  <a:pt x="427464" y="493766"/>
                </a:lnTo>
                <a:lnTo>
                  <a:pt x="460615" y="458870"/>
                </a:lnTo>
                <a:lnTo>
                  <a:pt x="493766" y="427464"/>
                </a:lnTo>
                <a:lnTo>
                  <a:pt x="528660" y="397803"/>
                </a:lnTo>
                <a:lnTo>
                  <a:pt x="565300" y="368143"/>
                </a:lnTo>
                <a:lnTo>
                  <a:pt x="603686" y="341972"/>
                </a:lnTo>
                <a:lnTo>
                  <a:pt x="642070" y="315801"/>
                </a:lnTo>
                <a:lnTo>
                  <a:pt x="682200" y="293119"/>
                </a:lnTo>
                <a:lnTo>
                  <a:pt x="724073" y="272181"/>
                </a:lnTo>
                <a:lnTo>
                  <a:pt x="767692" y="252989"/>
                </a:lnTo>
                <a:lnTo>
                  <a:pt x="811310" y="235542"/>
                </a:lnTo>
                <a:lnTo>
                  <a:pt x="856675" y="219840"/>
                </a:lnTo>
                <a:lnTo>
                  <a:pt x="902038" y="205881"/>
                </a:lnTo>
                <a:lnTo>
                  <a:pt x="949146" y="195412"/>
                </a:lnTo>
                <a:lnTo>
                  <a:pt x="996255" y="186689"/>
                </a:lnTo>
                <a:lnTo>
                  <a:pt x="1045108" y="181454"/>
                </a:lnTo>
                <a:lnTo>
                  <a:pt x="1093961" y="177965"/>
                </a:lnTo>
                <a:lnTo>
                  <a:pt x="1144558" y="176220"/>
                </a:lnTo>
                <a:lnTo>
                  <a:pt x="1193411" y="177965"/>
                </a:lnTo>
                <a:lnTo>
                  <a:pt x="1244009" y="181454"/>
                </a:lnTo>
                <a:lnTo>
                  <a:pt x="1291119" y="186689"/>
                </a:lnTo>
                <a:lnTo>
                  <a:pt x="1339972" y="195412"/>
                </a:lnTo>
                <a:lnTo>
                  <a:pt x="1385335" y="205881"/>
                </a:lnTo>
                <a:lnTo>
                  <a:pt x="1432443" y="219840"/>
                </a:lnTo>
                <a:lnTo>
                  <a:pt x="1477808" y="235542"/>
                </a:lnTo>
                <a:lnTo>
                  <a:pt x="1521426" y="252989"/>
                </a:lnTo>
                <a:lnTo>
                  <a:pt x="1563300" y="272181"/>
                </a:lnTo>
                <a:lnTo>
                  <a:pt x="1605175" y="293119"/>
                </a:lnTo>
                <a:lnTo>
                  <a:pt x="1645303" y="315801"/>
                </a:lnTo>
                <a:lnTo>
                  <a:pt x="1685432" y="341972"/>
                </a:lnTo>
                <a:lnTo>
                  <a:pt x="1723817" y="368143"/>
                </a:lnTo>
                <a:lnTo>
                  <a:pt x="1760457" y="397803"/>
                </a:lnTo>
                <a:lnTo>
                  <a:pt x="1795352" y="427464"/>
                </a:lnTo>
                <a:lnTo>
                  <a:pt x="1828503" y="458870"/>
                </a:lnTo>
                <a:lnTo>
                  <a:pt x="1859909" y="493766"/>
                </a:lnTo>
                <a:lnTo>
                  <a:pt x="1891313" y="528660"/>
                </a:lnTo>
                <a:lnTo>
                  <a:pt x="1919230" y="565300"/>
                </a:lnTo>
                <a:lnTo>
                  <a:pt x="1947146" y="603684"/>
                </a:lnTo>
                <a:lnTo>
                  <a:pt x="1971572" y="642069"/>
                </a:lnTo>
                <a:lnTo>
                  <a:pt x="1995999" y="682198"/>
                </a:lnTo>
                <a:lnTo>
                  <a:pt x="2016937" y="724073"/>
                </a:lnTo>
                <a:lnTo>
                  <a:pt x="2036129" y="767692"/>
                </a:lnTo>
                <a:lnTo>
                  <a:pt x="2053576" y="811310"/>
                </a:lnTo>
                <a:lnTo>
                  <a:pt x="2069278" y="856673"/>
                </a:lnTo>
                <a:lnTo>
                  <a:pt x="2081492" y="902038"/>
                </a:lnTo>
                <a:lnTo>
                  <a:pt x="2091961" y="949146"/>
                </a:lnTo>
                <a:lnTo>
                  <a:pt x="2100684" y="996254"/>
                </a:lnTo>
                <a:lnTo>
                  <a:pt x="2107663" y="1045107"/>
                </a:lnTo>
                <a:lnTo>
                  <a:pt x="2111153" y="1093960"/>
                </a:lnTo>
                <a:lnTo>
                  <a:pt x="2112898" y="1144558"/>
                </a:lnTo>
                <a:lnTo>
                  <a:pt x="2111153" y="1193411"/>
                </a:lnTo>
                <a:lnTo>
                  <a:pt x="2107663" y="1242264"/>
                </a:lnTo>
                <a:lnTo>
                  <a:pt x="2100684" y="1291118"/>
                </a:lnTo>
                <a:lnTo>
                  <a:pt x="2091961" y="1338226"/>
                </a:lnTo>
                <a:lnTo>
                  <a:pt x="2081492" y="1385334"/>
                </a:lnTo>
                <a:lnTo>
                  <a:pt x="2069278" y="1432443"/>
                </a:lnTo>
                <a:lnTo>
                  <a:pt x="2053576" y="1476061"/>
                </a:lnTo>
                <a:lnTo>
                  <a:pt x="2036129" y="1521426"/>
                </a:lnTo>
                <a:lnTo>
                  <a:pt x="2016937" y="1563299"/>
                </a:lnTo>
                <a:lnTo>
                  <a:pt x="1995999" y="1605173"/>
                </a:lnTo>
                <a:lnTo>
                  <a:pt x="1971572" y="1645303"/>
                </a:lnTo>
                <a:lnTo>
                  <a:pt x="1947146" y="1685432"/>
                </a:lnTo>
                <a:lnTo>
                  <a:pt x="1919230" y="1723817"/>
                </a:lnTo>
                <a:lnTo>
                  <a:pt x="1891313" y="1760456"/>
                </a:lnTo>
                <a:lnTo>
                  <a:pt x="1859909" y="1795352"/>
                </a:lnTo>
                <a:lnTo>
                  <a:pt x="1828503" y="1828502"/>
                </a:lnTo>
                <a:lnTo>
                  <a:pt x="1795352" y="1859907"/>
                </a:lnTo>
                <a:lnTo>
                  <a:pt x="1760457" y="1891313"/>
                </a:lnTo>
                <a:lnTo>
                  <a:pt x="1723817" y="1919229"/>
                </a:lnTo>
                <a:lnTo>
                  <a:pt x="1685432" y="1947145"/>
                </a:lnTo>
                <a:lnTo>
                  <a:pt x="1645303" y="1971572"/>
                </a:lnTo>
                <a:lnTo>
                  <a:pt x="1605175" y="1994253"/>
                </a:lnTo>
                <a:lnTo>
                  <a:pt x="1563300" y="2016935"/>
                </a:lnTo>
                <a:lnTo>
                  <a:pt x="1521426" y="2036128"/>
                </a:lnTo>
                <a:lnTo>
                  <a:pt x="1477808" y="2053575"/>
                </a:lnTo>
                <a:lnTo>
                  <a:pt x="1432443" y="2067533"/>
                </a:lnTo>
                <a:lnTo>
                  <a:pt x="1385335" y="2081491"/>
                </a:lnTo>
                <a:lnTo>
                  <a:pt x="1339972" y="2091959"/>
                </a:lnTo>
                <a:lnTo>
                  <a:pt x="1291119" y="2100683"/>
                </a:lnTo>
                <a:lnTo>
                  <a:pt x="1244009" y="2107663"/>
                </a:lnTo>
                <a:lnTo>
                  <a:pt x="1193411" y="2111151"/>
                </a:lnTo>
                <a:lnTo>
                  <a:pt x="1144558" y="2111151"/>
                </a:lnTo>
                <a:close/>
              </a:path>
            </a:pathLst>
          </a:custGeom>
          <a:solidFill>
            <a:srgbClr val="004358">
              <a:alpha val="8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4020000" flipH="false" flipV="false">
            <a:off x="6680200" y="1778000"/>
            <a:ext cx="1803400" cy="1803400"/>
          </a:xfrm>
          <a:prstGeom prst="ellipse">
            <a:avLst/>
          </a:prstGeom>
          <a:solidFill>
            <a:srgbClr val="004358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4020000" flipH="false" flipV="false">
            <a:off x="7848600" y="3810000"/>
            <a:ext cx="1206500" cy="1206500"/>
          </a:xfrm>
          <a:prstGeom prst="ellipse">
            <a:avLst/>
          </a:prstGeom>
          <a:solidFill>
            <a:srgbClr val="18B29D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7" id="7"/>
          <p:cNvSpPr/>
          <p:nvPr/>
        </p:nvSpPr>
        <p:spPr>
          <a:xfrm rot="4020000" flipH="false" flipV="false">
            <a:off x="6718300" y="4876800"/>
            <a:ext cx="1536565" cy="1537623"/>
          </a:xfrm>
          <a:custGeom>
            <a:avLst/>
            <a:gdLst/>
            <a:ahLst/>
            <a:cxnLst/>
            <a:rect r="r" b="b" t="t" l="l"/>
            <a:pathLst>
              <a:path h="1537623" w="1536565">
                <a:moveTo>
                  <a:pt x="1536565" y="828081"/>
                </a:moveTo>
                <a:lnTo>
                  <a:pt x="1536565" y="707848"/>
                </a:lnTo>
                <a:lnTo>
                  <a:pt x="1446875" y="707848"/>
                </a:lnTo>
                <a:lnTo>
                  <a:pt x="1443491" y="670593"/>
                </a:lnTo>
                <a:lnTo>
                  <a:pt x="1436722" y="635032"/>
                </a:lnTo>
                <a:lnTo>
                  <a:pt x="1428261" y="599469"/>
                </a:lnTo>
                <a:lnTo>
                  <a:pt x="1419799" y="563908"/>
                </a:lnTo>
                <a:lnTo>
                  <a:pt x="1501028" y="530040"/>
                </a:lnTo>
                <a:lnTo>
                  <a:pt x="1453645" y="418275"/>
                </a:lnTo>
                <a:lnTo>
                  <a:pt x="1372417" y="452143"/>
                </a:lnTo>
                <a:lnTo>
                  <a:pt x="1355494" y="419967"/>
                </a:lnTo>
                <a:lnTo>
                  <a:pt x="1335187" y="389486"/>
                </a:lnTo>
                <a:lnTo>
                  <a:pt x="1313188" y="359005"/>
                </a:lnTo>
                <a:lnTo>
                  <a:pt x="1291189" y="330217"/>
                </a:lnTo>
                <a:lnTo>
                  <a:pt x="1353802" y="267560"/>
                </a:lnTo>
                <a:lnTo>
                  <a:pt x="1267497" y="182889"/>
                </a:lnTo>
                <a:lnTo>
                  <a:pt x="1206576" y="245546"/>
                </a:lnTo>
                <a:lnTo>
                  <a:pt x="1177808" y="221837"/>
                </a:lnTo>
                <a:lnTo>
                  <a:pt x="1147347" y="199823"/>
                </a:lnTo>
                <a:lnTo>
                  <a:pt x="1115195" y="181196"/>
                </a:lnTo>
                <a:lnTo>
                  <a:pt x="1083042" y="162568"/>
                </a:lnTo>
                <a:lnTo>
                  <a:pt x="1116886" y="81284"/>
                </a:lnTo>
                <a:lnTo>
                  <a:pt x="1005197" y="35561"/>
                </a:lnTo>
                <a:lnTo>
                  <a:pt x="973045" y="116846"/>
                </a:lnTo>
                <a:lnTo>
                  <a:pt x="937508" y="106685"/>
                </a:lnTo>
                <a:lnTo>
                  <a:pt x="901971" y="98218"/>
                </a:lnTo>
                <a:lnTo>
                  <a:pt x="864740" y="93138"/>
                </a:lnTo>
                <a:lnTo>
                  <a:pt x="827512" y="88058"/>
                </a:lnTo>
                <a:lnTo>
                  <a:pt x="827512" y="0"/>
                </a:lnTo>
                <a:lnTo>
                  <a:pt x="707361" y="0"/>
                </a:lnTo>
                <a:lnTo>
                  <a:pt x="707361" y="88058"/>
                </a:lnTo>
                <a:lnTo>
                  <a:pt x="670132" y="93138"/>
                </a:lnTo>
                <a:lnTo>
                  <a:pt x="634595" y="98218"/>
                </a:lnTo>
                <a:lnTo>
                  <a:pt x="597365" y="106685"/>
                </a:lnTo>
                <a:lnTo>
                  <a:pt x="563521" y="116846"/>
                </a:lnTo>
                <a:lnTo>
                  <a:pt x="529675" y="35561"/>
                </a:lnTo>
                <a:lnTo>
                  <a:pt x="417986" y="81284"/>
                </a:lnTo>
                <a:lnTo>
                  <a:pt x="451832" y="162568"/>
                </a:lnTo>
                <a:lnTo>
                  <a:pt x="419679" y="181196"/>
                </a:lnTo>
                <a:lnTo>
                  <a:pt x="389218" y="199823"/>
                </a:lnTo>
                <a:lnTo>
                  <a:pt x="358757" y="221837"/>
                </a:lnTo>
                <a:lnTo>
                  <a:pt x="329989" y="245546"/>
                </a:lnTo>
                <a:lnTo>
                  <a:pt x="267376" y="182889"/>
                </a:lnTo>
                <a:lnTo>
                  <a:pt x="182763" y="267560"/>
                </a:lnTo>
                <a:lnTo>
                  <a:pt x="243684" y="330217"/>
                </a:lnTo>
                <a:lnTo>
                  <a:pt x="221685" y="359005"/>
                </a:lnTo>
                <a:lnTo>
                  <a:pt x="199686" y="389486"/>
                </a:lnTo>
                <a:lnTo>
                  <a:pt x="181072" y="419967"/>
                </a:lnTo>
                <a:lnTo>
                  <a:pt x="162456" y="452143"/>
                </a:lnTo>
                <a:lnTo>
                  <a:pt x="81228" y="418275"/>
                </a:lnTo>
                <a:lnTo>
                  <a:pt x="35537" y="530040"/>
                </a:lnTo>
                <a:lnTo>
                  <a:pt x="116765" y="563908"/>
                </a:lnTo>
                <a:lnTo>
                  <a:pt x="106611" y="599469"/>
                </a:lnTo>
                <a:lnTo>
                  <a:pt x="98151" y="635032"/>
                </a:lnTo>
                <a:lnTo>
                  <a:pt x="91382" y="670593"/>
                </a:lnTo>
                <a:lnTo>
                  <a:pt x="87997" y="707848"/>
                </a:lnTo>
                <a:lnTo>
                  <a:pt x="0" y="707848"/>
                </a:lnTo>
                <a:lnTo>
                  <a:pt x="0" y="828081"/>
                </a:lnTo>
                <a:lnTo>
                  <a:pt x="87997" y="828081"/>
                </a:lnTo>
                <a:lnTo>
                  <a:pt x="91382" y="865336"/>
                </a:lnTo>
                <a:lnTo>
                  <a:pt x="98151" y="902592"/>
                </a:lnTo>
                <a:lnTo>
                  <a:pt x="106611" y="938153"/>
                </a:lnTo>
                <a:lnTo>
                  <a:pt x="116765" y="973715"/>
                </a:lnTo>
                <a:lnTo>
                  <a:pt x="35537" y="1007584"/>
                </a:lnTo>
                <a:lnTo>
                  <a:pt x="81228" y="1117656"/>
                </a:lnTo>
                <a:lnTo>
                  <a:pt x="162456" y="1083788"/>
                </a:lnTo>
                <a:lnTo>
                  <a:pt x="181072" y="1117656"/>
                </a:lnTo>
                <a:lnTo>
                  <a:pt x="199686" y="1148137"/>
                </a:lnTo>
                <a:lnTo>
                  <a:pt x="221685" y="1178618"/>
                </a:lnTo>
                <a:lnTo>
                  <a:pt x="243684" y="1207407"/>
                </a:lnTo>
                <a:lnTo>
                  <a:pt x="182763" y="1270064"/>
                </a:lnTo>
                <a:lnTo>
                  <a:pt x="267376" y="1354734"/>
                </a:lnTo>
                <a:lnTo>
                  <a:pt x="329989" y="1292078"/>
                </a:lnTo>
                <a:lnTo>
                  <a:pt x="358757" y="1315785"/>
                </a:lnTo>
                <a:lnTo>
                  <a:pt x="389218" y="1336106"/>
                </a:lnTo>
                <a:lnTo>
                  <a:pt x="419679" y="1356427"/>
                </a:lnTo>
                <a:lnTo>
                  <a:pt x="451832" y="1373361"/>
                </a:lnTo>
                <a:lnTo>
                  <a:pt x="417986" y="1454645"/>
                </a:lnTo>
                <a:lnTo>
                  <a:pt x="529675" y="1502061"/>
                </a:lnTo>
                <a:lnTo>
                  <a:pt x="563521" y="1420777"/>
                </a:lnTo>
                <a:lnTo>
                  <a:pt x="597365" y="1430938"/>
                </a:lnTo>
                <a:lnTo>
                  <a:pt x="634595" y="1437711"/>
                </a:lnTo>
                <a:lnTo>
                  <a:pt x="670132" y="1444485"/>
                </a:lnTo>
                <a:lnTo>
                  <a:pt x="707361" y="1449565"/>
                </a:lnTo>
                <a:lnTo>
                  <a:pt x="707361" y="1537623"/>
                </a:lnTo>
                <a:lnTo>
                  <a:pt x="827512" y="1537623"/>
                </a:lnTo>
                <a:lnTo>
                  <a:pt x="827512" y="1449565"/>
                </a:lnTo>
                <a:lnTo>
                  <a:pt x="864740" y="1444485"/>
                </a:lnTo>
                <a:lnTo>
                  <a:pt x="901971" y="1437711"/>
                </a:lnTo>
                <a:lnTo>
                  <a:pt x="937508" y="1430938"/>
                </a:lnTo>
                <a:lnTo>
                  <a:pt x="973045" y="1420777"/>
                </a:lnTo>
                <a:lnTo>
                  <a:pt x="1005197" y="1502061"/>
                </a:lnTo>
                <a:lnTo>
                  <a:pt x="1116886" y="1454645"/>
                </a:lnTo>
                <a:lnTo>
                  <a:pt x="1083042" y="1373361"/>
                </a:lnTo>
                <a:lnTo>
                  <a:pt x="1115195" y="1356427"/>
                </a:lnTo>
                <a:lnTo>
                  <a:pt x="1147347" y="1336106"/>
                </a:lnTo>
                <a:lnTo>
                  <a:pt x="1177808" y="1315785"/>
                </a:lnTo>
                <a:lnTo>
                  <a:pt x="1206576" y="1292078"/>
                </a:lnTo>
                <a:lnTo>
                  <a:pt x="1267497" y="1354734"/>
                </a:lnTo>
                <a:lnTo>
                  <a:pt x="1353802" y="1270064"/>
                </a:lnTo>
                <a:lnTo>
                  <a:pt x="1291189" y="1207407"/>
                </a:lnTo>
                <a:lnTo>
                  <a:pt x="1313188" y="1178618"/>
                </a:lnTo>
                <a:lnTo>
                  <a:pt x="1335187" y="1148137"/>
                </a:lnTo>
                <a:lnTo>
                  <a:pt x="1355494" y="1117656"/>
                </a:lnTo>
                <a:lnTo>
                  <a:pt x="1372417" y="1083788"/>
                </a:lnTo>
                <a:lnTo>
                  <a:pt x="1453645" y="1117656"/>
                </a:lnTo>
                <a:lnTo>
                  <a:pt x="1501028" y="1007584"/>
                </a:lnTo>
                <a:lnTo>
                  <a:pt x="1419799" y="973715"/>
                </a:lnTo>
                <a:lnTo>
                  <a:pt x="1428261" y="938153"/>
                </a:lnTo>
                <a:lnTo>
                  <a:pt x="1436722" y="902592"/>
                </a:lnTo>
                <a:lnTo>
                  <a:pt x="1443491" y="865336"/>
                </a:lnTo>
                <a:lnTo>
                  <a:pt x="1446875" y="828081"/>
                </a:lnTo>
                <a:lnTo>
                  <a:pt x="1536565" y="828081"/>
                </a:lnTo>
                <a:close/>
                <a:moveTo>
                  <a:pt x="768283" y="1366587"/>
                </a:moveTo>
                <a:lnTo>
                  <a:pt x="768283" y="1366587"/>
                </a:lnTo>
                <a:lnTo>
                  <a:pt x="737822" y="1364894"/>
                </a:lnTo>
                <a:lnTo>
                  <a:pt x="707361" y="1363201"/>
                </a:lnTo>
                <a:lnTo>
                  <a:pt x="676901" y="1359814"/>
                </a:lnTo>
                <a:lnTo>
                  <a:pt x="648133" y="1354734"/>
                </a:lnTo>
                <a:lnTo>
                  <a:pt x="617672" y="1347960"/>
                </a:lnTo>
                <a:lnTo>
                  <a:pt x="590596" y="1339493"/>
                </a:lnTo>
                <a:lnTo>
                  <a:pt x="561828" y="1329333"/>
                </a:lnTo>
                <a:lnTo>
                  <a:pt x="534751" y="1319172"/>
                </a:lnTo>
                <a:lnTo>
                  <a:pt x="509368" y="1307318"/>
                </a:lnTo>
                <a:lnTo>
                  <a:pt x="482291" y="1293771"/>
                </a:lnTo>
                <a:lnTo>
                  <a:pt x="458601" y="1280224"/>
                </a:lnTo>
                <a:lnTo>
                  <a:pt x="433216" y="1263289"/>
                </a:lnTo>
                <a:lnTo>
                  <a:pt x="409525" y="1248048"/>
                </a:lnTo>
                <a:lnTo>
                  <a:pt x="387525" y="1229421"/>
                </a:lnTo>
                <a:lnTo>
                  <a:pt x="365526" y="1210794"/>
                </a:lnTo>
                <a:lnTo>
                  <a:pt x="345219" y="1190473"/>
                </a:lnTo>
                <a:lnTo>
                  <a:pt x="324913" y="1170151"/>
                </a:lnTo>
                <a:lnTo>
                  <a:pt x="306297" y="1148137"/>
                </a:lnTo>
                <a:lnTo>
                  <a:pt x="289375" y="1126123"/>
                </a:lnTo>
                <a:lnTo>
                  <a:pt x="272453" y="1102415"/>
                </a:lnTo>
                <a:lnTo>
                  <a:pt x="257222" y="1078706"/>
                </a:lnTo>
                <a:lnTo>
                  <a:pt x="241992" y="1053306"/>
                </a:lnTo>
                <a:lnTo>
                  <a:pt x="230147" y="1027905"/>
                </a:lnTo>
                <a:lnTo>
                  <a:pt x="216609" y="1000810"/>
                </a:lnTo>
                <a:lnTo>
                  <a:pt x="206455" y="973715"/>
                </a:lnTo>
                <a:lnTo>
                  <a:pt x="197993" y="946620"/>
                </a:lnTo>
                <a:lnTo>
                  <a:pt x="189532" y="917833"/>
                </a:lnTo>
                <a:lnTo>
                  <a:pt x="182763" y="889044"/>
                </a:lnTo>
                <a:lnTo>
                  <a:pt x="177687" y="860256"/>
                </a:lnTo>
                <a:lnTo>
                  <a:pt x="174302" y="829775"/>
                </a:lnTo>
                <a:lnTo>
                  <a:pt x="170918" y="799294"/>
                </a:lnTo>
                <a:lnTo>
                  <a:pt x="170918" y="768811"/>
                </a:lnTo>
                <a:lnTo>
                  <a:pt x="170918" y="738330"/>
                </a:lnTo>
                <a:lnTo>
                  <a:pt x="174302" y="707848"/>
                </a:lnTo>
                <a:lnTo>
                  <a:pt x="177687" y="677367"/>
                </a:lnTo>
                <a:lnTo>
                  <a:pt x="182763" y="648579"/>
                </a:lnTo>
                <a:lnTo>
                  <a:pt x="189532" y="619790"/>
                </a:lnTo>
                <a:lnTo>
                  <a:pt x="197993" y="591002"/>
                </a:lnTo>
                <a:lnTo>
                  <a:pt x="206455" y="562215"/>
                </a:lnTo>
                <a:lnTo>
                  <a:pt x="216609" y="535120"/>
                </a:lnTo>
                <a:lnTo>
                  <a:pt x="230147" y="509718"/>
                </a:lnTo>
                <a:lnTo>
                  <a:pt x="241992" y="484317"/>
                </a:lnTo>
                <a:lnTo>
                  <a:pt x="257222" y="458916"/>
                </a:lnTo>
                <a:lnTo>
                  <a:pt x="272453" y="433515"/>
                </a:lnTo>
                <a:lnTo>
                  <a:pt x="289375" y="411500"/>
                </a:lnTo>
                <a:lnTo>
                  <a:pt x="306297" y="387792"/>
                </a:lnTo>
                <a:lnTo>
                  <a:pt x="324913" y="365778"/>
                </a:lnTo>
                <a:lnTo>
                  <a:pt x="345219" y="345458"/>
                </a:lnTo>
                <a:lnTo>
                  <a:pt x="365526" y="326829"/>
                </a:lnTo>
                <a:lnTo>
                  <a:pt x="387525" y="306508"/>
                </a:lnTo>
                <a:lnTo>
                  <a:pt x="409525" y="289574"/>
                </a:lnTo>
                <a:lnTo>
                  <a:pt x="433216" y="272640"/>
                </a:lnTo>
                <a:lnTo>
                  <a:pt x="458601" y="257400"/>
                </a:lnTo>
                <a:lnTo>
                  <a:pt x="482291" y="242159"/>
                </a:lnTo>
                <a:lnTo>
                  <a:pt x="509368" y="230304"/>
                </a:lnTo>
                <a:lnTo>
                  <a:pt x="534751" y="218451"/>
                </a:lnTo>
                <a:lnTo>
                  <a:pt x="561828" y="206597"/>
                </a:lnTo>
                <a:lnTo>
                  <a:pt x="590596" y="198130"/>
                </a:lnTo>
                <a:lnTo>
                  <a:pt x="617672" y="189663"/>
                </a:lnTo>
                <a:lnTo>
                  <a:pt x="648133" y="182889"/>
                </a:lnTo>
                <a:lnTo>
                  <a:pt x="676901" y="177809"/>
                </a:lnTo>
                <a:lnTo>
                  <a:pt x="707361" y="174422"/>
                </a:lnTo>
                <a:lnTo>
                  <a:pt x="737822" y="171035"/>
                </a:lnTo>
                <a:lnTo>
                  <a:pt x="768283" y="171035"/>
                </a:lnTo>
                <a:lnTo>
                  <a:pt x="798744" y="171035"/>
                </a:lnTo>
                <a:lnTo>
                  <a:pt x="829203" y="174422"/>
                </a:lnTo>
                <a:lnTo>
                  <a:pt x="857971" y="177809"/>
                </a:lnTo>
                <a:lnTo>
                  <a:pt x="888432" y="182889"/>
                </a:lnTo>
                <a:lnTo>
                  <a:pt x="917200" y="189663"/>
                </a:lnTo>
                <a:lnTo>
                  <a:pt x="945968" y="198130"/>
                </a:lnTo>
                <a:lnTo>
                  <a:pt x="973045" y="206597"/>
                </a:lnTo>
                <a:lnTo>
                  <a:pt x="1000121" y="218451"/>
                </a:lnTo>
                <a:lnTo>
                  <a:pt x="1027198" y="230304"/>
                </a:lnTo>
                <a:lnTo>
                  <a:pt x="1052581" y="242159"/>
                </a:lnTo>
                <a:lnTo>
                  <a:pt x="1077965" y="257400"/>
                </a:lnTo>
                <a:lnTo>
                  <a:pt x="1101656" y="272640"/>
                </a:lnTo>
                <a:lnTo>
                  <a:pt x="1125348" y="289574"/>
                </a:lnTo>
                <a:lnTo>
                  <a:pt x="1147347" y="306508"/>
                </a:lnTo>
                <a:lnTo>
                  <a:pt x="1169346" y="326829"/>
                </a:lnTo>
                <a:lnTo>
                  <a:pt x="1189653" y="345458"/>
                </a:lnTo>
                <a:lnTo>
                  <a:pt x="1209961" y="365778"/>
                </a:lnTo>
                <a:lnTo>
                  <a:pt x="1228575" y="387792"/>
                </a:lnTo>
                <a:lnTo>
                  <a:pt x="1247190" y="411500"/>
                </a:lnTo>
                <a:lnTo>
                  <a:pt x="1262421" y="433515"/>
                </a:lnTo>
                <a:lnTo>
                  <a:pt x="1279342" y="458916"/>
                </a:lnTo>
                <a:lnTo>
                  <a:pt x="1292880" y="484317"/>
                </a:lnTo>
                <a:lnTo>
                  <a:pt x="1306419" y="509718"/>
                </a:lnTo>
                <a:lnTo>
                  <a:pt x="1318265" y="535120"/>
                </a:lnTo>
                <a:lnTo>
                  <a:pt x="1328417" y="562215"/>
                </a:lnTo>
                <a:lnTo>
                  <a:pt x="1338571" y="591002"/>
                </a:lnTo>
                <a:lnTo>
                  <a:pt x="1347033" y="619790"/>
                </a:lnTo>
                <a:lnTo>
                  <a:pt x="1352109" y="648579"/>
                </a:lnTo>
                <a:lnTo>
                  <a:pt x="1358878" y="677367"/>
                </a:lnTo>
                <a:lnTo>
                  <a:pt x="1362263" y="707848"/>
                </a:lnTo>
                <a:lnTo>
                  <a:pt x="1363956" y="738330"/>
                </a:lnTo>
                <a:lnTo>
                  <a:pt x="1365648" y="768811"/>
                </a:lnTo>
                <a:lnTo>
                  <a:pt x="1363956" y="799294"/>
                </a:lnTo>
                <a:lnTo>
                  <a:pt x="1362263" y="829775"/>
                </a:lnTo>
                <a:lnTo>
                  <a:pt x="1358878" y="860256"/>
                </a:lnTo>
                <a:lnTo>
                  <a:pt x="1352109" y="889044"/>
                </a:lnTo>
                <a:lnTo>
                  <a:pt x="1347033" y="917833"/>
                </a:lnTo>
                <a:lnTo>
                  <a:pt x="1338571" y="946620"/>
                </a:lnTo>
                <a:lnTo>
                  <a:pt x="1328417" y="973715"/>
                </a:lnTo>
                <a:lnTo>
                  <a:pt x="1318265" y="1000810"/>
                </a:lnTo>
                <a:lnTo>
                  <a:pt x="1306419" y="1027905"/>
                </a:lnTo>
                <a:lnTo>
                  <a:pt x="1292880" y="1053306"/>
                </a:lnTo>
                <a:lnTo>
                  <a:pt x="1279342" y="1078706"/>
                </a:lnTo>
                <a:lnTo>
                  <a:pt x="1262421" y="1102415"/>
                </a:lnTo>
                <a:lnTo>
                  <a:pt x="1247190" y="1126123"/>
                </a:lnTo>
                <a:lnTo>
                  <a:pt x="1228575" y="1148137"/>
                </a:lnTo>
                <a:lnTo>
                  <a:pt x="1209961" y="1170151"/>
                </a:lnTo>
                <a:lnTo>
                  <a:pt x="1189653" y="1190473"/>
                </a:lnTo>
                <a:lnTo>
                  <a:pt x="1169346" y="1210794"/>
                </a:lnTo>
                <a:lnTo>
                  <a:pt x="1147347" y="1229421"/>
                </a:lnTo>
                <a:lnTo>
                  <a:pt x="1125348" y="1248048"/>
                </a:lnTo>
                <a:lnTo>
                  <a:pt x="1101656" y="1263289"/>
                </a:lnTo>
                <a:lnTo>
                  <a:pt x="1077965" y="1280224"/>
                </a:lnTo>
                <a:lnTo>
                  <a:pt x="1052581" y="1293771"/>
                </a:lnTo>
                <a:lnTo>
                  <a:pt x="1027198" y="1307318"/>
                </a:lnTo>
                <a:lnTo>
                  <a:pt x="1000121" y="1319172"/>
                </a:lnTo>
                <a:lnTo>
                  <a:pt x="973045" y="1329333"/>
                </a:lnTo>
                <a:lnTo>
                  <a:pt x="945968" y="1339493"/>
                </a:lnTo>
                <a:lnTo>
                  <a:pt x="917200" y="1347960"/>
                </a:lnTo>
                <a:lnTo>
                  <a:pt x="888432" y="1354734"/>
                </a:lnTo>
                <a:lnTo>
                  <a:pt x="857971" y="1359814"/>
                </a:lnTo>
                <a:lnTo>
                  <a:pt x="829203" y="1363201"/>
                </a:lnTo>
                <a:lnTo>
                  <a:pt x="798744" y="1364894"/>
                </a:lnTo>
                <a:lnTo>
                  <a:pt x="768283" y="1366587"/>
                </a:lnTo>
                <a:close/>
              </a:path>
            </a:pathLst>
          </a:custGeom>
          <a:solidFill>
            <a:srgbClr val="004358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4020000" flipH="false" flipV="false">
            <a:off x="6959600" y="5118100"/>
            <a:ext cx="1054100" cy="1054100"/>
          </a:xfrm>
          <a:prstGeom prst="ellipse">
            <a:avLst/>
          </a:prstGeom>
          <a:solidFill>
            <a:srgbClr val="004358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9" id="9"/>
          <p:cNvSpPr/>
          <p:nvPr/>
        </p:nvSpPr>
        <p:spPr>
          <a:xfrm rot="-9720000" flipH="false" flipV="false">
            <a:off x="6781800" y="3924234"/>
            <a:ext cx="1271821" cy="1033620"/>
          </a:xfrm>
          <a:custGeom>
            <a:avLst/>
            <a:gdLst/>
            <a:ahLst/>
            <a:cxnLst/>
            <a:rect r="r" b="b" t="t" l="l"/>
            <a:pathLst>
              <a:path h="1033620" w="1271821">
                <a:moveTo>
                  <a:pt x="873788" y="0"/>
                </a:moveTo>
                <a:cubicBezTo>
                  <a:pt x="1127858" y="268679"/>
                  <a:pt x="1271821" y="642522"/>
                  <a:pt x="1271821" y="1033620"/>
                </a:cubicBezTo>
                <a:moveTo>
                  <a:pt x="873788" y="0"/>
                </a:moveTo>
                <a:cubicBezTo>
                  <a:pt x="1127858" y="268679"/>
                  <a:pt x="1271821" y="642522"/>
                  <a:pt x="1271821" y="1033620"/>
                </a:cubicBezTo>
                <a:lnTo>
                  <a:pt x="0" y="1033620"/>
                </a:lnTo>
                <a:lnTo>
                  <a:pt x="873788" y="0"/>
                </a:lnTo>
                <a:close/>
              </a:path>
            </a:pathLst>
          </a:custGeom>
          <a:noFill/>
          <a:ln w="12700" cmpd="sng" cap="rnd">
            <a:solidFill>
              <a:srgbClr val="808080">
                <a:alpha val="100000"/>
              </a:srgbClr>
            </a:solidFill>
            <a:prstDash val="sysDot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10" id="10"/>
          <p:cNvSpPr/>
          <p:nvPr/>
        </p:nvSpPr>
        <p:spPr>
          <a:xfrm rot="4619999" flipH="false" flipV="false">
            <a:off x="8407400" y="5321281"/>
            <a:ext cx="414057" cy="599375"/>
          </a:xfrm>
          <a:custGeom>
            <a:avLst/>
            <a:gdLst/>
            <a:ahLst/>
            <a:cxnLst/>
            <a:rect r="r" b="b" t="t" l="l"/>
            <a:pathLst>
              <a:path h="599375" w="414057">
                <a:moveTo>
                  <a:pt x="62051" y="0"/>
                </a:moveTo>
                <a:cubicBezTo>
                  <a:pt x="264441" y="30753"/>
                  <a:pt x="414057" y="205094"/>
                  <a:pt x="414057" y="410244"/>
                </a:cubicBezTo>
                <a:cubicBezTo>
                  <a:pt x="414057" y="476016"/>
                  <a:pt x="398435" y="540846"/>
                  <a:pt x="368511" y="599375"/>
                </a:cubicBezTo>
                <a:moveTo>
                  <a:pt x="62051" y="0"/>
                </a:moveTo>
                <a:cubicBezTo>
                  <a:pt x="264441" y="30753"/>
                  <a:pt x="414057" y="205094"/>
                  <a:pt x="414057" y="410244"/>
                </a:cubicBezTo>
                <a:cubicBezTo>
                  <a:pt x="414057" y="476016"/>
                  <a:pt x="398435" y="540846"/>
                  <a:pt x="368511" y="599375"/>
                </a:cubicBezTo>
                <a:lnTo>
                  <a:pt x="0" y="410244"/>
                </a:lnTo>
                <a:lnTo>
                  <a:pt x="62051" y="0"/>
                </a:lnTo>
                <a:close/>
              </a:path>
            </a:pathLst>
          </a:custGeom>
          <a:noFill/>
          <a:ln w="12700" cmpd="sng" cap="rnd">
            <a:solidFill>
              <a:srgbClr val="808080">
                <a:alpha val="100000"/>
              </a:srgbClr>
            </a:solidFill>
            <a:prstDash val="sysDot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9042400" y="2349500"/>
            <a:ext cx="990600" cy="508000"/>
          </a:xfrm>
          <a:prstGeom prst="rect">
            <a:avLst/>
          </a:prstGeom>
          <a:noFill/>
          <a:ln w="13382" cmpd="sng" cap="flat">
            <a:noFill/>
            <a:prstDash val="solid"/>
            <a:round/>
          </a:ln>
        </p:spPr>
        <p:txBody>
          <a:bodyPr anchor="t" rtlCol="false" anchorCtr="false" vert="horz" wrap="square" lIns="101600" rIns="101600" tIns="50800" bIns="50800"/>
          <a:lstStyle/>
          <a:p>
            <a:pPr algn="ctr" marL="0" indent="0">
              <a:lnSpc>
                <a:spcPct val="116666"/>
              </a:lnSpc>
              <a:defRPr/>
            </a:pPr>
            <a:r>
              <a:rPr lang="en-US" b="true" i="false" strike="noStrike" u="none" sz="1400">
                <a:solidFill>
                  <a:srgbClr val="004358"/>
                </a:solidFill>
                <a:latin typeface="微软雅黑"/>
                <a:ea typeface="微软雅黑"/>
                <a:cs typeface="微软雅黑"/>
                <a:sym typeface="微软雅黑"/>
              </a:rPr>
              <a:t>流程闭环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8686800" y="5778500"/>
            <a:ext cx="990600" cy="508000"/>
          </a:xfrm>
          <a:prstGeom prst="rect">
            <a:avLst/>
          </a:prstGeom>
          <a:noFill/>
          <a:ln w="13382" cmpd="sng" cap="flat">
            <a:noFill/>
            <a:prstDash val="solid"/>
            <a:round/>
          </a:ln>
        </p:spPr>
        <p:txBody>
          <a:bodyPr anchor="t" rtlCol="false" anchorCtr="false" vert="horz" wrap="square" lIns="101600" rIns="101600" tIns="50800" bIns="50800"/>
          <a:lstStyle/>
          <a:p>
            <a:pPr algn="ctr" marL="0" indent="0">
              <a:lnSpc>
                <a:spcPct val="116666"/>
              </a:lnSpc>
              <a:defRPr/>
            </a:pPr>
            <a:r>
              <a:rPr lang="en-US" b="true" i="false" strike="noStrike" u="none" sz="1400">
                <a:solidFill>
                  <a:srgbClr val="004358"/>
                </a:solidFill>
                <a:latin typeface="微软雅黑"/>
                <a:ea typeface="微软雅黑"/>
                <a:cs typeface="微软雅黑"/>
                <a:sym typeface="微软雅黑"/>
              </a:rPr>
              <a:t>开源共享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5880100" y="4114800"/>
            <a:ext cx="990600" cy="508000"/>
          </a:xfrm>
          <a:prstGeom prst="rect">
            <a:avLst/>
          </a:prstGeom>
          <a:noFill/>
          <a:ln w="13382" cmpd="sng" cap="flat">
            <a:noFill/>
            <a:prstDash val="solid"/>
            <a:round/>
          </a:ln>
        </p:spPr>
        <p:txBody>
          <a:bodyPr anchor="t" rtlCol="false" anchorCtr="false" vert="horz" wrap="square" lIns="101600" rIns="101600" tIns="50800" bIns="50800"/>
          <a:lstStyle/>
          <a:p>
            <a:pPr algn="ctr" marL="0" indent="0">
              <a:lnSpc>
                <a:spcPct val="116666"/>
              </a:lnSpc>
              <a:defRPr/>
            </a:pPr>
            <a:r>
              <a:rPr lang="en-US" b="true" i="false" strike="noStrike" u="none" sz="1400">
                <a:solidFill>
                  <a:srgbClr val="004358"/>
                </a:solidFill>
                <a:latin typeface="微软雅黑"/>
                <a:ea typeface="微软雅黑"/>
                <a:cs typeface="微软雅黑"/>
                <a:sym typeface="微软雅黑"/>
              </a:rPr>
              <a:t>工具赋能</a:t>
            </a:r>
            <a:endParaRPr lang="en-US" sz="1100"/>
          </a:p>
        </p:txBody>
      </p:sp>
      <p:sp>
        <p:nvSpPr>
          <p:cNvPr name="Freeform 14" id="14"/>
          <p:cNvSpPr/>
          <p:nvPr/>
        </p:nvSpPr>
        <p:spPr>
          <a:xfrm rot="0" flipH="false" flipV="false">
            <a:off x="7391400" y="5511800"/>
            <a:ext cx="229752" cy="229489"/>
          </a:xfrm>
          <a:custGeom>
            <a:avLst/>
            <a:gdLst/>
            <a:ahLst/>
            <a:cxnLst/>
            <a:rect r="r" b="b" t="t" l="l"/>
            <a:pathLst>
              <a:path h="229489" w="229752">
                <a:moveTo>
                  <a:pt x="113327" y="620"/>
                </a:moveTo>
                <a:cubicBezTo>
                  <a:pt x="50781" y="1241"/>
                  <a:pt x="0" y="53341"/>
                  <a:pt x="1238" y="115985"/>
                </a:cubicBezTo>
                <a:cubicBezTo>
                  <a:pt x="1858" y="179249"/>
                  <a:pt x="53877" y="229489"/>
                  <a:pt x="116425" y="228869"/>
                </a:cubicBezTo>
                <a:cubicBezTo>
                  <a:pt x="179591" y="228248"/>
                  <a:pt x="229752" y="176148"/>
                  <a:pt x="229132" y="112884"/>
                </a:cubicBezTo>
                <a:cubicBezTo>
                  <a:pt x="227894" y="50240"/>
                  <a:pt x="176494" y="0"/>
                  <a:pt x="113327" y="620"/>
                </a:cubicBezTo>
                <a:close/>
                <a:moveTo>
                  <a:pt x="113947" y="15505"/>
                </a:moveTo>
                <a:cubicBezTo>
                  <a:pt x="130668" y="15505"/>
                  <a:pt x="146769" y="19228"/>
                  <a:pt x="161012" y="26670"/>
                </a:cubicBezTo>
                <a:cubicBezTo>
                  <a:pt x="145531" y="52100"/>
                  <a:pt x="145531" y="52100"/>
                  <a:pt x="145531" y="52100"/>
                </a:cubicBezTo>
                <a:cubicBezTo>
                  <a:pt x="136241" y="47758"/>
                  <a:pt x="125713" y="45278"/>
                  <a:pt x="115185" y="45278"/>
                </a:cubicBezTo>
                <a:cubicBezTo>
                  <a:pt x="104038" y="45278"/>
                  <a:pt x="93511" y="47758"/>
                  <a:pt x="84841" y="52100"/>
                </a:cubicBezTo>
                <a:cubicBezTo>
                  <a:pt x="69359" y="26670"/>
                  <a:pt x="69359" y="26670"/>
                  <a:pt x="69359" y="26670"/>
                </a:cubicBezTo>
                <a:cubicBezTo>
                  <a:pt x="82363" y="19848"/>
                  <a:pt x="97846" y="15505"/>
                  <a:pt x="113947" y="15505"/>
                </a:cubicBezTo>
                <a:close/>
                <a:moveTo>
                  <a:pt x="52639" y="145137"/>
                </a:moveTo>
                <a:cubicBezTo>
                  <a:pt x="27248" y="160642"/>
                  <a:pt x="27248" y="160642"/>
                  <a:pt x="27248" y="160642"/>
                </a:cubicBezTo>
                <a:cubicBezTo>
                  <a:pt x="20436" y="146997"/>
                  <a:pt x="16101" y="132112"/>
                  <a:pt x="16101" y="115985"/>
                </a:cubicBezTo>
                <a:cubicBezTo>
                  <a:pt x="15483" y="99239"/>
                  <a:pt x="19817" y="83113"/>
                  <a:pt x="27248" y="68847"/>
                </a:cubicBezTo>
                <a:cubicBezTo>
                  <a:pt x="52639" y="84352"/>
                  <a:pt x="52639" y="84352"/>
                  <a:pt x="52639" y="84352"/>
                </a:cubicBezTo>
                <a:cubicBezTo>
                  <a:pt x="48303" y="93656"/>
                  <a:pt x="45827" y="103580"/>
                  <a:pt x="45827" y="114744"/>
                </a:cubicBezTo>
                <a:cubicBezTo>
                  <a:pt x="45827" y="125909"/>
                  <a:pt x="48303" y="135833"/>
                  <a:pt x="52639" y="145137"/>
                </a:cubicBezTo>
                <a:close/>
                <a:moveTo>
                  <a:pt x="116425" y="213984"/>
                </a:moveTo>
                <a:cubicBezTo>
                  <a:pt x="99704" y="213984"/>
                  <a:pt x="83603" y="210261"/>
                  <a:pt x="69359" y="202819"/>
                </a:cubicBezTo>
                <a:cubicBezTo>
                  <a:pt x="84841" y="177389"/>
                  <a:pt x="84841" y="177389"/>
                  <a:pt x="84841" y="177389"/>
                </a:cubicBezTo>
                <a:cubicBezTo>
                  <a:pt x="93511" y="181731"/>
                  <a:pt x="104038" y="184211"/>
                  <a:pt x="115185" y="184211"/>
                </a:cubicBezTo>
                <a:cubicBezTo>
                  <a:pt x="125713" y="184211"/>
                  <a:pt x="136241" y="181731"/>
                  <a:pt x="145531" y="177389"/>
                </a:cubicBezTo>
                <a:cubicBezTo>
                  <a:pt x="161012" y="202819"/>
                  <a:pt x="161012" y="202819"/>
                  <a:pt x="161012" y="202819"/>
                </a:cubicBezTo>
                <a:cubicBezTo>
                  <a:pt x="147389" y="209641"/>
                  <a:pt x="132526" y="213984"/>
                  <a:pt x="116425" y="213984"/>
                </a:cubicBezTo>
                <a:close/>
                <a:moveTo>
                  <a:pt x="115185" y="169325"/>
                </a:moveTo>
                <a:cubicBezTo>
                  <a:pt x="84841" y="169325"/>
                  <a:pt x="60689" y="144516"/>
                  <a:pt x="60689" y="114744"/>
                </a:cubicBezTo>
                <a:cubicBezTo>
                  <a:pt x="60689" y="84352"/>
                  <a:pt x="84841" y="60164"/>
                  <a:pt x="115185" y="60164"/>
                </a:cubicBezTo>
                <a:cubicBezTo>
                  <a:pt x="144911" y="60164"/>
                  <a:pt x="169682" y="84352"/>
                  <a:pt x="169682" y="114744"/>
                </a:cubicBezTo>
                <a:cubicBezTo>
                  <a:pt x="169682" y="144516"/>
                  <a:pt x="144911" y="169325"/>
                  <a:pt x="115185" y="169325"/>
                </a:cubicBezTo>
                <a:close/>
                <a:moveTo>
                  <a:pt x="177113" y="145137"/>
                </a:moveTo>
                <a:cubicBezTo>
                  <a:pt x="182067" y="135833"/>
                  <a:pt x="184545" y="125909"/>
                  <a:pt x="184545" y="114744"/>
                </a:cubicBezTo>
                <a:cubicBezTo>
                  <a:pt x="184545" y="103580"/>
                  <a:pt x="182067" y="93656"/>
                  <a:pt x="177113" y="84352"/>
                </a:cubicBezTo>
                <a:cubicBezTo>
                  <a:pt x="203123" y="68847"/>
                  <a:pt x="203123" y="68847"/>
                  <a:pt x="203123" y="68847"/>
                </a:cubicBezTo>
                <a:cubicBezTo>
                  <a:pt x="209935" y="82492"/>
                  <a:pt x="213651" y="97377"/>
                  <a:pt x="214271" y="113504"/>
                </a:cubicBezTo>
                <a:cubicBezTo>
                  <a:pt x="214271" y="130250"/>
                  <a:pt x="210555" y="146376"/>
                  <a:pt x="203123" y="160642"/>
                </a:cubicBezTo>
                <a:lnTo>
                  <a:pt x="177113" y="145137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15" id="15"/>
          <p:cNvSpPr/>
          <p:nvPr/>
        </p:nvSpPr>
        <p:spPr>
          <a:xfrm rot="0" flipH="false" flipV="false">
            <a:off x="7277100" y="5410200"/>
            <a:ext cx="436703" cy="436703"/>
          </a:xfrm>
          <a:custGeom>
            <a:avLst/>
            <a:gdLst/>
            <a:ahLst/>
            <a:cxnLst/>
            <a:rect r="r" b="b" t="t" l="l"/>
            <a:pathLst>
              <a:path h="436703" w="436703">
                <a:moveTo>
                  <a:pt x="218352" y="0"/>
                </a:moveTo>
                <a:cubicBezTo>
                  <a:pt x="97804" y="0"/>
                  <a:pt x="0" y="97804"/>
                  <a:pt x="0" y="218352"/>
                </a:cubicBezTo>
                <a:cubicBezTo>
                  <a:pt x="0" y="338901"/>
                  <a:pt x="97804" y="436703"/>
                  <a:pt x="218352" y="436703"/>
                </a:cubicBezTo>
                <a:cubicBezTo>
                  <a:pt x="338901" y="436703"/>
                  <a:pt x="436703" y="338901"/>
                  <a:pt x="436703" y="218352"/>
                </a:cubicBezTo>
                <a:cubicBezTo>
                  <a:pt x="436703" y="97804"/>
                  <a:pt x="338901" y="0"/>
                  <a:pt x="218352" y="0"/>
                </a:cubicBezTo>
                <a:close/>
                <a:moveTo>
                  <a:pt x="218352" y="396900"/>
                </a:moveTo>
                <a:cubicBezTo>
                  <a:pt x="119412" y="396900"/>
                  <a:pt x="39804" y="316155"/>
                  <a:pt x="39804" y="218352"/>
                </a:cubicBezTo>
                <a:cubicBezTo>
                  <a:pt x="39804" y="119412"/>
                  <a:pt x="119412" y="39804"/>
                  <a:pt x="218352" y="39804"/>
                </a:cubicBezTo>
                <a:cubicBezTo>
                  <a:pt x="316155" y="39804"/>
                  <a:pt x="396900" y="119412"/>
                  <a:pt x="396900" y="218352"/>
                </a:cubicBezTo>
                <a:cubicBezTo>
                  <a:pt x="396900" y="316155"/>
                  <a:pt x="316155" y="396900"/>
                  <a:pt x="218352" y="39690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16" id="16"/>
          <p:cNvSpPr/>
          <p:nvPr/>
        </p:nvSpPr>
        <p:spPr>
          <a:xfrm rot="0" flipH="false" flipV="false">
            <a:off x="7429500" y="2501900"/>
            <a:ext cx="322092" cy="259104"/>
          </a:xfrm>
          <a:custGeom>
            <a:avLst/>
            <a:gdLst/>
            <a:ahLst/>
            <a:cxnLst/>
            <a:rect r="r" b="b" t="t" l="l"/>
            <a:pathLst>
              <a:path h="259104" w="322092">
                <a:moveTo>
                  <a:pt x="316455" y="49086"/>
                </a:moveTo>
                <a:cubicBezTo>
                  <a:pt x="241569" y="2414"/>
                  <a:pt x="241569" y="2414"/>
                  <a:pt x="241569" y="2414"/>
                </a:cubicBezTo>
                <a:cubicBezTo>
                  <a:pt x="238349" y="0"/>
                  <a:pt x="234321" y="0"/>
                  <a:pt x="230295" y="2414"/>
                </a:cubicBezTo>
                <a:cubicBezTo>
                  <a:pt x="161046" y="45866"/>
                  <a:pt x="161046" y="45866"/>
                  <a:pt x="161046" y="45866"/>
                </a:cubicBezTo>
                <a:cubicBezTo>
                  <a:pt x="90990" y="2414"/>
                  <a:pt x="90990" y="2414"/>
                  <a:pt x="90990" y="2414"/>
                </a:cubicBezTo>
                <a:cubicBezTo>
                  <a:pt x="87770" y="0"/>
                  <a:pt x="83744" y="0"/>
                  <a:pt x="80523" y="2414"/>
                </a:cubicBezTo>
                <a:cubicBezTo>
                  <a:pt x="4831" y="49086"/>
                  <a:pt x="4831" y="49086"/>
                  <a:pt x="4831" y="49086"/>
                </a:cubicBezTo>
                <a:cubicBezTo>
                  <a:pt x="1610" y="51498"/>
                  <a:pt x="0" y="54718"/>
                  <a:pt x="0" y="58741"/>
                </a:cubicBezTo>
                <a:cubicBezTo>
                  <a:pt x="0" y="247034"/>
                  <a:pt x="0" y="247034"/>
                  <a:pt x="0" y="247034"/>
                </a:cubicBezTo>
                <a:cubicBezTo>
                  <a:pt x="0" y="251057"/>
                  <a:pt x="1610" y="255081"/>
                  <a:pt x="4831" y="256690"/>
                </a:cubicBezTo>
                <a:cubicBezTo>
                  <a:pt x="8857" y="259104"/>
                  <a:pt x="12884" y="258299"/>
                  <a:pt x="16105" y="256690"/>
                </a:cubicBezTo>
                <a:cubicBezTo>
                  <a:pt x="85354" y="213238"/>
                  <a:pt x="85354" y="213238"/>
                  <a:pt x="85354" y="213238"/>
                </a:cubicBezTo>
                <a:cubicBezTo>
                  <a:pt x="155410" y="256690"/>
                  <a:pt x="155410" y="256690"/>
                  <a:pt x="155410" y="256690"/>
                </a:cubicBezTo>
                <a:cubicBezTo>
                  <a:pt x="158631" y="259104"/>
                  <a:pt x="162657" y="259104"/>
                  <a:pt x="166682" y="256690"/>
                </a:cubicBezTo>
                <a:cubicBezTo>
                  <a:pt x="235933" y="213238"/>
                  <a:pt x="235933" y="213238"/>
                  <a:pt x="235933" y="213238"/>
                </a:cubicBezTo>
                <a:cubicBezTo>
                  <a:pt x="305987" y="256690"/>
                  <a:pt x="305987" y="256690"/>
                  <a:pt x="305987" y="256690"/>
                </a:cubicBezTo>
                <a:cubicBezTo>
                  <a:pt x="307598" y="257495"/>
                  <a:pt x="309208" y="258299"/>
                  <a:pt x="311624" y="258299"/>
                </a:cubicBezTo>
                <a:cubicBezTo>
                  <a:pt x="313234" y="258299"/>
                  <a:pt x="314844" y="257495"/>
                  <a:pt x="316455" y="256690"/>
                </a:cubicBezTo>
                <a:cubicBezTo>
                  <a:pt x="319677" y="255081"/>
                  <a:pt x="322092" y="251057"/>
                  <a:pt x="322092" y="247034"/>
                </a:cubicBezTo>
                <a:cubicBezTo>
                  <a:pt x="322092" y="58741"/>
                  <a:pt x="322092" y="58741"/>
                  <a:pt x="322092" y="58741"/>
                </a:cubicBezTo>
                <a:cubicBezTo>
                  <a:pt x="322092" y="54718"/>
                  <a:pt x="319677" y="51498"/>
                  <a:pt x="316455" y="49086"/>
                </a:cubicBezTo>
                <a:close/>
                <a:moveTo>
                  <a:pt x="74887" y="193925"/>
                </a:moveTo>
                <a:cubicBezTo>
                  <a:pt x="20936" y="227722"/>
                  <a:pt x="20936" y="227722"/>
                  <a:pt x="20936" y="227722"/>
                </a:cubicBezTo>
                <a:cubicBezTo>
                  <a:pt x="20936" y="65179"/>
                  <a:pt x="20936" y="65179"/>
                  <a:pt x="20936" y="65179"/>
                </a:cubicBezTo>
                <a:cubicBezTo>
                  <a:pt x="74887" y="31382"/>
                  <a:pt x="74887" y="31382"/>
                  <a:pt x="74887" y="31382"/>
                </a:cubicBezTo>
                <a:lnTo>
                  <a:pt x="74887" y="193925"/>
                </a:lnTo>
                <a:close/>
                <a:moveTo>
                  <a:pt x="150578" y="227722"/>
                </a:moveTo>
                <a:cubicBezTo>
                  <a:pt x="95823" y="193925"/>
                  <a:pt x="95823" y="193925"/>
                  <a:pt x="95823" y="193925"/>
                </a:cubicBezTo>
                <a:cubicBezTo>
                  <a:pt x="95823" y="31382"/>
                  <a:pt x="95823" y="31382"/>
                  <a:pt x="95823" y="31382"/>
                </a:cubicBezTo>
                <a:cubicBezTo>
                  <a:pt x="150578" y="65179"/>
                  <a:pt x="150578" y="65179"/>
                  <a:pt x="150578" y="65179"/>
                </a:cubicBezTo>
                <a:lnTo>
                  <a:pt x="150578" y="227722"/>
                </a:lnTo>
                <a:close/>
                <a:moveTo>
                  <a:pt x="225464" y="193925"/>
                </a:moveTo>
                <a:cubicBezTo>
                  <a:pt x="171514" y="227722"/>
                  <a:pt x="171514" y="227722"/>
                  <a:pt x="171514" y="227722"/>
                </a:cubicBezTo>
                <a:cubicBezTo>
                  <a:pt x="171514" y="65179"/>
                  <a:pt x="171514" y="65179"/>
                  <a:pt x="171514" y="65179"/>
                </a:cubicBezTo>
                <a:cubicBezTo>
                  <a:pt x="225464" y="31382"/>
                  <a:pt x="225464" y="31382"/>
                  <a:pt x="225464" y="31382"/>
                </a:cubicBezTo>
                <a:lnTo>
                  <a:pt x="225464" y="193925"/>
                </a:lnTo>
                <a:close/>
                <a:moveTo>
                  <a:pt x="301156" y="227722"/>
                </a:moveTo>
                <a:cubicBezTo>
                  <a:pt x="246400" y="193925"/>
                  <a:pt x="246400" y="193925"/>
                  <a:pt x="246400" y="193925"/>
                </a:cubicBezTo>
                <a:cubicBezTo>
                  <a:pt x="246400" y="31382"/>
                  <a:pt x="246400" y="31382"/>
                  <a:pt x="246400" y="31382"/>
                </a:cubicBezTo>
                <a:cubicBezTo>
                  <a:pt x="301156" y="65179"/>
                  <a:pt x="301156" y="65179"/>
                  <a:pt x="301156" y="65179"/>
                </a:cubicBezTo>
                <a:lnTo>
                  <a:pt x="301156" y="227722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17" id="17"/>
          <p:cNvSpPr/>
          <p:nvPr/>
        </p:nvSpPr>
        <p:spPr>
          <a:xfrm rot="0" flipH="false" flipV="false">
            <a:off x="7277100" y="2311400"/>
            <a:ext cx="627243" cy="627243"/>
          </a:xfrm>
          <a:custGeom>
            <a:avLst/>
            <a:gdLst/>
            <a:ahLst/>
            <a:cxnLst/>
            <a:rect r="r" b="b" t="t" l="l"/>
            <a:pathLst>
              <a:path h="627243" w="627243">
                <a:moveTo>
                  <a:pt x="313621" y="0"/>
                </a:moveTo>
                <a:cubicBezTo>
                  <a:pt x="140476" y="0"/>
                  <a:pt x="0" y="140476"/>
                  <a:pt x="0" y="313621"/>
                </a:cubicBezTo>
                <a:cubicBezTo>
                  <a:pt x="0" y="486767"/>
                  <a:pt x="140476" y="627243"/>
                  <a:pt x="313621" y="627243"/>
                </a:cubicBezTo>
                <a:cubicBezTo>
                  <a:pt x="486767" y="627243"/>
                  <a:pt x="627243" y="486767"/>
                  <a:pt x="627243" y="313621"/>
                </a:cubicBezTo>
                <a:cubicBezTo>
                  <a:pt x="627243" y="140476"/>
                  <a:pt x="486767" y="0"/>
                  <a:pt x="313621" y="0"/>
                </a:cubicBezTo>
                <a:close/>
                <a:moveTo>
                  <a:pt x="313621" y="570073"/>
                </a:moveTo>
                <a:cubicBezTo>
                  <a:pt x="171512" y="570073"/>
                  <a:pt x="57170" y="454097"/>
                  <a:pt x="57170" y="313621"/>
                </a:cubicBezTo>
                <a:cubicBezTo>
                  <a:pt x="57170" y="171512"/>
                  <a:pt x="171512" y="57170"/>
                  <a:pt x="313621" y="57170"/>
                </a:cubicBezTo>
                <a:cubicBezTo>
                  <a:pt x="454097" y="57170"/>
                  <a:pt x="570073" y="171512"/>
                  <a:pt x="570073" y="313621"/>
                </a:cubicBezTo>
                <a:cubicBezTo>
                  <a:pt x="570073" y="454097"/>
                  <a:pt x="454097" y="570073"/>
                  <a:pt x="313621" y="570073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18" id="18"/>
          <p:cNvSpPr/>
          <p:nvPr/>
        </p:nvSpPr>
        <p:spPr>
          <a:xfrm rot="0" flipH="false" flipV="false">
            <a:off x="8229600" y="4165600"/>
            <a:ext cx="436703" cy="436703"/>
          </a:xfrm>
          <a:custGeom>
            <a:avLst/>
            <a:gdLst/>
            <a:ahLst/>
            <a:cxnLst/>
            <a:rect r="r" b="b" t="t" l="l"/>
            <a:pathLst>
              <a:path h="436703" w="436703">
                <a:moveTo>
                  <a:pt x="218352" y="0"/>
                </a:moveTo>
                <a:cubicBezTo>
                  <a:pt x="97804" y="0"/>
                  <a:pt x="0" y="97804"/>
                  <a:pt x="0" y="218352"/>
                </a:cubicBezTo>
                <a:cubicBezTo>
                  <a:pt x="0" y="338901"/>
                  <a:pt x="97804" y="436703"/>
                  <a:pt x="218352" y="436703"/>
                </a:cubicBezTo>
                <a:cubicBezTo>
                  <a:pt x="338901" y="436703"/>
                  <a:pt x="436703" y="338901"/>
                  <a:pt x="436703" y="218352"/>
                </a:cubicBezTo>
                <a:cubicBezTo>
                  <a:pt x="436703" y="97804"/>
                  <a:pt x="338901" y="0"/>
                  <a:pt x="218352" y="0"/>
                </a:cubicBezTo>
                <a:close/>
                <a:moveTo>
                  <a:pt x="218352" y="396900"/>
                </a:moveTo>
                <a:cubicBezTo>
                  <a:pt x="119412" y="396900"/>
                  <a:pt x="39804" y="316155"/>
                  <a:pt x="39804" y="218352"/>
                </a:cubicBezTo>
                <a:cubicBezTo>
                  <a:pt x="39804" y="119412"/>
                  <a:pt x="119412" y="39804"/>
                  <a:pt x="218352" y="39804"/>
                </a:cubicBezTo>
                <a:cubicBezTo>
                  <a:pt x="316155" y="39804"/>
                  <a:pt x="396900" y="119412"/>
                  <a:pt x="396900" y="218352"/>
                </a:cubicBezTo>
                <a:cubicBezTo>
                  <a:pt x="396900" y="316155"/>
                  <a:pt x="316155" y="396900"/>
                  <a:pt x="218352" y="39690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19" id="19"/>
          <p:cNvSpPr/>
          <p:nvPr/>
        </p:nvSpPr>
        <p:spPr>
          <a:xfrm rot="0" flipH="false" flipV="false">
            <a:off x="8369300" y="4292600"/>
            <a:ext cx="151994" cy="199807"/>
          </a:xfrm>
          <a:custGeom>
            <a:avLst/>
            <a:gdLst/>
            <a:ahLst/>
            <a:cxnLst/>
            <a:rect r="r" b="b" t="t" l="l"/>
            <a:pathLst>
              <a:path h="199807" w="151994">
                <a:moveTo>
                  <a:pt x="56998" y="28543"/>
                </a:moveTo>
                <a:cubicBezTo>
                  <a:pt x="56998" y="12488"/>
                  <a:pt x="43936" y="0"/>
                  <a:pt x="28499" y="0"/>
                </a:cubicBezTo>
                <a:cubicBezTo>
                  <a:pt x="12468" y="0"/>
                  <a:pt x="0" y="12488"/>
                  <a:pt x="0" y="28543"/>
                </a:cubicBezTo>
                <a:cubicBezTo>
                  <a:pt x="0" y="40437"/>
                  <a:pt x="7125" y="50546"/>
                  <a:pt x="17217" y="54709"/>
                </a:cubicBezTo>
                <a:cubicBezTo>
                  <a:pt x="17217" y="145098"/>
                  <a:pt x="17217" y="145098"/>
                  <a:pt x="17217" y="145098"/>
                </a:cubicBezTo>
                <a:cubicBezTo>
                  <a:pt x="7125" y="149259"/>
                  <a:pt x="0" y="159368"/>
                  <a:pt x="0" y="171262"/>
                </a:cubicBezTo>
                <a:cubicBezTo>
                  <a:pt x="0" y="186723"/>
                  <a:pt x="12468" y="199807"/>
                  <a:pt x="28499" y="199807"/>
                </a:cubicBezTo>
                <a:cubicBezTo>
                  <a:pt x="43936" y="199807"/>
                  <a:pt x="56998" y="186723"/>
                  <a:pt x="56998" y="171262"/>
                </a:cubicBezTo>
                <a:cubicBezTo>
                  <a:pt x="56998" y="159368"/>
                  <a:pt x="49873" y="149259"/>
                  <a:pt x="39779" y="145098"/>
                </a:cubicBezTo>
                <a:cubicBezTo>
                  <a:pt x="39779" y="54709"/>
                  <a:pt x="39779" y="54709"/>
                  <a:pt x="39779" y="54709"/>
                </a:cubicBezTo>
                <a:cubicBezTo>
                  <a:pt x="49873" y="50546"/>
                  <a:pt x="56998" y="40437"/>
                  <a:pt x="56998" y="28543"/>
                </a:cubicBezTo>
                <a:close/>
                <a:moveTo>
                  <a:pt x="44529" y="171262"/>
                </a:moveTo>
                <a:cubicBezTo>
                  <a:pt x="44529" y="180183"/>
                  <a:pt x="37404" y="187913"/>
                  <a:pt x="28499" y="187913"/>
                </a:cubicBezTo>
                <a:cubicBezTo>
                  <a:pt x="18999" y="187913"/>
                  <a:pt x="11874" y="180183"/>
                  <a:pt x="11874" y="171262"/>
                </a:cubicBezTo>
                <a:cubicBezTo>
                  <a:pt x="11874" y="162343"/>
                  <a:pt x="18999" y="154612"/>
                  <a:pt x="28499" y="154612"/>
                </a:cubicBezTo>
                <a:cubicBezTo>
                  <a:pt x="37404" y="154612"/>
                  <a:pt x="44529" y="162343"/>
                  <a:pt x="44529" y="171262"/>
                </a:cubicBezTo>
                <a:close/>
                <a:moveTo>
                  <a:pt x="28499" y="45194"/>
                </a:moveTo>
                <a:cubicBezTo>
                  <a:pt x="18999" y="45194"/>
                  <a:pt x="11874" y="37464"/>
                  <a:pt x="11874" y="28543"/>
                </a:cubicBezTo>
                <a:cubicBezTo>
                  <a:pt x="11874" y="19624"/>
                  <a:pt x="18999" y="11894"/>
                  <a:pt x="28499" y="11894"/>
                </a:cubicBezTo>
                <a:cubicBezTo>
                  <a:pt x="37404" y="11894"/>
                  <a:pt x="44529" y="19624"/>
                  <a:pt x="44529" y="28543"/>
                </a:cubicBezTo>
                <a:cubicBezTo>
                  <a:pt x="44529" y="37464"/>
                  <a:pt x="37404" y="45194"/>
                  <a:pt x="28499" y="45194"/>
                </a:cubicBezTo>
                <a:close/>
                <a:moveTo>
                  <a:pt x="134775" y="145098"/>
                </a:moveTo>
                <a:cubicBezTo>
                  <a:pt x="134775" y="54709"/>
                  <a:pt x="134775" y="54709"/>
                  <a:pt x="134775" y="54709"/>
                </a:cubicBezTo>
                <a:cubicBezTo>
                  <a:pt x="144869" y="50546"/>
                  <a:pt x="151994" y="40437"/>
                  <a:pt x="151994" y="28543"/>
                </a:cubicBezTo>
                <a:cubicBezTo>
                  <a:pt x="151994" y="12488"/>
                  <a:pt x="138932" y="0"/>
                  <a:pt x="123495" y="0"/>
                </a:cubicBezTo>
                <a:cubicBezTo>
                  <a:pt x="107464" y="0"/>
                  <a:pt x="94996" y="12488"/>
                  <a:pt x="94996" y="28543"/>
                </a:cubicBezTo>
                <a:cubicBezTo>
                  <a:pt x="94996" y="40437"/>
                  <a:pt x="102121" y="50546"/>
                  <a:pt x="112213" y="54709"/>
                </a:cubicBezTo>
                <a:cubicBezTo>
                  <a:pt x="112213" y="145098"/>
                  <a:pt x="112213" y="145098"/>
                  <a:pt x="112213" y="145098"/>
                </a:cubicBezTo>
                <a:cubicBezTo>
                  <a:pt x="102121" y="149259"/>
                  <a:pt x="94996" y="159368"/>
                  <a:pt x="94996" y="171262"/>
                </a:cubicBezTo>
                <a:cubicBezTo>
                  <a:pt x="94996" y="186723"/>
                  <a:pt x="107464" y="199807"/>
                  <a:pt x="123495" y="199807"/>
                </a:cubicBezTo>
                <a:cubicBezTo>
                  <a:pt x="138932" y="199807"/>
                  <a:pt x="151994" y="186723"/>
                  <a:pt x="151994" y="171262"/>
                </a:cubicBezTo>
                <a:cubicBezTo>
                  <a:pt x="151994" y="159368"/>
                  <a:pt x="144869" y="149259"/>
                  <a:pt x="134775" y="145098"/>
                </a:cubicBezTo>
                <a:close/>
                <a:moveTo>
                  <a:pt x="106870" y="28543"/>
                </a:moveTo>
                <a:cubicBezTo>
                  <a:pt x="106870" y="19624"/>
                  <a:pt x="113995" y="11894"/>
                  <a:pt x="123495" y="11894"/>
                </a:cubicBezTo>
                <a:cubicBezTo>
                  <a:pt x="132400" y="11894"/>
                  <a:pt x="139525" y="19624"/>
                  <a:pt x="139525" y="28543"/>
                </a:cubicBezTo>
                <a:cubicBezTo>
                  <a:pt x="139525" y="37464"/>
                  <a:pt x="132400" y="45194"/>
                  <a:pt x="123495" y="45194"/>
                </a:cubicBezTo>
                <a:cubicBezTo>
                  <a:pt x="113995" y="45194"/>
                  <a:pt x="106870" y="37464"/>
                  <a:pt x="106870" y="28543"/>
                </a:cubicBezTo>
                <a:close/>
                <a:moveTo>
                  <a:pt x="123495" y="187913"/>
                </a:moveTo>
                <a:cubicBezTo>
                  <a:pt x="113995" y="187913"/>
                  <a:pt x="106870" y="180183"/>
                  <a:pt x="106870" y="171262"/>
                </a:cubicBezTo>
                <a:cubicBezTo>
                  <a:pt x="106870" y="162343"/>
                  <a:pt x="113995" y="154612"/>
                  <a:pt x="123495" y="154612"/>
                </a:cubicBezTo>
                <a:cubicBezTo>
                  <a:pt x="132400" y="154612"/>
                  <a:pt x="139525" y="162343"/>
                  <a:pt x="139525" y="171262"/>
                </a:cubicBezTo>
                <a:cubicBezTo>
                  <a:pt x="139525" y="180183"/>
                  <a:pt x="132400" y="187913"/>
                  <a:pt x="123495" y="187913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2679700" y="2171700"/>
            <a:ext cx="2984500" cy="533400"/>
          </a:xfrm>
          <a:prstGeom prst="rect">
            <a:avLst/>
          </a:prstGeom>
          <a:noFill/>
          <a:ln w="13382" cmpd="sng" cap="flat">
            <a:noFill/>
            <a:prstDash val="solid"/>
            <a:round/>
          </a:ln>
        </p:spPr>
        <p:txBody>
          <a:bodyPr anchor="t" rtlCol="false" anchorCtr="false" vert="horz" wrap="square" lIns="101600" rIns="101600" tIns="50800" bIns="50800"/>
          <a:lstStyle/>
          <a:p>
            <a:pPr algn="just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333333"/>
                </a:solidFill>
                <a:latin typeface="微软雅黑"/>
                <a:ea typeface="微软雅黑"/>
                <a:cs typeface="微软雅黑"/>
                <a:sym typeface="微软雅黑"/>
              </a:rPr>
              <a:t>完成了项目规划：成功执行了从需求分析、方案设计到功能开发的完整学术研究流程，明确了交通信息采集领域的研究边界与实施路径。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2679700" y="3340100"/>
            <a:ext cx="2984500" cy="533400"/>
          </a:xfrm>
          <a:prstGeom prst="rect">
            <a:avLst/>
          </a:prstGeom>
          <a:noFill/>
          <a:ln w="13382" cmpd="sng" cap="flat">
            <a:noFill/>
            <a:prstDash val="solid"/>
            <a:round/>
          </a:ln>
        </p:spPr>
        <p:txBody>
          <a:bodyPr anchor="t" rtlCol="false" anchorCtr="false" vert="horz" wrap="square" lIns="101600" rIns="101600" tIns="50800" bIns="50800"/>
          <a:lstStyle/>
          <a:p>
            <a:pPr algn="just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333333"/>
                </a:solidFill>
                <a:latin typeface="微软雅黑"/>
                <a:ea typeface="微软雅黑"/>
                <a:cs typeface="微软雅黑"/>
                <a:sym typeface="微软雅黑"/>
              </a:rPr>
              <a:t>构建了分析工具：开发了支持多源文献数据导入、计量指标自动计算与可视化展示的原型系统，具备高效的文献数据处理与分析能力。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2679700" y="4495800"/>
            <a:ext cx="2984500" cy="533400"/>
          </a:xfrm>
          <a:prstGeom prst="rect">
            <a:avLst/>
          </a:prstGeom>
          <a:noFill/>
          <a:ln w="13382" cmpd="sng" cap="flat">
            <a:noFill/>
            <a:prstDash val="solid"/>
            <a:round/>
          </a:ln>
        </p:spPr>
        <p:txBody>
          <a:bodyPr anchor="t" rtlCol="false" anchorCtr="false" vert="horz" wrap="square" lIns="101600" rIns="101600" tIns="50800" bIns="50800"/>
          <a:lstStyle/>
          <a:p>
            <a:pPr algn="just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333333"/>
                </a:solidFill>
                <a:latin typeface="微软雅黑"/>
                <a:ea typeface="微软雅黑"/>
                <a:cs typeface="微软雅黑"/>
                <a:sym typeface="微软雅黑"/>
              </a:rPr>
              <a:t>产出了研究成果：通过文献计量分析方法，系统梳理了领域发文趋势，精准揭示了交通信息采集的核心研究热点、演进脉络与未来方向。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2705100" y="5651500"/>
            <a:ext cx="3009900" cy="368300"/>
          </a:xfrm>
          <a:prstGeom prst="rect">
            <a:avLst/>
          </a:prstGeom>
          <a:noFill/>
          <a:ln w="13382" cmpd="sng" cap="flat">
            <a:noFill/>
            <a:prstDash val="solid"/>
            <a:round/>
          </a:ln>
        </p:spPr>
        <p:txBody>
          <a:bodyPr anchor="t" rtlCol="false" anchorCtr="false" vert="horz" wrap="square" lIns="88900" rIns="165100" tIns="50800" bIns="38100"/>
          <a:lstStyle/>
          <a:p>
            <a:pPr algn="just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333333"/>
                </a:solidFill>
                <a:latin typeface="微软雅黑"/>
                <a:ea typeface="微软雅黑"/>
                <a:cs typeface="微软雅黑"/>
                <a:sym typeface="微软雅黑"/>
              </a:rPr>
              <a:t>实现了开源共享：将项目核心代码与技术文档托管至GitHub，保障研究可复现，推动领域知识的开放交流与共享。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863600" y="228600"/>
            <a:ext cx="3949700" cy="495300"/>
          </a:xfrm>
          <a:prstGeom prst="rect">
            <a:avLst/>
          </a:prstGeom>
          <a:noFill/>
          <a:ln w="13382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3200">
                <a:solidFill>
                  <a:srgbClr val="004358"/>
                </a:solidFill>
                <a:latin typeface="微软雅黑"/>
                <a:ea typeface="微软雅黑"/>
                <a:cs typeface="微软雅黑"/>
                <a:sym typeface="微软雅黑"/>
              </a:rPr>
              <a:t>项目成果总结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863600" y="749300"/>
            <a:ext cx="4445000" cy="215900"/>
          </a:xfrm>
          <a:prstGeom prst="rect">
            <a:avLst/>
          </a:prstGeom>
          <a:noFill/>
          <a:ln w="13382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PROJECT SUMMARY &amp; KEY ACHIEVEMENTS</a:t>
            </a:r>
            <a:endParaRPr lang="en-US" sz="1100"/>
          </a:p>
        </p:txBody>
      </p:sp>
      <p:pic>
        <p:nvPicPr>
          <p:cNvPr name="Picture 26" id="26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11734800" y="6134100"/>
            <a:ext cx="1168400" cy="10922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rot="0" flipH="false" flipV="false">
            <a:off x="5905500" y="3644900"/>
            <a:ext cx="547040" cy="2446913"/>
          </a:xfrm>
          <a:custGeom>
            <a:avLst/>
            <a:gdLst/>
            <a:ahLst/>
            <a:cxnLst/>
            <a:rect r="r" b="b" t="t" l="l"/>
            <a:pathLst>
              <a:path h="2446913" w="547040">
                <a:moveTo>
                  <a:pt x="0" y="2173858"/>
                </a:moveTo>
                <a:lnTo>
                  <a:pt x="0" y="2173858"/>
                </a:lnTo>
                <a:cubicBezTo>
                  <a:pt x="0" y="2323611"/>
                  <a:pt x="123412" y="2446913"/>
                  <a:pt x="273520" y="2446913"/>
                </a:cubicBezTo>
                <a:lnTo>
                  <a:pt x="273520" y="2446913"/>
                </a:lnTo>
                <a:cubicBezTo>
                  <a:pt x="426965" y="2446913"/>
                  <a:pt x="547040" y="2323611"/>
                  <a:pt x="547040" y="2173858"/>
                </a:cubicBezTo>
                <a:lnTo>
                  <a:pt x="547040" y="2173858"/>
                </a:lnTo>
                <a:lnTo>
                  <a:pt x="547040" y="0"/>
                </a:lnTo>
              </a:path>
            </a:pathLst>
          </a:custGeom>
          <a:noFill/>
          <a:ln w="101600" cmpd="sng" cap="rnd">
            <a:solidFill>
              <a:srgbClr val="B3B3B3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3" id="3"/>
          <p:cNvSpPr/>
          <p:nvPr/>
        </p:nvSpPr>
        <p:spPr>
          <a:xfrm rot="0" flipH="false" flipV="false">
            <a:off x="6438900" y="2794000"/>
            <a:ext cx="2123472" cy="1892842"/>
          </a:xfrm>
          <a:custGeom>
            <a:avLst/>
            <a:gdLst/>
            <a:ahLst/>
            <a:cxnLst/>
            <a:rect r="r" b="b" t="t" l="l"/>
            <a:pathLst>
              <a:path h="1892842" w="2123472">
                <a:moveTo>
                  <a:pt x="0" y="0"/>
                </a:moveTo>
                <a:cubicBezTo>
                  <a:pt x="0" y="1892842"/>
                  <a:pt x="0" y="1892842"/>
                  <a:pt x="0" y="1892842"/>
                </a:cubicBezTo>
                <a:cubicBezTo>
                  <a:pt x="116492" y="1722886"/>
                  <a:pt x="309535" y="1612915"/>
                  <a:pt x="529204" y="1612915"/>
                </a:cubicBezTo>
                <a:cubicBezTo>
                  <a:pt x="752202" y="1612915"/>
                  <a:pt x="945244" y="1722886"/>
                  <a:pt x="1061737" y="1892842"/>
                </a:cubicBezTo>
                <a:cubicBezTo>
                  <a:pt x="1178227" y="1722886"/>
                  <a:pt x="1371270" y="1612915"/>
                  <a:pt x="1594268" y="1612915"/>
                </a:cubicBezTo>
                <a:cubicBezTo>
                  <a:pt x="1813937" y="1612915"/>
                  <a:pt x="2006981" y="1722886"/>
                  <a:pt x="2123472" y="1889510"/>
                </a:cubicBezTo>
                <a:cubicBezTo>
                  <a:pt x="2000324" y="826452"/>
                  <a:pt x="1095019" y="0"/>
                  <a:pt x="0" y="0"/>
                </a:cubicBezTo>
                <a:close/>
              </a:path>
            </a:pathLst>
          </a:custGeom>
          <a:solidFill>
            <a:srgbClr val="18B29D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4" id="4"/>
          <p:cNvSpPr/>
          <p:nvPr/>
        </p:nvSpPr>
        <p:spPr>
          <a:xfrm rot="0" flipH="false" flipV="false">
            <a:off x="4318000" y="2794000"/>
            <a:ext cx="2126284" cy="1892842"/>
          </a:xfrm>
          <a:custGeom>
            <a:avLst/>
            <a:gdLst/>
            <a:ahLst/>
            <a:cxnLst/>
            <a:rect r="r" b="b" t="t" l="l"/>
            <a:pathLst>
              <a:path h="1892842" w="2126284">
                <a:moveTo>
                  <a:pt x="2126284" y="0"/>
                </a:moveTo>
                <a:cubicBezTo>
                  <a:pt x="2126284" y="0"/>
                  <a:pt x="2126284" y="0"/>
                  <a:pt x="2126284" y="0"/>
                </a:cubicBezTo>
                <a:cubicBezTo>
                  <a:pt x="1028203" y="0"/>
                  <a:pt x="123118" y="826452"/>
                  <a:pt x="0" y="1892842"/>
                </a:cubicBezTo>
                <a:cubicBezTo>
                  <a:pt x="116463" y="1722886"/>
                  <a:pt x="312787" y="1612915"/>
                  <a:pt x="532403" y="1612915"/>
                </a:cubicBezTo>
                <a:cubicBezTo>
                  <a:pt x="752019" y="1612915"/>
                  <a:pt x="948342" y="1722886"/>
                  <a:pt x="1064806" y="1892842"/>
                </a:cubicBezTo>
                <a:cubicBezTo>
                  <a:pt x="1181269" y="1722886"/>
                  <a:pt x="1374264" y="1612915"/>
                  <a:pt x="1593882" y="1612915"/>
                </a:cubicBezTo>
                <a:cubicBezTo>
                  <a:pt x="1813498" y="1612915"/>
                  <a:pt x="2009821" y="1722886"/>
                  <a:pt x="2126284" y="1892842"/>
                </a:cubicBezTo>
                <a:lnTo>
                  <a:pt x="2126284" y="0"/>
                </a:lnTo>
                <a:close/>
              </a:path>
            </a:pathLst>
          </a:custGeom>
          <a:solidFill>
            <a:srgbClr val="004358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5" id="5"/>
          <p:cNvSpPr/>
          <p:nvPr/>
        </p:nvSpPr>
        <p:spPr>
          <a:xfrm rot="0" flipH="false" flipV="false">
            <a:off x="5372100" y="2794000"/>
            <a:ext cx="1061737" cy="1885812"/>
          </a:xfrm>
          <a:custGeom>
            <a:avLst/>
            <a:gdLst/>
            <a:ahLst/>
            <a:cxnLst/>
            <a:rect r="r" b="b" t="t" l="l"/>
            <a:pathLst>
              <a:path h="1885812" w="1061737">
                <a:moveTo>
                  <a:pt x="535860" y="1612602"/>
                </a:moveTo>
                <a:cubicBezTo>
                  <a:pt x="752202" y="1612602"/>
                  <a:pt x="945244" y="1719219"/>
                  <a:pt x="1061737" y="1882479"/>
                </a:cubicBezTo>
                <a:cubicBezTo>
                  <a:pt x="1061737" y="0"/>
                  <a:pt x="1061737" y="0"/>
                  <a:pt x="1061737" y="0"/>
                </a:cubicBezTo>
                <a:cubicBezTo>
                  <a:pt x="1058408" y="0"/>
                  <a:pt x="1058408" y="0"/>
                  <a:pt x="1055079" y="0"/>
                </a:cubicBezTo>
                <a:cubicBezTo>
                  <a:pt x="509234" y="6664"/>
                  <a:pt x="63238" y="826291"/>
                  <a:pt x="0" y="1882479"/>
                </a:cubicBezTo>
                <a:cubicBezTo>
                  <a:pt x="0" y="1885812"/>
                  <a:pt x="0" y="1885812"/>
                  <a:pt x="0" y="1885812"/>
                </a:cubicBezTo>
                <a:cubicBezTo>
                  <a:pt x="6656" y="1875815"/>
                  <a:pt x="9985" y="1875815"/>
                  <a:pt x="16642" y="1879148"/>
                </a:cubicBezTo>
                <a:cubicBezTo>
                  <a:pt x="133133" y="1715888"/>
                  <a:pt x="322848" y="1612602"/>
                  <a:pt x="535860" y="1612602"/>
                </a:cubicBezTo>
                <a:close/>
              </a:path>
            </a:pathLst>
          </a:custGeom>
          <a:solidFill>
            <a:srgbClr val="18B29D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6" id="6"/>
          <p:cNvSpPr/>
          <p:nvPr/>
        </p:nvSpPr>
        <p:spPr>
          <a:xfrm rot="0" flipH="false" flipV="false">
            <a:off x="6438900" y="2794000"/>
            <a:ext cx="1061737" cy="1892842"/>
          </a:xfrm>
          <a:custGeom>
            <a:avLst/>
            <a:gdLst/>
            <a:ahLst/>
            <a:cxnLst/>
            <a:rect r="r" b="b" t="t" l="l"/>
            <a:pathLst>
              <a:path h="1892842" w="1061737">
                <a:moveTo>
                  <a:pt x="0" y="1892842"/>
                </a:moveTo>
                <a:cubicBezTo>
                  <a:pt x="3329" y="1876180"/>
                  <a:pt x="9985" y="1869515"/>
                  <a:pt x="16642" y="1869515"/>
                </a:cubicBezTo>
                <a:cubicBezTo>
                  <a:pt x="133133" y="1712888"/>
                  <a:pt x="319519" y="1612915"/>
                  <a:pt x="529204" y="1612915"/>
                </a:cubicBezTo>
                <a:cubicBezTo>
                  <a:pt x="745545" y="1612915"/>
                  <a:pt x="931931" y="1716221"/>
                  <a:pt x="1051751" y="1876180"/>
                </a:cubicBezTo>
                <a:cubicBezTo>
                  <a:pt x="1055079" y="1879512"/>
                  <a:pt x="1058408" y="1882845"/>
                  <a:pt x="1061737" y="1892842"/>
                </a:cubicBezTo>
                <a:cubicBezTo>
                  <a:pt x="1061737" y="1892842"/>
                  <a:pt x="1061737" y="1892842"/>
                  <a:pt x="1061737" y="1892842"/>
                </a:cubicBezTo>
                <a:cubicBezTo>
                  <a:pt x="998498" y="826452"/>
                  <a:pt x="549173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1892842"/>
                </a:lnTo>
                <a:close/>
              </a:path>
            </a:pathLst>
          </a:custGeom>
          <a:solidFill>
            <a:srgbClr val="004358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2819400" y="1981200"/>
            <a:ext cx="1371600" cy="355600"/>
          </a:xfrm>
          <a:prstGeom prst="rect">
            <a:avLst/>
          </a:prstGeom>
          <a:noFill/>
          <a:ln w="13382" cmpd="sng" cap="flat">
            <a:noFill/>
            <a:prstDash val="solid"/>
            <a:round/>
          </a:ln>
        </p:spPr>
        <p:txBody>
          <a:bodyPr anchor="t" rtlCol="false" anchorCtr="false" vert="horz" wrap="square" lIns="0" rIns="0" tIns="101600" bIns="101600"/>
          <a:lstStyle/>
          <a:p>
            <a:pPr algn="r" marL="0" indent="0">
              <a:lnSpc>
                <a:spcPct val="116666"/>
              </a:lnSpc>
              <a:defRPr/>
            </a:pPr>
            <a:r>
              <a:rPr lang="en-US" b="true" i="false" strike="noStrike" u="none" sz="1400">
                <a:solidFill>
                  <a:srgbClr val="004358"/>
                </a:solidFill>
                <a:latin typeface="微软雅黑"/>
                <a:ea typeface="微软雅黑"/>
                <a:cs typeface="微软雅黑"/>
                <a:sym typeface="微软雅黑"/>
              </a:rPr>
              <a:t>优化数据采集效率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816100" y="2438400"/>
            <a:ext cx="2374900" cy="622300"/>
          </a:xfrm>
          <a:prstGeom prst="rect">
            <a:avLst/>
          </a:prstGeom>
          <a:noFill/>
          <a:ln w="13382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r" marL="0" indent="0">
              <a:lnSpc>
                <a:spcPct val="116666"/>
              </a:lnSpc>
              <a:defRPr/>
            </a:pPr>
            <a:r>
              <a:rPr lang="en-US" b="false" i="false" strike="noStrike" u="none" sz="1200">
                <a:solidFill>
                  <a:srgbClr val="505050"/>
                </a:solidFill>
                <a:latin typeface="微软雅黑"/>
                <a:ea typeface="微软雅黑"/>
                <a:cs typeface="微软雅黑"/>
                <a:sym typeface="微软雅黑"/>
              </a:rPr>
              <a:t>进一步优化API调用策略，支持更多数据源，提升数据获取的速度和广度，夯实数据基础。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4394200" y="2146300"/>
            <a:ext cx="762000" cy="762000"/>
          </a:xfrm>
          <a:prstGeom prst="roundRect">
            <a:avLst>
              <a:gd name="adj" fmla="val 0"/>
            </a:avLst>
          </a:prstGeom>
          <a:solidFill>
            <a:srgbClr val="004358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4445000" y="2247900"/>
            <a:ext cx="609600" cy="508000"/>
          </a:xfrm>
          <a:prstGeom prst="rect">
            <a:avLst/>
          </a:prstGeom>
          <a:noFill/>
          <a:ln w="13382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101600" bIns="101600"/>
          <a:lstStyle/>
          <a:p>
            <a:pPr algn="ctr" marL="0" indent="0">
              <a:lnSpc>
                <a:spcPct val="116666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8877300" y="1981200"/>
            <a:ext cx="1612900" cy="355600"/>
          </a:xfrm>
          <a:prstGeom prst="rect">
            <a:avLst/>
          </a:prstGeom>
          <a:noFill/>
          <a:ln w="13382" cmpd="sng" cap="flat">
            <a:noFill/>
            <a:prstDash val="solid"/>
            <a:round/>
          </a:ln>
        </p:spPr>
        <p:txBody>
          <a:bodyPr anchor="t" rtlCol="false" anchorCtr="false" vert="horz" wrap="square" lIns="0" rIns="0" tIns="101600" bIns="10160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400">
                <a:solidFill>
                  <a:srgbClr val="18B29D"/>
                </a:solidFill>
                <a:latin typeface="微软雅黑"/>
                <a:ea typeface="微软雅黑"/>
                <a:cs typeface="微软雅黑"/>
                <a:sym typeface="微软雅黑"/>
              </a:rPr>
              <a:t>提升可视化体验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8877300" y="2438400"/>
            <a:ext cx="2413000" cy="609600"/>
          </a:xfrm>
          <a:prstGeom prst="rect">
            <a:avLst/>
          </a:prstGeom>
          <a:noFill/>
          <a:ln w="13382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200">
                <a:solidFill>
                  <a:srgbClr val="505050"/>
                </a:solidFill>
                <a:latin typeface="微软雅黑"/>
                <a:ea typeface="微软雅黑"/>
                <a:cs typeface="微软雅黑"/>
                <a:sym typeface="微软雅黑"/>
              </a:rPr>
              <a:t>开发更丰富的交互式可视化功能，支持自定义布局和一键导出高质量图表，让分析结果更直观易懂。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7975600" y="2146300"/>
            <a:ext cx="762000" cy="762000"/>
          </a:xfrm>
          <a:prstGeom prst="roundRect">
            <a:avLst>
              <a:gd name="adj" fmla="val 0"/>
            </a:avLst>
          </a:prstGeom>
          <a:solidFill>
            <a:srgbClr val="18B29D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8039100" y="2247900"/>
            <a:ext cx="609600" cy="508000"/>
          </a:xfrm>
          <a:prstGeom prst="rect">
            <a:avLst/>
          </a:prstGeom>
          <a:noFill/>
          <a:ln w="13382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101600" bIns="101600"/>
          <a:lstStyle/>
          <a:p>
            <a:pPr algn="ctr" marL="0" indent="0">
              <a:lnSpc>
                <a:spcPct val="116666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2819400" y="4940300"/>
            <a:ext cx="1371600" cy="355600"/>
          </a:xfrm>
          <a:prstGeom prst="rect">
            <a:avLst/>
          </a:prstGeom>
          <a:noFill/>
          <a:ln w="13382" cmpd="sng" cap="flat">
            <a:noFill/>
            <a:prstDash val="solid"/>
            <a:round/>
          </a:ln>
        </p:spPr>
        <p:txBody>
          <a:bodyPr anchor="t" rtlCol="false" anchorCtr="false" vert="horz" wrap="square" lIns="0" rIns="0" tIns="101600" bIns="101600"/>
          <a:lstStyle/>
          <a:p>
            <a:pPr algn="r" marL="0" indent="0">
              <a:lnSpc>
                <a:spcPct val="116666"/>
              </a:lnSpc>
              <a:defRPr/>
            </a:pPr>
            <a:r>
              <a:rPr lang="en-US" b="true" i="false" strike="noStrike" u="none" sz="1400">
                <a:solidFill>
                  <a:srgbClr val="004358"/>
                </a:solidFill>
                <a:latin typeface="微软雅黑"/>
                <a:ea typeface="微软雅黑"/>
                <a:cs typeface="微软雅黑"/>
                <a:sym typeface="微软雅黑"/>
              </a:rPr>
              <a:t>拓展分析维度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1816100" y="5397500"/>
            <a:ext cx="2374900" cy="622300"/>
          </a:xfrm>
          <a:prstGeom prst="rect">
            <a:avLst/>
          </a:prstGeom>
          <a:noFill/>
          <a:ln w="13382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r" marL="0" indent="0">
              <a:lnSpc>
                <a:spcPct val="116666"/>
              </a:lnSpc>
              <a:defRPr/>
            </a:pPr>
            <a:r>
              <a:rPr lang="en-US" b="false" i="false" strike="noStrike" u="none" sz="1200">
                <a:solidFill>
                  <a:srgbClr val="505050"/>
                </a:solidFill>
                <a:latin typeface="微软雅黑"/>
                <a:ea typeface="微软雅黑"/>
                <a:cs typeface="微软雅黑"/>
                <a:sym typeface="微软雅黑"/>
              </a:rPr>
              <a:t>引入突现词检测、文献耦合分析等高级计量算法，挖掘数据间的深层关联，提供更专业的学术洞察。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4343400" y="5105400"/>
            <a:ext cx="762000" cy="762000"/>
          </a:xfrm>
          <a:prstGeom prst="roundRect">
            <a:avLst>
              <a:gd name="adj" fmla="val 0"/>
            </a:avLst>
          </a:prstGeom>
          <a:solidFill>
            <a:srgbClr val="004358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4394200" y="5194300"/>
            <a:ext cx="609600" cy="508000"/>
          </a:xfrm>
          <a:prstGeom prst="rect">
            <a:avLst/>
          </a:prstGeom>
          <a:noFill/>
          <a:ln w="13382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101600" bIns="101600"/>
          <a:lstStyle/>
          <a:p>
            <a:pPr algn="ctr" marL="0" indent="0">
              <a:lnSpc>
                <a:spcPct val="116666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8864600" y="4940300"/>
            <a:ext cx="1612900" cy="355600"/>
          </a:xfrm>
          <a:prstGeom prst="rect">
            <a:avLst/>
          </a:prstGeom>
          <a:noFill/>
          <a:ln w="13382" cmpd="sng" cap="flat">
            <a:noFill/>
            <a:prstDash val="solid"/>
            <a:round/>
          </a:ln>
        </p:spPr>
        <p:txBody>
          <a:bodyPr anchor="t" rtlCol="false" anchorCtr="false" vert="horz" wrap="square" lIns="0" rIns="0" tIns="101600" bIns="10160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400">
                <a:solidFill>
                  <a:srgbClr val="18B29D"/>
                </a:solidFill>
                <a:latin typeface="微软雅黑"/>
                <a:ea typeface="微软雅黑"/>
                <a:cs typeface="微软雅黑"/>
                <a:sym typeface="微软雅黑"/>
              </a:rPr>
              <a:t>构建用户社区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8864600" y="5397500"/>
            <a:ext cx="2413000" cy="609600"/>
          </a:xfrm>
          <a:prstGeom prst="rect">
            <a:avLst/>
          </a:prstGeom>
          <a:noFill/>
          <a:ln w="13382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200">
                <a:solidFill>
                  <a:srgbClr val="505050"/>
                </a:solidFill>
                <a:latin typeface="微软雅黑"/>
                <a:ea typeface="微软雅黑"/>
                <a:cs typeface="微软雅黑"/>
                <a:sym typeface="微软雅黑"/>
              </a:rPr>
              <a:t>围绕开源项目搭建交流平台，吸引开发者和研究者共建共享，形成良性生态，推动领域持续发展。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7975600" y="5105400"/>
            <a:ext cx="762000" cy="762000"/>
          </a:xfrm>
          <a:prstGeom prst="roundRect">
            <a:avLst>
              <a:gd name="adj" fmla="val 0"/>
            </a:avLst>
          </a:prstGeom>
          <a:solidFill>
            <a:srgbClr val="18B29D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8039100" y="5194300"/>
            <a:ext cx="609600" cy="508000"/>
          </a:xfrm>
          <a:prstGeom prst="rect">
            <a:avLst/>
          </a:prstGeom>
          <a:noFill/>
          <a:ln w="13382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101600" bIns="101600"/>
          <a:lstStyle/>
          <a:p>
            <a:pPr algn="ctr" marL="0" indent="0">
              <a:lnSpc>
                <a:spcPct val="116666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863600" y="228600"/>
            <a:ext cx="3949700" cy="495300"/>
          </a:xfrm>
          <a:prstGeom prst="rect">
            <a:avLst/>
          </a:prstGeom>
          <a:noFill/>
          <a:ln w="13382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3200">
                <a:solidFill>
                  <a:srgbClr val="004358"/>
                </a:solidFill>
                <a:latin typeface="微软雅黑"/>
                <a:ea typeface="微软雅黑"/>
                <a:cs typeface="微软雅黑"/>
                <a:sym typeface="微软雅黑"/>
              </a:rPr>
              <a:t>未来展望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863600" y="749300"/>
            <a:ext cx="2806700" cy="215900"/>
          </a:xfrm>
          <a:prstGeom prst="rect">
            <a:avLst/>
          </a:prstGeom>
          <a:noFill/>
          <a:ln w="13382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787878"/>
                </a:solidFill>
                <a:latin typeface="Arial"/>
                <a:ea typeface="Arial"/>
                <a:cs typeface="Arial"/>
                <a:sym typeface="Arial"/>
              </a:rPr>
              <a:t>FUTURE OUTLOOK &amp; DEVELOPMENT</a:t>
            </a:r>
            <a:endParaRPr lang="en-US" sz="1100"/>
          </a:p>
        </p:txBody>
      </p:sp>
      <p:pic>
        <p:nvPicPr>
          <p:cNvPr name="Picture 25" id="25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11734800" y="6134100"/>
            <a:ext cx="1168400" cy="10922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r="0" t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4051300"/>
            <a:ext cx="12865100" cy="3187700"/>
          </a:xfrm>
          <a:prstGeom prst="roundRect">
            <a:avLst>
              <a:gd name="adj" fmla="val 0"/>
            </a:avLst>
          </a:prstGeom>
          <a:solidFill>
            <a:srgbClr val="18B29D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11200" y="5969000"/>
            <a:ext cx="11430000" cy="762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ctr" marL="0" indent="0">
              <a:lnSpc>
                <a:spcPct val="108333"/>
              </a:lnSpc>
              <a:spcBef>
                <a:spcPct val="20000"/>
              </a:spcBef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感谢各位老师的聆听与指导，恳请批评指正！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346200" y="4445000"/>
            <a:ext cx="10160000" cy="17653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ctr" marL="0" indent="0">
              <a:lnSpc>
                <a:spcPct val="100000"/>
              </a:lnSpc>
              <a:spcBef>
                <a:spcPct val="20000"/>
              </a:spcBef>
              <a:defRPr/>
            </a:pPr>
            <a:r>
              <a:rPr lang="en-US" b="false" i="false" strike="noStrike" u="none" sz="11500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Thank You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0" y="-12700"/>
            <a:ext cx="12865100" cy="4076700"/>
          </a:xfrm>
          <a:prstGeom prst="roundRect">
            <a:avLst>
              <a:gd name="adj" fmla="val 0"/>
            </a:avLst>
          </a:prstGeom>
          <a:solidFill>
            <a:srgbClr val="18B29D">
              <a:alpha val="37000"/>
            </a:srgbClr>
          </a:solidFill>
          <a:ln w="12700" cmpd="sng" cap="flat">
            <a:solidFill>
              <a:srgbClr val="002F3E">
                <a:alpha val="100000"/>
              </a:srgbClr>
            </a:solidFill>
            <a:prstDash val="solid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>
            <a:off x="11245850" y="6522234"/>
            <a:ext cx="1606550" cy="70406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{"Label":"1","ContentProducer":"001191110102MACQD9K64010000","ProduceID":"7649595114620406993","ReservedCode1":"","ContentPropagator":"","PropagateID":"","ReservedCode2":""}</vt:lpwstr>
  </property>
</Properties>
</file>